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14"/>
  </p:notesMasterIdLst>
  <p:sldIdLst>
    <p:sldId id="566" r:id="rId3"/>
    <p:sldId id="256" r:id="rId4"/>
    <p:sldId id="324" r:id="rId5"/>
    <p:sldId id="325" r:id="rId6"/>
    <p:sldId id="326" r:id="rId7"/>
    <p:sldId id="261" r:id="rId8"/>
    <p:sldId id="328" r:id="rId9"/>
    <p:sldId id="330" r:id="rId10"/>
    <p:sldId id="568" r:id="rId11"/>
    <p:sldId id="331" r:id="rId12"/>
    <p:sldId id="569" r:id="rId13"/>
    <p:sldId id="332" r:id="rId14"/>
    <p:sldId id="333" r:id="rId15"/>
    <p:sldId id="334" r:id="rId16"/>
    <p:sldId id="335" r:id="rId17"/>
    <p:sldId id="262" r:id="rId18"/>
    <p:sldId id="257" r:id="rId19"/>
    <p:sldId id="263" r:id="rId20"/>
    <p:sldId id="266" r:id="rId21"/>
    <p:sldId id="267" r:id="rId22"/>
    <p:sldId id="268" r:id="rId23"/>
    <p:sldId id="269" r:id="rId24"/>
    <p:sldId id="272" r:id="rId25"/>
    <p:sldId id="546" r:id="rId26"/>
    <p:sldId id="547" r:id="rId27"/>
    <p:sldId id="273" r:id="rId28"/>
    <p:sldId id="274" r:id="rId29"/>
    <p:sldId id="548" r:id="rId30"/>
    <p:sldId id="275" r:id="rId31"/>
    <p:sldId id="549" r:id="rId32"/>
    <p:sldId id="567" r:id="rId33"/>
    <p:sldId id="550" r:id="rId34"/>
    <p:sldId id="276" r:id="rId35"/>
    <p:sldId id="277" r:id="rId36"/>
    <p:sldId id="278" r:id="rId37"/>
    <p:sldId id="279" r:id="rId38"/>
    <p:sldId id="280" r:id="rId39"/>
    <p:sldId id="282" r:id="rId40"/>
    <p:sldId id="283" r:id="rId41"/>
    <p:sldId id="284" r:id="rId42"/>
    <p:sldId id="285" r:id="rId43"/>
    <p:sldId id="286" r:id="rId44"/>
    <p:sldId id="287" r:id="rId45"/>
    <p:sldId id="552" r:id="rId46"/>
    <p:sldId id="553" r:id="rId47"/>
    <p:sldId id="288" r:id="rId48"/>
    <p:sldId id="551" r:id="rId49"/>
    <p:sldId id="289" r:id="rId50"/>
    <p:sldId id="290" r:id="rId51"/>
    <p:sldId id="291" r:id="rId52"/>
    <p:sldId id="554" r:id="rId53"/>
    <p:sldId id="292" r:id="rId54"/>
    <p:sldId id="293" r:id="rId55"/>
    <p:sldId id="29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0" r:id="rId72"/>
    <p:sldId id="336" r:id="rId73"/>
    <p:sldId id="342" r:id="rId74"/>
    <p:sldId id="343" r:id="rId75"/>
    <p:sldId id="270" r:id="rId76"/>
    <p:sldId id="271" r:id="rId77"/>
    <p:sldId id="556" r:id="rId78"/>
    <p:sldId id="344" r:id="rId79"/>
    <p:sldId id="557" r:id="rId80"/>
    <p:sldId id="558" r:id="rId81"/>
    <p:sldId id="345" r:id="rId82"/>
    <p:sldId id="346" r:id="rId83"/>
    <p:sldId id="555" r:id="rId84"/>
    <p:sldId id="338" r:id="rId85"/>
    <p:sldId id="337" r:id="rId86"/>
    <p:sldId id="258" r:id="rId87"/>
    <p:sldId id="259" r:id="rId88"/>
    <p:sldId id="260" r:id="rId89"/>
    <p:sldId id="339" r:id="rId90"/>
    <p:sldId id="264" r:id="rId91"/>
    <p:sldId id="559" r:id="rId92"/>
    <p:sldId id="560" r:id="rId93"/>
    <p:sldId id="265" r:id="rId94"/>
    <p:sldId id="347" r:id="rId95"/>
    <p:sldId id="561" r:id="rId96"/>
    <p:sldId id="562" r:id="rId97"/>
    <p:sldId id="348" r:id="rId98"/>
    <p:sldId id="351" r:id="rId99"/>
    <p:sldId id="352" r:id="rId100"/>
    <p:sldId id="563" r:id="rId101"/>
    <p:sldId id="354" r:id="rId102"/>
    <p:sldId id="565" r:id="rId103"/>
    <p:sldId id="350" r:id="rId104"/>
    <p:sldId id="56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4" r:id="rId1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4" autoAdjust="0"/>
    <p:restoredTop sz="84990" autoAdjust="0"/>
  </p:normalViewPr>
  <p:slideViewPr>
    <p:cSldViewPr snapToGrid="0" snapToObjects="1">
      <p:cViewPr varScale="1">
        <p:scale>
          <a:sx n="83" d="100"/>
          <a:sy n="83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theme" Target="theme/theme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398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시간에 한 번 해본 내용입니다. 오늘은 다음 시간 '데이터 분석' 전에, Claude가 내 자료에 직접 접근해서 일하도록 연결만 합니다. 외울 단어는 딱 두 개(MCP·RAG), 나머지는 손으로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 강의가 아닙니다. 연결하고, 물어보고, '아 이게 그거구나' 하는 식입니다. 두 단어는 지금 외우지 마시고, 실습하다 보면 자연스럽게 알게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업로드는 '내가 매번 갖다 바치는' 방식이고, 연동은 'AI가 내 폴더 안으로 들어오는' 방식입니다. 일하는 방식 자체가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MCP, RAG </a:t>
            </a:r>
            <a:r>
              <a:rPr lang="ko-KR" altLang="en-US" dirty="0"/>
              <a:t>란</a:t>
            </a:r>
            <a:r>
              <a:rPr lang="en-US" dirty="0"/>
              <a:t> </a:t>
            </a:r>
            <a:r>
              <a:rPr lang="ko-KR" altLang="en-US" dirty="0"/>
              <a:t>말을 굉장히 많이 사용하는데</a:t>
            </a:r>
            <a:r>
              <a:rPr lang="en-US" altLang="ko-KR" dirty="0"/>
              <a:t>, </a:t>
            </a:r>
            <a:r>
              <a:rPr lang="ko-KR" altLang="en-US" dirty="0"/>
              <a:t>사실 알고 보면 별거 아님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하나로 끝납니다. 통로(MCP)로 자료를 꽂고, 그 자료를 사서처럼 뒤져 근거로 답한다(RAG). 이 두 동작을 이제 손으로 반복합니다.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 확장 깔듯 원클릭입니다. 망치 아이콘이 뜨면 '내 폴더가 꽂혔다'는 신호. 바로 여기서 못 박아 주세요 — '방금 그 연결이 MCP입니다.'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01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오늘의 aha 순간입니다. '여러분, 방금 파일 끌어다 올린 적 없죠? 그런데 폴더 안 문서로 답했습니다.' 천천히 짚어 주세요. 누가 '벡터 인덱스 RAG 아니지 않냐'고 물으면 — 맞습니다, 엄밀히는 도구로 파일을 찾아 읽는 에이전틱 검색이고 효과가 같아 넓은 의미의 RAG로 부른다고 답하면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507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패턴은 폴더 때와 똑같습니다 — 꽂고(MCP), 물어본다(RAG). 예전엔 'Drive Search 토글 켜고 인덱싱 몇 시간 대기'가 있었는데 지금은 그 단계가 사라졌습니다. 연결만 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반복이니 이제 '또 꽂고, 또 물어보는구나' 하고 패턴을 압니다. 같은 계정으로 인증하면 깔끔합니다.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꼭 강조하세요. 'Claude가 멋대로 메일 보내는 거 아니냐'는 걱정이 제일 많은데, 발송 버튼은 항상 사람이 누릅니다.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 한 장이 오늘의 요약입니다. 대상만 바뀔 뿐, 꽂고(MCP) 물어보는(RAG) 두 동작은 똑같습니다. 쉬는 시간에 연결 안 된 분은 이 패턴대로 맞춰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메시지를 또렷이. '파일 올리고 분석해줘'는 5분이면 배운다 — 문제는 틀린 답을 받고도 모른다는 것. 오늘 무게중심을 20%(검증)에 둔다고 선언.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5단계를 여기서 제대로 체화하는 앵커 실습(30분). 파일: 실습1_부서별_예산집행.xlsx (30행). 목표: 분석 전에 의심하는 습관.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88E76-97D4-E495-50DF-3D99400D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2D922-CDEC-F5FB-8C83-E055D0F7F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2D163-5AC2-C9B4-9D58-C0A77B3DE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A1DDE-DAB8-0DF7-42F5-CBE1F435B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367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8908-67CB-F989-4B24-55332B2E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7726B-8624-FB87-EE7B-D429B107E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8E974-7C39-06DE-803B-993E115BD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31BCC-AD4E-0B2D-A1F5-949F51A6C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4061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D358-EF6A-CC76-90FA-DA8A1239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CFF83-BED2-59A2-9B35-F5C3AEA94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49215-5C46-FE21-D99A-8F757F650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 막대 3개 = 낮은 순 3개 부서(원인 항목과 함께 설명). 검산: 직접 한 줄을 손으로 나눠 보여준다. 이상치 빼기 전/후 비교가 이 실습의 하이라이트.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BBC3A-B383-DEFE-49CC-D795F246A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546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 막대 3개 = 낮은 순 3개 부서(원인 항목과 함께 설명). 검산: 직접 한 줄을 손으로 나눠 보여준다. 이상치 빼기 전/후 비교가 이 실습의 하이라이트.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B8C1-763B-4B55-49A6-B59315B3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F73D5-42FF-5DC1-CE76-408A5C8B8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57AB3-705D-86BC-17E6-7800A4828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4A514-95AC-9CCF-8E9A-710AD6669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494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B8C1-763B-4B55-49A6-B59315B3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F73D5-42FF-5DC1-CE76-408A5C8B8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57AB3-705D-86BC-17E6-7800A4828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4A514-95AC-9CCF-8E9A-710AD6669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79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1BC2-1AC6-2AEE-A4B0-A65522A2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179CF-0F9B-B126-4CFD-92993AC4D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2E99C-D268-0A7C-AC23-A9D7712A1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A887F-6398-3A38-DC0A-DACEC211A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07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20분. 점검·클리닝은 빠르게. 파일: 실습2_직원_급여성과.xlsx (20행). 핵심: 극단값이 있으면 중앙값·분포를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①을 일부러 먼저 물어 '7,465만원'에 속는 경험을 시킨다. 그 다음 ②로 중앙값·분포를 보면 진실이 드러난다. 오른쪽 분포 차트의 두 거대 막대가 이 실습의 핵심 그림.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20분. 연구원 hands-on, 행정은 시연으로 대체 가능. 파일: 실습3_논문_연구비.csv (25행). 핵심: 교란변수·표본 크기 의심.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조인은 가장 흔한 실무 작업이자 가장 조용한 함정. 합친 뒤 '행이 몇 개가 됐는지', '매칭 안 된 건 없는지'를 반드시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멋지지만, 멋진 차트일수록 착시를 권위 있게 만든다. 계절성·지연효과로 설명되는 출렁임과 진짜 이상 신호를 구분하는 게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8BF2-4022-8BBC-3C80-23FA56E98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3E4F7-B16B-06FE-DC42-D8AB6F468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522ED-8A48-F010-BE65-0EF64D97C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8E465-D521-FA6B-0EF4-5143FF401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241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5D7A-F603-8743-3F1F-524075CBB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D13E1-6C72-5A41-14C8-B52990668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C9746-6F15-79EF-70C4-8ADD67E28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3BBD9-47AF-E0E0-9BB2-8D3C0B3A1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637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B033-FB63-7982-6091-8C187A724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6907F-F322-C303-4E40-6E6591856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C0133-736B-E6FB-D99B-25A89393C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94A4D-800C-1F24-4597-5A07BB34D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177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하이라이트. 기존엔 사람이 수작업하던 자유응답 코딩을 AI로. 단, 여기서 가장 위험한 함정(환각·비재현성)이 나온다. 멀쩡해 보이는 오답을 잡는 게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BA40-FE79-3233-E543-F94A1F3C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7D6D4-901E-B239-3B46-E4E762D12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25BFC-A202-86A8-BB75-A5D2BD994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1070F-A9AD-124F-36BF-0FC40AFCE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296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강의의 절정. 세 사례를 천천히 읽어주고, '표만 보면 절대 모른다'는 점을 강조. 처방은 spot-check.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안내에 맞춰 수강생이 동시에 진행하도록 유도하세요. 1)새 노트북+더미 보고서 업로드 2)비디오 개요 먼저 누르기(가장 오래 걸림) 3)오디오 개요도 누르기 4)기다리는 동안 빠른 기능 탐색. 백그라운드 생성이라 걸어두고 다른 작업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마인드맵의 함정을 꼭 짚으세요: 커스텀 프롬프트가 안 먹습니다. 원하는 가지를 얻으려면 노트북에 넣는 소스 구성으로 조절해야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함정: 길이는 Shorter/Default/Longer 설정만으로 안 늘어납니다. 실제 길이는 소스 개수·분량에 좌우됩니다. "길게 해줘"가 아니라 소스를 늘려야 합니다. 초점 지시와 검증도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Instructions가 오늘 노하우 중 효과가 가장 큰 기능임을 강조. 막연한 지시 대신 역할·맥락·출력형식을 구체적으로. 이 지시는 채팅뿐 아니라 오디오 등 Studio 출력 전체에 적용됩니다.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오프닝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 수업은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그리는 법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 아니라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Claude Code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로 내가 쓸 차트 프로그램을 만들고 어떤 데이터가 와도 적응시키는 법을 배운다는 점을 강조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행정직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연구직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비개발자 모두 자기완결형으로 따라올 수 있음을 안내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6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1B061F-6052-4623-9632-4DF0EF6F67BA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29E3-30CC-6E21-6BDC-481EFE79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>
            <a:extLst>
              <a:ext uri="{FF2B5EF4-FFF2-40B4-BE49-F238E27FC236}">
                <a16:creationId xmlns:a16="http://schemas.microsoft.com/office/drawing/2014/main" id="{11A1D8F6-BE8E-06DB-157F-798289E16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>
            <a:extLst>
              <a:ext uri="{FF2B5EF4-FFF2-40B4-BE49-F238E27FC236}">
                <a16:creationId xmlns:a16="http://schemas.microsoft.com/office/drawing/2014/main" id="{C35ADA1E-C303-9B25-59A8-5E6427B2009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시작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행정직 주도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코드 한 줄 없이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Claude.ai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로 차트를 만든다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분 리캡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trackA_admin.csv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부서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월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예산편성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집행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집행률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인력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과제건수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</a:t>
            </a:r>
          </a:p>
        </p:txBody>
      </p:sp>
      <p:sp>
        <p:nvSpPr>
          <p:cNvPr id="1296" name="PlaceHolder 3">
            <a:extLst>
              <a:ext uri="{FF2B5EF4-FFF2-40B4-BE49-F238E27FC236}">
                <a16:creationId xmlns:a16="http://schemas.microsoft.com/office/drawing/2014/main" id="{91FE1F26-A301-799B-7D4D-6D851AF80977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EE3A9A-9A61-4649-926A-8658D1147ADE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8797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BC90C-F79B-C611-FAFA-339F844A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>
            <a:extLst>
              <a:ext uri="{FF2B5EF4-FFF2-40B4-BE49-F238E27FC236}">
                <a16:creationId xmlns:a16="http://schemas.microsoft.com/office/drawing/2014/main" id="{0B0FDD42-7467-3D69-CBFF-0408CDAAD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>
            <a:extLst>
              <a:ext uri="{FF2B5EF4-FFF2-40B4-BE49-F238E27FC236}">
                <a16:creationId xmlns:a16="http://schemas.microsoft.com/office/drawing/2014/main" id="{AE7B3D6A-A554-4ED4-7FAD-36BD776DD54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트랙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데이터 구조를 보여주고 시작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부서가 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/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그룹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월이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x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축이 되는 구조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이후 실습에서 이 열들을 자연어로 지칭한다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99" name="PlaceHolder 3">
            <a:extLst>
              <a:ext uri="{FF2B5EF4-FFF2-40B4-BE49-F238E27FC236}">
                <a16:creationId xmlns:a16="http://schemas.microsoft.com/office/drawing/2014/main" id="{CEE5F7BD-9399-9F76-AF42-BE810F87901D}"/>
              </a:ext>
            </a:extLst>
          </p:cNvPr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31772D-9DD1-4181-B439-50231F4F812E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08013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ACE38-4C0C-D4A2-6C02-261CCB2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>
            <a:extLst>
              <a:ext uri="{FF2B5EF4-FFF2-40B4-BE49-F238E27FC236}">
                <a16:creationId xmlns:a16="http://schemas.microsoft.com/office/drawing/2014/main" id="{21CB35EE-6378-2AC6-1C27-3BA4A2984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>
            <a:extLst>
              <a:ext uri="{FF2B5EF4-FFF2-40B4-BE49-F238E27FC236}">
                <a16:creationId xmlns:a16="http://schemas.microsoft.com/office/drawing/2014/main" id="{0A857ACA-4CDC-E7BE-5E83-6CC6B785B5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지정 모드와 추천 모드를 번갈아 시연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둘 다 코드 없이 자연어만으로 한다는 점이 핵심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한글 폰트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범례 위치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흰 배경 같은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요소를 미리 말하는 습관을 보여준다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2" name="PlaceHolder 3">
            <a:extLst>
              <a:ext uri="{FF2B5EF4-FFF2-40B4-BE49-F238E27FC236}">
                <a16:creationId xmlns:a16="http://schemas.microsoft.com/office/drawing/2014/main" id="{81FB7834-DAC1-A6CA-FC8A-E240978DF319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4E3587-5618-4379-AC6E-E92685C342FA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52023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3282-D2B0-EA87-BBF4-51DE56486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>
            <a:extLst>
              <a:ext uri="{FF2B5EF4-FFF2-40B4-BE49-F238E27FC236}">
                <a16:creationId xmlns:a16="http://schemas.microsoft.com/office/drawing/2014/main" id="{F0C7EE46-A3E6-1CF4-A5F6-DDC28CC8B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>
            <a:extLst>
              <a:ext uri="{FF2B5EF4-FFF2-40B4-BE49-F238E27FC236}">
                <a16:creationId xmlns:a16="http://schemas.microsoft.com/office/drawing/2014/main" id="{8757CCE2-E9E2-A5D4-AECA-21654BDEF5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아티팩트 패널에 호버 가능한 대시보드가 렌더됨을 시연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종 구성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묶음막대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추이선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도넛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배포된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HTML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템플릿이 동일 결과물임을 보여주고 더블클릭으로 열어본다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5" name="PlaceHolder 3">
            <a:extLst>
              <a:ext uri="{FF2B5EF4-FFF2-40B4-BE49-F238E27FC236}">
                <a16:creationId xmlns:a16="http://schemas.microsoft.com/office/drawing/2014/main" id="{EF5D8668-10B0-0DDD-5CDC-48259293DF47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8595A6-81DB-47A6-917A-FA7F25FA442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31940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0361-893C-C48D-9708-7202BB12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3AF60549-C4EB-ACCF-E828-61A1235F4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642E0322-B84C-E8AA-FE1B-1A742D0AC85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이것이 노코딩 워크플로우의 핵심 산출물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A0496408-3C7E-B45B-2599-97A0004270A5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37645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3DDF-85EC-5946-ED51-0C98643E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660F5CC5-09D3-F96B-3DC2-AF8A240B9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178E8E38-D56B-F754-3AB8-31B8967F849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이것이 노코딩 워크플로우의 핵심 산출물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17A3B092-BCC5-4B3D-711F-0E63A29CD397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21904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4EED-EB40-D718-5AE3-3D69B86D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EC82E244-5B0C-5433-B758-3F6290CD6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FE0A9C37-6F43-461F-D4A1-AC830F5946F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이것이 노코딩 워크플로우의 핵심 산출물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56AFACC4-4D34-1A5A-F10C-CD50054F5156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05958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966B9-6A5C-4A09-AE8F-D7FDAA772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94F7A777-0955-BB6D-6C4B-876850BFB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8C52D1A3-B32A-2FFE-FF8B-FACAB6EA0B6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이것이 노코딩 워크플로우의 핵심 산출물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2125DECB-E1DF-0DA9-65DC-CAD95FFE9B86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1694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D452-27F0-8396-20D0-8B4EF6BD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>
            <a:extLst>
              <a:ext uri="{FF2B5EF4-FFF2-40B4-BE49-F238E27FC236}">
                <a16:creationId xmlns:a16="http://schemas.microsoft.com/office/drawing/2014/main" id="{7B6B7538-92A6-0215-50A5-10960894B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>
            <a:extLst>
              <a:ext uri="{FF2B5EF4-FFF2-40B4-BE49-F238E27FC236}">
                <a16:creationId xmlns:a16="http://schemas.microsoft.com/office/drawing/2014/main" id="{345A4491-EE9B-EB3B-F033-FEE5DADA01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같은 스키마면 데이터만 갈아끼워 재생산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격월 보고서 시나리오를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회 교체로 증명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PNG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는 보고서 첨부용으로 내려받는다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11" name="PlaceHolder 3">
            <a:extLst>
              <a:ext uri="{FF2B5EF4-FFF2-40B4-BE49-F238E27FC236}">
                <a16:creationId xmlns:a16="http://schemas.microsoft.com/office/drawing/2014/main" id="{226BD3A4-47B0-4059-1576-F2EE9F92D85E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FF546-B494-4EB5-9A30-7D6BAEBCF41B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5784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852E-A500-7031-0668-BDE51E0E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>
            <a:extLst>
              <a:ext uri="{FF2B5EF4-FFF2-40B4-BE49-F238E27FC236}">
                <a16:creationId xmlns:a16="http://schemas.microsoft.com/office/drawing/2014/main" id="{713C0F15-D176-33DF-A491-C9C5041A8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>
            <a:extLst>
              <a:ext uri="{FF2B5EF4-FFF2-40B4-BE49-F238E27FC236}">
                <a16:creationId xmlns:a16="http://schemas.microsoft.com/office/drawing/2014/main" id="{04030F94-1B94-606D-40C8-3DB641B96EE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를 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3·4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로 잇는 가장 중요한 다리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노코딩은 편하지만 비결정적 → 매번 똑같아야 하는 보고서엔 코드가 필요하다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 한계 체감이 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의 진짜 학습목표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14" name="PlaceHolder 3">
            <a:extLst>
              <a:ext uri="{FF2B5EF4-FFF2-40B4-BE49-F238E27FC236}">
                <a16:creationId xmlns:a16="http://schemas.microsoft.com/office/drawing/2014/main" id="{3DC23D10-849B-5FE1-8F22-6ACB0B1C0484}"/>
              </a:ext>
            </a:extLst>
          </p:cNvPr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59EF3-4EC0-4AD5-AEF8-0ECFDE7F084F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2858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2992A-254C-5C8B-8E23-A4E62A7E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>
            <a:extLst>
              <a:ext uri="{FF2B5EF4-FFF2-40B4-BE49-F238E27FC236}">
                <a16:creationId xmlns:a16="http://schemas.microsoft.com/office/drawing/2014/main" id="{69480D2B-9146-947F-A6DD-610C5E16B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>
            <a:extLst>
              <a:ext uri="{FF2B5EF4-FFF2-40B4-BE49-F238E27FC236}">
                <a16:creationId xmlns:a16="http://schemas.microsoft.com/office/drawing/2014/main" id="{832B0A5B-F211-7A3E-AF88-2FDC96B287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시작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연구직 주도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행정직은 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검증으로 동참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트랙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국가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클러스터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논문수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만들 것은 차트 한 장이 아니라 함수 라이브러리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17" name="PlaceHolder 3">
            <a:extLst>
              <a:ext uri="{FF2B5EF4-FFF2-40B4-BE49-F238E27FC236}">
                <a16:creationId xmlns:a16="http://schemas.microsoft.com/office/drawing/2014/main" id="{4F73B457-B407-D587-0BBD-54A3177512F2}"/>
              </a:ext>
            </a:extLst>
          </p:cNvPr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1C6C4-C2A2-4C9E-A931-8BF794DA386F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32858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시작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도구는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PowerShell/uv,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전원 참여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목표는 환경을 깔끔히 세팅하고 오늘 쓸 데이터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코드 폴더를 배치하는 것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7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221B65-606B-42F9-B866-E4632A60701F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세 가지 사고방식이 오늘 수업의 뼈대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이후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장에서 각각을 자세히 설명한다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①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운영형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/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폴백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② 2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층 구조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③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6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56503-8572-466E-9EEA-449F7BABF9A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586870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폴백을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정규 경로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로 프레이밍하는 것이 핵심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수강생이 막혔을 때 좌절하지 않고 표준 코드로 돌아오도록 설계됨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비개발자도 이 흐름만 이해하면 낙오 없이 따라온다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6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A3FA4A-FC8B-45B0-BA21-53DED7BA7ABE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301570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아키텍처가 오늘 수업의 설계도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고정 자산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(style.py·report_charts.py)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은 절대 수정하지 않고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config.yaml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만 데이터에 맞게 바꾼다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Claude Code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 이 둘을 이어 붙이는 어댑터 역할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에서 고정자산을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에서 가변층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+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파이프라인을 만든다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6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FD20B2-4713-4874-8CBA-CA8DE972DEFB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024085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 메시지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코드를 못 읽어도 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대신 계획을 검토하고 결과를 눈으로 검증하는 역량이 중요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비결정성 때문에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계획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OK'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만으로 끝내면 안 되고 산출물 검증이 필수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3·4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실습 전체가 이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가지 일의 반복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7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316E53-506E-46E3-A957-F1360AA8BBAF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551829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학습목표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가지와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단계 실습 흐름을 먼저 보여주고 시작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다음 두 장에서 명령을 그대로 따라친다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8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96BFA-35E2-4B83-AB92-E79523DFBAA2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명령을 한 줄씩 함께 따라친다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각 단계의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예상 결과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를 확인하며 진행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막히면 다음 장의 폴백으로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8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DF45DE-FA79-4AA4-805F-49CCFC5C001D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B7ED-97D9-120D-4C7B-B7A2793C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>
            <a:extLst>
              <a:ext uri="{FF2B5EF4-FFF2-40B4-BE49-F238E27FC236}">
                <a16:creationId xmlns:a16="http://schemas.microsoft.com/office/drawing/2014/main" id="{AEEE0BEB-9B15-682E-5702-437E622E2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>
            <a:extLst>
              <a:ext uri="{FF2B5EF4-FFF2-40B4-BE49-F238E27FC236}">
                <a16:creationId xmlns:a16="http://schemas.microsoft.com/office/drawing/2014/main" id="{E945F8E4-63CC-7822-C335-638E3D83B7C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명령을 한 줄씩 함께 따라친다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각 단계의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예상 결과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를 확인하며 진행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막히면 다음 장의 폴백으로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84" name="PlaceHolder 3">
            <a:extLst>
              <a:ext uri="{FF2B5EF4-FFF2-40B4-BE49-F238E27FC236}">
                <a16:creationId xmlns:a16="http://schemas.microsoft.com/office/drawing/2014/main" id="{6FC0BB9E-7BFD-82D1-399B-52A98B86D9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DF45DE-FA79-4AA4-805F-49CCFC5C001D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331954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D8CC-CEF6-0A4F-E6CB-C27E7CC8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>
            <a:extLst>
              <a:ext uri="{FF2B5EF4-FFF2-40B4-BE49-F238E27FC236}">
                <a16:creationId xmlns:a16="http://schemas.microsoft.com/office/drawing/2014/main" id="{D7D7E4B3-0E32-795D-2EC2-8578469F1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>
            <a:extLst>
              <a:ext uri="{FF2B5EF4-FFF2-40B4-BE49-F238E27FC236}">
                <a16:creationId xmlns:a16="http://schemas.microsoft.com/office/drawing/2014/main" id="{44575389-CF91-D547-F2F9-C9CCB5D8185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명령을 한 줄씩 함께 따라친다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각 단계의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예상 결과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를 확인하며 진행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막히면 다음 장의 폴백으로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84" name="PlaceHolder 3">
            <a:extLst>
              <a:ext uri="{FF2B5EF4-FFF2-40B4-BE49-F238E27FC236}">
                <a16:creationId xmlns:a16="http://schemas.microsoft.com/office/drawing/2014/main" id="{08F332A8-4413-1119-76AD-11399908EF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DF45DE-FA79-4AA4-805F-49CCFC5C001D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184725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오늘 쓸 데이터 두 트랙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(A=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행정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B=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과 표준 코드 구조를 보여준다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style.py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 수정 금지 공유자산이라는 점을 여기서 처음 강조 — 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3·4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의 핵심 규칙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8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C132D1-B6C6-41DD-9734-9231F8C66DE3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시작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연구직 주도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행정직은 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검증으로 동참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트랙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국가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클러스터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×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논문수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만들 것은 차트 한 장이 아니라 함수 라이브러리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17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1C6C4-C2A2-4C9E-A931-8BF794DA386F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9814-0666-1CE1-7D07-50ECDD6A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>
            <a:extLst>
              <a:ext uri="{FF2B5EF4-FFF2-40B4-BE49-F238E27FC236}">
                <a16:creationId xmlns:a16="http://schemas.microsoft.com/office/drawing/2014/main" id="{D0A56DF3-1124-5C93-A378-24D0F360C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>
            <a:extLst>
              <a:ext uri="{FF2B5EF4-FFF2-40B4-BE49-F238E27FC236}">
                <a16:creationId xmlns:a16="http://schemas.microsoft.com/office/drawing/2014/main" id="{2A0D4051-45F9-B03C-5B10-9D9C797F220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용어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개를 빠르게 훑는다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특히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CLAUDE.md(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규칙서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와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plan mode(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실행 전 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 오늘 수업의 두 기둥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@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파일은 앵커 지정에 쓰임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20" name="PlaceHolder 3">
            <a:extLst>
              <a:ext uri="{FF2B5EF4-FFF2-40B4-BE49-F238E27FC236}">
                <a16:creationId xmlns:a16="http://schemas.microsoft.com/office/drawing/2014/main" id="{4AC3CC0F-D4B1-0BC1-F378-EDEF30CAB1D5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94B34-2ABD-4302-8876-3D3A25F7B8A0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437112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6F76-D2EC-C50C-B37F-3C2F9DA1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>
            <a:extLst>
              <a:ext uri="{FF2B5EF4-FFF2-40B4-BE49-F238E27FC236}">
                <a16:creationId xmlns:a16="http://schemas.microsoft.com/office/drawing/2014/main" id="{DB508F87-C673-BC10-9C0B-45AE392E4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>
            <a:extLst>
              <a:ext uri="{FF2B5EF4-FFF2-40B4-BE49-F238E27FC236}">
                <a16:creationId xmlns:a16="http://schemas.microsoft.com/office/drawing/2014/main" id="{10E3FD54-778E-706E-C3C0-3FB1468303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용어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개를 빠르게 훑는다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특히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CLAUDE.md(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규칙서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와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plan mode(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실행 전 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 오늘 수업의 두 기둥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@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파일은 앵커 지정에 쓰임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20" name="PlaceHolder 3">
            <a:extLst>
              <a:ext uri="{FF2B5EF4-FFF2-40B4-BE49-F238E27FC236}">
                <a16:creationId xmlns:a16="http://schemas.microsoft.com/office/drawing/2014/main" id="{06E080F6-D164-0723-BEF9-DB17E5D804D0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94B34-2ABD-4302-8876-3D3A25F7B8A0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344585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용어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개를 빠르게 훑는다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특히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CLAUDE.md(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규칙서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와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plan mode(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실행 전 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 오늘 수업의 두 기둥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@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파일은 앵커 지정에 쓰임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20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94B34-2ABD-4302-8876-3D3A25F7B8A0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의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단계 전체 지도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 철학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매번 직전 결과물이 아니라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style.py·CLAUDE.md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를 앵커로 삼는다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작게 두 번 연습 → 크게 한 번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으로 규칙의 위력을 체감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29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696C71-147B-48E4-A372-5DE2FFC7C200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CLAUDE.md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규칙서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배포본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code/CLAUDE.md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와 동일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 규칙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style.py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수정금지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통일 시그니처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output/chart_&lt;id&gt;.png.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 규칙 덕에 누가 만들어도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폴백해도 호환된다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32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9F120-A2D8-453A-B0D6-B0112914E444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0A773-E39A-53FB-0D80-B91B9D43A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>
            <a:extLst>
              <a:ext uri="{FF2B5EF4-FFF2-40B4-BE49-F238E27FC236}">
                <a16:creationId xmlns:a16="http://schemas.microsoft.com/office/drawing/2014/main" id="{55234030-1FEF-75E0-5681-3A42FA71B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>
            <a:extLst>
              <a:ext uri="{FF2B5EF4-FFF2-40B4-BE49-F238E27FC236}">
                <a16:creationId xmlns:a16="http://schemas.microsoft.com/office/drawing/2014/main" id="{BA6982EE-5364-D6EF-1E74-78DBA98A7FA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첫 빌드는 강사가 시연하며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plan mode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조작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검증의 한 사이클을 보여준다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두 번째 빌드는 학생이 같은 절차를 자력으로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회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핵심은 차트가 아니라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계획 읽고 승인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산출물 검증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습관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35" name="PlaceHolder 3">
            <a:extLst>
              <a:ext uri="{FF2B5EF4-FFF2-40B4-BE49-F238E27FC236}">
                <a16:creationId xmlns:a16="http://schemas.microsoft.com/office/drawing/2014/main" id="{84D12E9C-B534-1DE8-DFA4-376090715DC6}"/>
              </a:ext>
            </a:extLst>
          </p:cNvPr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0A983-AE4E-4944-A194-78E967EC5AA3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125045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스코프를 키워 표준 차트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종을 스펙 하나로 한 번에 만든다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 학습 포인트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CLAUDE.md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규칙 덕분에 한 번에 만들어도 룩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시그니처가 통일됨을 눈으로 확인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 체크리스트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개 항목으로 산출물 점검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38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E18EF-A71B-4EF2-97F4-318E88E6A719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3384-9610-4C1C-25AE-48E74D95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>
            <a:extLst>
              <a:ext uri="{FF2B5EF4-FFF2-40B4-BE49-F238E27FC236}">
                <a16:creationId xmlns:a16="http://schemas.microsoft.com/office/drawing/2014/main" id="{E9582037-F128-C564-07AB-5BD517633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>
            <a:extLst>
              <a:ext uri="{FF2B5EF4-FFF2-40B4-BE49-F238E27FC236}">
                <a16:creationId xmlns:a16="http://schemas.microsoft.com/office/drawing/2014/main" id="{924F8C4B-C349-62F5-63F4-9ACCF67B872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첫 빌드는 강사가 시연하며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plan mode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조작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검증의 한 사이클을 보여준다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두 번째 빌드는 학생이 같은 절차를 자력으로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회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핵심은 차트가 아니라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계획 읽고 승인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산출물 검증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습관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35" name="PlaceHolder 3">
            <a:extLst>
              <a:ext uri="{FF2B5EF4-FFF2-40B4-BE49-F238E27FC236}">
                <a16:creationId xmlns:a16="http://schemas.microsoft.com/office/drawing/2014/main" id="{B9C140BD-40DF-4882-041E-1CA3129B4448}"/>
              </a:ext>
            </a:extLst>
          </p:cNvPr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0A983-AE4E-4944-A194-78E967EC5AA3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98500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plan mode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실행 전 계획서를 먼저 보고 승인하는 안전장치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승인 전엔 아무것도 실행 안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검증은 두 단계 — 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무엇을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과 실행 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결과가 맞나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둘 다 코드 읽기가 아님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26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80BCA6-86D5-43C9-9C9C-BB66A8873732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F026E-580D-11DF-A41B-44C5138C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>
            <a:extLst>
              <a:ext uri="{FF2B5EF4-FFF2-40B4-BE49-F238E27FC236}">
                <a16:creationId xmlns:a16="http://schemas.microsoft.com/office/drawing/2014/main" id="{54250CD0-FDC7-587A-D368-8E47BC191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>
            <a:extLst>
              <a:ext uri="{FF2B5EF4-FFF2-40B4-BE49-F238E27FC236}">
                <a16:creationId xmlns:a16="http://schemas.microsoft.com/office/drawing/2014/main" id="{AEFBEB99-24A2-DF4A-CF2D-EEA4DDF924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첫 빌드는 강사가 시연하며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plan mode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조작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검증의 한 사이클을 보여준다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두 번째 빌드는 학생이 같은 절차를 자력으로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회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핵심은 차트가 아니라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계획 읽고 승인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산출물 검증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습관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35" name="PlaceHolder 3">
            <a:extLst>
              <a:ext uri="{FF2B5EF4-FFF2-40B4-BE49-F238E27FC236}">
                <a16:creationId xmlns:a16="http://schemas.microsoft.com/office/drawing/2014/main" id="{9CA538A1-A940-81E4-29F6-9BA6EAFC835D}"/>
              </a:ext>
            </a:extLst>
          </p:cNvPr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0A983-AE4E-4944-A194-78E967EC5AA3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93486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폴백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= 1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급 정규 경로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copy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줄로 표준 코드 교체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즉시 호환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폴백은 설계의 일부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를 다시 각인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여유 있는 학생은 추가 차트 바이브 코딩으로 확장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41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C01BE1-2BC8-42F3-B734-01CE40A1D7D7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시작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에서 만든 함수 라이브러리 위에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검증→차트 생성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을 자동으로 묶는다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(uv run run_report.py)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로 무인 실행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학생 역할은 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과 동일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계획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</a:t>
            </a:r>
          </a:p>
        </p:txBody>
      </p:sp>
      <p:sp>
        <p:nvSpPr>
          <p:cNvPr id="1344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342D95-4D81-4571-8741-730C642A25E9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파이프라인 개념도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config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읽기 → 데이터 로드 →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validate →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통과 시 차트 일괄 생성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실패 시 중단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핵심은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검증이 게이트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역할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줄로 무인 실행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47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0FCF6E-B013-4D7C-B5CE-E339585A16EA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파이프라인 골격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= 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파일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validate(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)·config(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매핑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)·run_report(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검토 포인트는 기존 고정자산을 안 건드리는지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정답본 배포로 즉시 폴백 가능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50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3F88BF-19D6-42E9-9F7C-D1EEA64EDF5E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validate.py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 점검하는 항목들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일반 품질검사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결측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이상치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자료형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스키마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도메인 규칙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연도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화이트리스트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음수차단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학생은 규칙을 짜는 게 아니라 리포트를 읽기만 하면 된다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53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E5E0F5-B4CF-4BE3-B369-F8C46F70F8C7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검증 게이트의 위력을 시연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정상 데이터는 통과→차트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종 생성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깨진 데이터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(dirty)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는 실패→차트 미생성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중단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리포트에 결측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음수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연도밖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화이트리스트밖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프랑스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[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]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로 찍힘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56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7F460-886E-4F65-A35D-882CFC119AE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운영형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격월 재생산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줄 재실행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과 자립형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적응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스키마 다른 트랙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C)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둘 다 시연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핵심 메시지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코드 본체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(style.py·report_charts.py)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는 그대로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config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라는 얇은 가변층만 손본다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롤리팝만 신규 추가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59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EB05D-A533-4F71-B5B8-8A2BAD2DB636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가지고 갈 참조표 한 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왼쪽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=PowerShell/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실행 명령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오른쪽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=Claude Code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조작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Shift+Tab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두 번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(plan mode)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 별표 핵심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인쇄해 자리에 붙여두라고 안내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68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2E499-E47A-4A91-A4E2-FA2F11671615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44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9585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inkinghs/lecture_6_1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34.png"/><Relationship Id="rId4" Type="http://schemas.openxmlformats.org/officeDocument/2006/relationships/image" Target="../media/image46.png"/><Relationship Id="rId9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33.png"/><Relationship Id="rId4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8.png"/><Relationship Id="rId4" Type="http://schemas.openxmlformats.org/officeDocument/2006/relationships/image" Target="../media/image6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6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8.png"/><Relationship Id="rId4" Type="http://schemas.openxmlformats.org/officeDocument/2006/relationships/image" Target="../media/image76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2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8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0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8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0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6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06.png"/><Relationship Id="rId4" Type="http://schemas.openxmlformats.org/officeDocument/2006/relationships/image" Target="../media/image88.png"/><Relationship Id="rId9" Type="http://schemas.openxmlformats.org/officeDocument/2006/relationships/image" Target="../media/image129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8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02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10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 링크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FEEF9E2-5280-4104-BD79-FD9FCF1D1D2A}"/>
              </a:ext>
            </a:extLst>
          </p:cNvPr>
          <p:cNvSpPr/>
          <p:nvPr/>
        </p:nvSpPr>
        <p:spPr>
          <a:xfrm>
            <a:off x="539496" y="1406178"/>
            <a:ext cx="10725297" cy="497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https://github.com/thinkinghs/lecture_6_18</a:t>
            </a:r>
            <a:endParaRPr lang="en-US" sz="3200" b="1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="1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압축을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 </a:t>
            </a:r>
            <a:r>
              <a:rPr lang="ko-KR" altLang="en-US" sz="32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밑에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풀어주세요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경로처럼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3200" b="1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C:\lecture_6_18-main</a:t>
            </a:r>
            <a:endParaRPr lang="en-US" sz="3200" b="1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바탕화면처럼 한글 경로가 있으면 실습 시 오류 발생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2323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3200" b="1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3200" b="1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강의 시작 전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Claude desktop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다운로드 및 인스톨 필수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2323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75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" name="Shape 2"/>
          <p:cNvSpPr/>
          <p:nvPr/>
        </p:nvSpPr>
        <p:spPr>
          <a:xfrm>
            <a:off x="9082735" y="-1463040"/>
            <a:ext cx="4572000" cy="4572000"/>
          </a:xfrm>
          <a:prstGeom prst="ellipse">
            <a:avLst/>
          </a:prstGeom>
          <a:solidFill>
            <a:srgbClr val="0E8388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71455" y="3291840"/>
            <a:ext cx="2926080" cy="2926080"/>
          </a:xfrm>
          <a:prstGeom prst="ellipse">
            <a:avLst/>
          </a:prstGeom>
          <a:solidFill>
            <a:srgbClr val="C2771A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2194559"/>
            <a:ext cx="10515600" cy="349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</a:t>
            </a: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내 자료 연동</a:t>
            </a:r>
            <a:endParaRPr lang="en-US" altLang="ko-KR" sz="3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571500" indent="-5715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데이터 다루기</a:t>
            </a:r>
            <a:endParaRPr lang="en-US" altLang="ko-KR" sz="3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571500" indent="-5715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3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</a:t>
            </a: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시각화</a:t>
            </a:r>
            <a:endParaRPr lang="en-US" altLang="ko-KR" sz="3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571500" indent="-5715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ko-KR" altLang="en-US" sz="3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노코딩</a:t>
            </a: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데이터 시각화 자동화</a:t>
            </a:r>
            <a:endParaRPr lang="en-US" altLang="ko-KR" sz="3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571500" indent="-5715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ko-KR" altLang="en-US" sz="3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</a:t>
            </a: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데이터 시각화 자동화</a:t>
            </a:r>
            <a:endParaRPr lang="en-US" altLang="ko-KR" sz="3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DA3134-3B21-796F-CEAE-742C0C54D552}"/>
              </a:ext>
            </a:extLst>
          </p:cNvPr>
          <p:cNvSpPr txBox="1"/>
          <p:nvPr/>
        </p:nvSpPr>
        <p:spPr>
          <a:xfrm>
            <a:off x="566928" y="822960"/>
            <a:ext cx="6828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800" b="1" dirty="0">
                <a:solidFill>
                  <a:srgbClr val="FFFFFF"/>
                </a:solidFill>
                <a:latin typeface="Calibri"/>
              </a:rPr>
              <a:t>KISTI AI Learning Day 2026 </a:t>
            </a:r>
          </a:p>
          <a:p>
            <a:pPr defTabSz="457200"/>
            <a:r>
              <a:rPr lang="en-US" altLang="ko-KR" sz="1800" b="1" dirty="0">
                <a:solidFill>
                  <a:srgbClr val="FFFFFF"/>
                </a:solidFill>
                <a:latin typeface="Calibri"/>
              </a:rPr>
              <a:t>2</a:t>
            </a:r>
            <a:r>
              <a:rPr lang="ko-KR" altLang="en-US" sz="1800" b="1" dirty="0">
                <a:solidFill>
                  <a:srgbClr val="FFFFFF"/>
                </a:solidFill>
                <a:latin typeface="Calibri"/>
              </a:rPr>
              <a:t>차 강의</a:t>
            </a:r>
            <a:endParaRPr lang="en-US" altLang="ko-KR" sz="18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13716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Desktop으로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 연동하기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7E1D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 · Google Drive · Gmail 연동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767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9FA0A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업로드에서 '연동'으로 —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4709160"/>
            <a:ext cx="2788920" cy="841248"/>
          </a:xfrm>
          <a:prstGeom prst="roundRect">
            <a:avLst>
              <a:gd name="adj" fmla="val 10870"/>
            </a:avLst>
          </a:prstGeom>
          <a:solidFill>
            <a:srgbClr val="2C2C3A"/>
          </a:solidFill>
          <a:ln w="16510">
            <a:solidFill>
              <a:srgbClr val="C06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4901184"/>
            <a:ext cx="457200" cy="457200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024628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48280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A88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통로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30168" y="4709160"/>
            <a:ext cx="2788920" cy="841248"/>
          </a:xfrm>
          <a:prstGeom prst="roundRect">
            <a:avLst>
              <a:gd name="adj" fmla="val 10870"/>
            </a:avLst>
          </a:prstGeom>
          <a:solidFill>
            <a:srgbClr val="2C2C3A"/>
          </a:solidFill>
          <a:ln w="16510">
            <a:solidFill>
              <a:srgbClr val="1C7E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31336" y="4901184"/>
            <a:ext cx="457200" cy="457200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5024628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48280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BC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활용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469880" y="2240280"/>
            <a:ext cx="1143000" cy="1143000"/>
          </a:xfrm>
          <a:prstGeom prst="roundRect">
            <a:avLst>
              <a:gd name="adj" fmla="val 11200"/>
            </a:avLst>
          </a:prstGeom>
          <a:solidFill>
            <a:srgbClr val="C0613C"/>
          </a:solidFill>
          <a:ln/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2505456"/>
            <a:ext cx="612648" cy="6126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0" y="34198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9C9D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869680" y="110642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2C2C3A"/>
          </a:solidFill>
          <a:ln w="12700">
            <a:solidFill>
              <a:srgbClr val="4A4A5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1261872"/>
            <a:ext cx="310896" cy="31089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491472" y="1417320"/>
            <a:ext cx="978408" cy="1389888"/>
          </a:xfrm>
          <a:prstGeom prst="line">
            <a:avLst/>
          </a:prstGeom>
          <a:noFill/>
          <a:ln w="17780">
            <a:solidFill>
              <a:srgbClr val="5A5A68"/>
            </a:solidFill>
            <a:prstDash val="solid"/>
            <a:tailEnd type="oval"/>
          </a:ln>
        </p:spPr>
      </p:sp>
      <p:sp>
        <p:nvSpPr>
          <p:cNvPr id="20" name="Shape 14"/>
          <p:cNvSpPr/>
          <p:nvPr/>
        </p:nvSpPr>
        <p:spPr>
          <a:xfrm>
            <a:off x="8869680" y="202082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2C2C3A"/>
          </a:solidFill>
          <a:ln w="12700">
            <a:solidFill>
              <a:srgbClr val="4A4A5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5128" y="2176272"/>
            <a:ext cx="310896" cy="31089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491472" y="2331720"/>
            <a:ext cx="978408" cy="475488"/>
          </a:xfrm>
          <a:prstGeom prst="line">
            <a:avLst/>
          </a:prstGeom>
          <a:noFill/>
          <a:ln w="17780">
            <a:solidFill>
              <a:srgbClr val="5A5A68"/>
            </a:solidFill>
            <a:prstDash val="solid"/>
            <a:tailEnd type="oval"/>
          </a:ln>
        </p:spPr>
      </p:sp>
      <p:sp>
        <p:nvSpPr>
          <p:cNvPr id="23" name="Shape 16"/>
          <p:cNvSpPr/>
          <p:nvPr/>
        </p:nvSpPr>
        <p:spPr>
          <a:xfrm>
            <a:off x="8869680" y="293522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2C2C3A"/>
          </a:solidFill>
          <a:ln w="12700">
            <a:solidFill>
              <a:srgbClr val="4A4A58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5128" y="3090672"/>
            <a:ext cx="310896" cy="31089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 flipV="1">
            <a:off x="9491472" y="2807208"/>
            <a:ext cx="978408" cy="438912"/>
          </a:xfrm>
          <a:prstGeom prst="line">
            <a:avLst/>
          </a:prstGeom>
          <a:noFill/>
          <a:ln w="17780">
            <a:solidFill>
              <a:srgbClr val="5A5A68"/>
            </a:solidFill>
            <a:prstDash val="solid"/>
            <a:tailEnd type="oval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kumimoji="0" lang="ko-KR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 수업 개요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74520"/>
            <a:ext cx="713232" cy="713232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397" y="206709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5376" y="1856232"/>
            <a:ext cx="9381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Desktop에 내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865376" y="2258568"/>
            <a:ext cx="9381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내 PC 폴더   ② Google Drive   ③ Gmail — 세 가지를 차례로 연결합니다.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2971800"/>
            <a:ext cx="110276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3154680"/>
            <a:ext cx="713232" cy="713232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97" y="334725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65376" y="3136392"/>
            <a:ext cx="9381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연동하면, Claude가 직접 접근해 작업한다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865376" y="3538728"/>
            <a:ext cx="9381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파일을 매번 올리지 않아도, Claude가 폴더 속 문서를 읽고 근거로 답합니다.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6928" y="4251960"/>
            <a:ext cx="110276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" y="4434840"/>
            <a:ext cx="713232" cy="713232"/>
          </a:xfrm>
          <a:prstGeom prst="ellipse">
            <a:avLst/>
          </a:prstGeom>
          <a:solidFill>
            <a:srgbClr val="B7831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97" y="462741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65376" y="4416552"/>
            <a:ext cx="9381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RAG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 개념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865376" y="4818888"/>
            <a:ext cx="9381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정의를 외우지 말고, 직접 연결하고 물어보며 '아, 이게 그거구나' 하고 익힙니다.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연동하나요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내 디렉토리에서 직접 파일을 읽고 처리할 수 있음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분석할 파일을 일일이 업로드 </a:t>
            </a:r>
            <a:r>
              <a:rPr lang="ko-KR" altLang="en-US" sz="2900" b="1" dirty="0" err="1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안해도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됨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4632" y="2683764"/>
            <a:ext cx="5285232" cy="3703320"/>
          </a:xfrm>
          <a:prstGeom prst="roundRect">
            <a:avLst>
              <a:gd name="adj" fmla="val 2222"/>
            </a:avLst>
          </a:prstGeom>
          <a:solidFill>
            <a:srgbClr val="F5F4F1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994660"/>
            <a:ext cx="640080" cy="640080"/>
          </a:xfrm>
          <a:prstGeom prst="ellipse">
            <a:avLst/>
          </a:prstGeom>
          <a:solidFill>
            <a:srgbClr val="8C8C9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31674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9763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00200" y="325069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A6A75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방식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68680" y="3945636"/>
            <a:ext cx="146304" cy="146304"/>
          </a:xfrm>
          <a:prstGeom prst="ellipse">
            <a:avLst/>
          </a:prstGeom>
          <a:solidFill>
            <a:srgbClr val="8C8C97"/>
          </a:solidFill>
          <a:ln/>
        </p:spPr>
      </p:sp>
      <p:sp>
        <p:nvSpPr>
          <p:cNvPr id="10" name="Text 7"/>
          <p:cNvSpPr/>
          <p:nvPr/>
        </p:nvSpPr>
        <p:spPr>
          <a:xfrm>
            <a:off x="1161288" y="38267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5A5A66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채팅창에 매번 하나하나 올림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61288" y="413766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대화할 때마다 같은 파일을 다시 끌어다 놓는 반복 작업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68680" y="4750308"/>
            <a:ext cx="146304" cy="146304"/>
          </a:xfrm>
          <a:prstGeom prst="ellipse">
            <a:avLst/>
          </a:prstGeom>
          <a:solidFill>
            <a:srgbClr val="8C8C97"/>
          </a:solidFill>
          <a:ln/>
        </p:spPr>
      </p:sp>
      <p:sp>
        <p:nvSpPr>
          <p:cNvPr id="13" name="Text 10"/>
          <p:cNvSpPr/>
          <p:nvPr/>
        </p:nvSpPr>
        <p:spPr>
          <a:xfrm>
            <a:off x="1161288" y="463143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5A5A66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많으면 번거롭다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61288" y="494233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문서를 다룰수록 업로드 부담이 커집니다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68680" y="5554980"/>
            <a:ext cx="146304" cy="146304"/>
          </a:xfrm>
          <a:prstGeom prst="ellipse">
            <a:avLst/>
          </a:prstGeom>
          <a:solidFill>
            <a:srgbClr val="8C8C97"/>
          </a:solidFill>
          <a:ln/>
        </p:spPr>
      </p:sp>
      <p:sp>
        <p:nvSpPr>
          <p:cNvPr id="16" name="Text 13"/>
          <p:cNvSpPr/>
          <p:nvPr/>
        </p:nvSpPr>
        <p:spPr>
          <a:xfrm>
            <a:off x="1161288" y="543610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5A5A66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끝나면 휘발된다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61288" y="574700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대화에서는 다시 처음부터 올려야 합니다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696712" y="42336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C0613C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389120"/>
            <a:ext cx="292608" cy="29260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27064" y="2683764"/>
            <a:ext cx="5285232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0320">
            <a:solidFill>
              <a:srgbClr val="C0613C"/>
            </a:solidFill>
            <a:prstDash val="solid"/>
          </a:ln>
          <a:effectLst>
            <a:outerShdw blurRad="114300" dist="38100" dir="5400000" algn="bl" rotWithShape="0">
              <a:srgbClr val="C0613C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47104" y="2994660"/>
            <a:ext cx="640080" cy="640080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926" y="3167482"/>
            <a:ext cx="294437" cy="2944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42632" y="29763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오늘부터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342632" y="325069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방식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592824" y="3872484"/>
            <a:ext cx="274320" cy="274320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936492"/>
            <a:ext cx="146304" cy="1463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382676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폴더·Drive를 한 번 꽂아두면 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995160" y="413766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1회 연결로 이후 모든 대화에서 그대로 사용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6592824" y="4677156"/>
            <a:ext cx="274320" cy="274320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741164"/>
            <a:ext cx="146304" cy="1463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95160" y="463143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파일에 직접 접근해 작업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6995160" y="494233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 안 문서를 스스로 찾아 읽고 정리합니다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6592824" y="5481828"/>
            <a:ext cx="274320" cy="274320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5545836"/>
            <a:ext cx="146304" cy="1463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95160" y="543610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끝나도 연결은 유지된다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995160" y="574700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또 올릴 필요 없이 바로 물어보면 됩니다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KEYWORDS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하는 연동이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RAG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단순 개념과 비유만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20320">
            <a:solidFill>
              <a:srgbClr val="C0613C"/>
            </a:solidFill>
            <a:prstDash val="solid"/>
          </a:ln>
          <a:effectLst>
            <a:outerShdw blurRad="114300" dist="38100" dir="5400000" algn="bl" rotWithShape="0">
              <a:srgbClr val="C0613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841248" cy="841248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25" y="2375977"/>
            <a:ext cx="386974" cy="386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14884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38528" y="262432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32688" y="320040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F7EDE6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32004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꽂는다 / 연결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50976" y="3794760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툴에 연결하도록 하는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방법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50976" y="4178808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폴더·Drive·Gmail을 Claude에 연결하는 표준 규격입니다.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50976" y="4754880"/>
            <a:ext cx="4517136" cy="868680"/>
          </a:xfrm>
          <a:prstGeom prst="roundRect">
            <a:avLst>
              <a:gd name="adj" fmla="val 9474"/>
            </a:avLst>
          </a:prstGeom>
          <a:solidFill>
            <a:srgbClr val="F7EDE6"/>
          </a:solidFill>
          <a:ln/>
        </p:spPr>
      </p:sp>
      <p:sp>
        <p:nvSpPr>
          <p:cNvPr id="14" name="Shape 11"/>
          <p:cNvSpPr/>
          <p:nvPr/>
        </p:nvSpPr>
        <p:spPr>
          <a:xfrm>
            <a:off x="1170432" y="4919472"/>
            <a:ext cx="530352" cy="530352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505663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47088" y="48920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포트 같은 공용 규격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847088" y="51846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꽂으면 어떤 자료든 같은 방식으로 연결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309360" y="1783080"/>
            <a:ext cx="528523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20320">
            <a:solidFill>
              <a:srgbClr val="1C7E8C"/>
            </a:solidFill>
            <a:prstDash val="solid"/>
          </a:ln>
          <a:effectLst>
            <a:outerShdw blurRad="114300" dist="38100" dir="5400000" algn="bl" rotWithShape="0">
              <a:srgbClr val="1C7E8C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75120" y="2148840"/>
            <a:ext cx="841248" cy="841248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257" y="2375977"/>
            <a:ext cx="386974" cy="3869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80960" y="214884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680960" y="262432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Retrieval-Augmented Generation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675120" y="320040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E7F1F3"/>
          </a:solidFill>
          <a:ln/>
        </p:spPr>
      </p:sp>
      <p:sp>
        <p:nvSpPr>
          <p:cNvPr id="24" name="Text 19"/>
          <p:cNvSpPr/>
          <p:nvPr/>
        </p:nvSpPr>
        <p:spPr>
          <a:xfrm>
            <a:off x="6675120" y="32004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물어본다 / 활용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693408" y="3794760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연결해 온 자료를 뒤져 근거로 답하는 방식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6693408" y="4178808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문서를 찾아 읽고, 그 내용을 근거로 답을 만듭니다.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693408" y="4754880"/>
            <a:ext cx="4517136" cy="868680"/>
          </a:xfrm>
          <a:prstGeom prst="roundRect">
            <a:avLst>
              <a:gd name="adj" fmla="val 9474"/>
            </a:avLst>
          </a:prstGeom>
          <a:solidFill>
            <a:srgbClr val="E7F1F3"/>
          </a:solidFill>
          <a:ln/>
        </p:spPr>
      </p:sp>
      <p:sp>
        <p:nvSpPr>
          <p:cNvPr id="28" name="Shape 23"/>
          <p:cNvSpPr/>
          <p:nvPr/>
        </p:nvSpPr>
        <p:spPr>
          <a:xfrm>
            <a:off x="6912864" y="4919472"/>
            <a:ext cx="530352" cy="530352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505663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89520" y="48920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 사서 같은 방식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7589520" y="51846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자료를 직접 찾아와 답의 근거로 삼음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PICTURE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장으로 보는 큰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비유로서만</a:t>
            </a:r>
            <a:r>
              <a:rPr kumimoji="0" lang="ko-KR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이해하기</a:t>
            </a:r>
            <a:r>
              <a:rPr kumimoji="0" lang="en-US" altLang="ko-KR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12648" y="2148840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2313432"/>
            <a:ext cx="548640" cy="548640"/>
          </a:xfrm>
          <a:prstGeom prst="ellipse">
            <a:avLst/>
          </a:prstGeom>
          <a:solidFill>
            <a:srgbClr val="F7ED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597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2860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폴더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81328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 · PDF · TXT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" y="3282696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3816" y="3447288"/>
            <a:ext cx="548640" cy="548640"/>
          </a:xfrm>
          <a:prstGeom prst="ellipse">
            <a:avLst/>
          </a:prstGeom>
          <a:solidFill>
            <a:srgbClr val="F7EDE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935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4198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481328" y="3739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문서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2648" y="4416552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" y="4581144"/>
            <a:ext cx="548640" cy="548640"/>
          </a:xfrm>
          <a:prstGeom prst="ellipse">
            <a:avLst/>
          </a:prstGeom>
          <a:solidFill>
            <a:srgbClr val="F7EDE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72744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5537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481328" y="4873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· 답장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074920" y="233172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23232F"/>
          </a:solidFill>
          <a:ln/>
          <a:effectLst>
            <a:outerShdw blurRad="127000" dist="508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65292" y="2715768"/>
            <a:ext cx="1133856" cy="1133856"/>
          </a:xfrm>
          <a:prstGeom prst="roundRect">
            <a:avLst>
              <a:gd name="adj" fmla="val 12903"/>
            </a:avLst>
          </a:prstGeom>
          <a:solidFill>
            <a:srgbClr val="C0613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2953512"/>
            <a:ext cx="658368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74920" y="39593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074920" y="428853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7B7C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166360" y="46634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9A9AA6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 환경 안에서 일한다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9098280" y="29260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E7F1F3"/>
          </a:solidFill>
          <a:ln w="16510">
            <a:solidFill>
              <a:srgbClr val="1C7E8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58400" y="3163824"/>
            <a:ext cx="621792" cy="621792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6284" y="3331708"/>
            <a:ext cx="286024" cy="2860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9720" y="38404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자료를 근거로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9189720" y="412394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· 답변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3218688" y="2587752"/>
            <a:ext cx="1856232" cy="1115568"/>
          </a:xfrm>
          <a:prstGeom prst="line">
            <a:avLst/>
          </a:prstGeom>
          <a:noFill/>
          <a:ln w="25400">
            <a:solidFill>
              <a:srgbClr val="C0613C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 flipV="1">
            <a:off x="3218688" y="3703320"/>
            <a:ext cx="1856232" cy="18288"/>
          </a:xfrm>
          <a:prstGeom prst="line">
            <a:avLst/>
          </a:prstGeom>
          <a:noFill/>
          <a:ln w="25400">
            <a:solidFill>
              <a:srgbClr val="C0613C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 flipV="1">
            <a:off x="3218688" y="3703320"/>
            <a:ext cx="1856232" cy="1152144"/>
          </a:xfrm>
          <a:prstGeom prst="line">
            <a:avLst/>
          </a:prstGeom>
          <a:noFill/>
          <a:ln w="25400">
            <a:solidFill>
              <a:srgbClr val="C0613C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3310128" y="175564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C0613C"/>
          </a:solidFill>
          <a:ln/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1883664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694176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꽂는다 = MCP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589520" y="3703320"/>
            <a:ext cx="1508760" cy="0"/>
          </a:xfrm>
          <a:prstGeom prst="line">
            <a:avLst/>
          </a:prstGeom>
          <a:noFill/>
          <a:ln w="30480">
            <a:solidFill>
              <a:srgbClr val="1C7E8C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7726680" y="1755648"/>
            <a:ext cx="2277932" cy="457200"/>
          </a:xfrm>
          <a:prstGeom prst="roundRect">
            <a:avLst>
              <a:gd name="adj" fmla="val 50000"/>
            </a:avLst>
          </a:prstGeom>
          <a:solidFill>
            <a:srgbClr val="1C7E8C"/>
          </a:solidFill>
          <a:ln/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4" y="1883664"/>
            <a:ext cx="201168" cy="20116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110728" y="1755648"/>
            <a:ext cx="1571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근거로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답한다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RAG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66928" y="5532120"/>
            <a:ext cx="11027664" cy="749808"/>
          </a:xfrm>
          <a:prstGeom prst="roundRect">
            <a:avLst>
              <a:gd name="adj" fmla="val 10976"/>
            </a:avLst>
          </a:prstGeom>
          <a:solidFill>
            <a:srgbClr val="F5F4F1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41248" y="5532120"/>
            <a:ext cx="10479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통로(MCP)로 자료를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꽂고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 자료를 사서처럼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뒤져 근거로 답한다(RAG)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—  이 두 동작을 오늘 손으로 반복합니다.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① 꽂기 (MCP · 연결)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연동하기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방식 변경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7292" y="2919472"/>
            <a:ext cx="457200" cy="457200"/>
          </a:xfrm>
          <a:prstGeom prst="ellipse">
            <a:avLst/>
          </a:prstGeom>
          <a:solidFill>
            <a:srgbClr val="C0613C"/>
          </a:solidFill>
          <a:ln/>
        </p:spPr>
      </p:sp>
      <p:sp>
        <p:nvSpPr>
          <p:cNvPr id="5" name="Text 3"/>
          <p:cNvSpPr/>
          <p:nvPr/>
        </p:nvSpPr>
        <p:spPr>
          <a:xfrm>
            <a:off x="657292" y="2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97372" y="2846320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</a:t>
            </a:r>
            <a:r>
              <a:rPr lang="en-US" altLang="ko-KR" sz="15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97372" y="3175504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옆 더하기 버튼에서 확장 메뉴를 엽니다.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7292" y="3614416"/>
            <a:ext cx="457200" cy="457200"/>
          </a:xfrm>
          <a:prstGeom prst="ellipse">
            <a:avLst/>
          </a:prstGeom>
          <a:solidFill>
            <a:srgbClr val="C0613C"/>
          </a:solidFill>
          <a:ln/>
        </p:spPr>
      </p:sp>
      <p:sp>
        <p:nvSpPr>
          <p:cNvPr id="9" name="Text 7"/>
          <p:cNvSpPr/>
          <p:nvPr/>
        </p:nvSpPr>
        <p:spPr>
          <a:xfrm>
            <a:off x="657292" y="3614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97372" y="354126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 둘러보기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97372" y="3870448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목록에서 'filesystem'을 검색합니다.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7292" y="4309360"/>
            <a:ext cx="457200" cy="457200"/>
          </a:xfrm>
          <a:prstGeom prst="ellipse">
            <a:avLst/>
          </a:prstGeom>
          <a:solidFill>
            <a:srgbClr val="C0613C"/>
          </a:solidFill>
          <a:ln/>
        </p:spPr>
      </p:sp>
      <p:sp>
        <p:nvSpPr>
          <p:cNvPr id="13" name="Text 11"/>
          <p:cNvSpPr/>
          <p:nvPr/>
        </p:nvSpPr>
        <p:spPr>
          <a:xfrm>
            <a:off x="657292" y="4309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7372" y="4236208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Filesystem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7372" y="4565392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서버를 골라 설치 버튼을 누릅니다.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AAFA748-E121-421C-B13F-80B1A2DB6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418" y="2275703"/>
            <a:ext cx="4766801" cy="4517828"/>
          </a:xfrm>
          <a:prstGeom prst="rect">
            <a:avLst/>
          </a:prstGeom>
        </p:spPr>
      </p:pic>
      <p:sp>
        <p:nvSpPr>
          <p:cNvPr id="46" name="Text 1">
            <a:extLst>
              <a:ext uri="{FF2B5EF4-FFF2-40B4-BE49-F238E27FC236}">
                <a16:creationId xmlns:a16="http://schemas.microsoft.com/office/drawing/2014/main" id="{95A3AA8F-7052-4348-BD13-1E75357E974D}"/>
              </a:ext>
            </a:extLst>
          </p:cNvPr>
          <p:cNvSpPr/>
          <p:nvPr/>
        </p:nvSpPr>
        <p:spPr>
          <a:xfrm>
            <a:off x="566928" y="1441448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</a:rPr>
              <a:t>연구원 컴퓨터 또는 보안이 중요한 폴더는 연동 주의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① 꽂기 (MCP · 연결)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연동하기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방식 변경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6072" y="1679243"/>
            <a:ext cx="457200" cy="457200"/>
          </a:xfrm>
          <a:prstGeom prst="ellipse">
            <a:avLst/>
          </a:prstGeom>
          <a:solidFill>
            <a:srgbClr val="C0613C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16792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16151" y="1606091"/>
            <a:ext cx="90266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디렉토리 추가 버튼 누르고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접근할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자료 압축 푼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디렉토리 지정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16152" y="1935275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들여다볼 폴더의 경로를 지정합니다.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072" y="4489704"/>
            <a:ext cx="457200" cy="457200"/>
          </a:xfrm>
          <a:prstGeom prst="ellipse">
            <a:avLst/>
          </a:prstGeom>
          <a:solidFill>
            <a:srgbClr val="C0613C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00911" y="4593542"/>
            <a:ext cx="97596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비활성화됨 </a:t>
            </a: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토글을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눌러서 활성화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종료 후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재시작 →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누르고 커넥터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Filesystem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있으면 성공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566928" y="528523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F5F4F1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22960" y="5468112"/>
            <a:ext cx="530352" cy="530352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605272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527048" y="5285232"/>
            <a:ext cx="9838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한 것이 바로 MCP입니다. 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규격처럼, 내 폴더를 Claude에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꽂은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것입니다.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4CE4183-7EE5-4A45-9997-105FDF6FF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287319"/>
            <a:ext cx="3673278" cy="196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88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1C7E8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② 물어보기 (RAG · 활용)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물어보기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</a:t>
            </a:r>
            <a:r>
              <a:rPr kumimoji="0" lang="ko-KR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처음 사용하면 허용 버튼 눌러줘야 함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물어보세요 (프롬프트 예시)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6446520" cy="749808"/>
          </a:xfrm>
          <a:prstGeom prst="roundRect">
            <a:avLst>
              <a:gd name="adj" fmla="val 10976"/>
            </a:avLst>
          </a:prstGeom>
          <a:solidFill>
            <a:srgbClr val="E7F1F3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267712"/>
            <a:ext cx="457200" cy="457200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8658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8176" y="2121408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filesystem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연결한 폴더에서 예산 관련 파일이 있는지 찾아봐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디렉토리도 다 찾아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02335" y="5985247"/>
            <a:ext cx="89875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정확히는 Claude가 도구로 파일을 찾아 읽는 방식(tool-use retrieval) — 효과가 같아 넓은 의미의 RAG로 봅니다.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2A41833-79BA-4133-A235-017C2972F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52" y="2944368"/>
            <a:ext cx="5680010" cy="28400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8DB4777D-B866-4ED7-B75F-9D45B6959A7D}"/>
              </a:ext>
            </a:extLst>
          </p:cNvPr>
          <p:cNvSpPr/>
          <p:nvPr/>
        </p:nvSpPr>
        <p:spPr>
          <a:xfrm>
            <a:off x="6555197" y="3266713"/>
            <a:ext cx="5440680" cy="96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예시 프롬프트 외에도 몇가지 더 물어보기</a:t>
            </a:r>
            <a:endParaRPr lang="en-US" altLang="ko-KR" sz="1400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다른 파일 찾아보라고 하거나 </a:t>
            </a:r>
            <a:r>
              <a:rPr lang="en-US" altLang="ko-KR" sz="1400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ppt </a:t>
            </a:r>
            <a:r>
              <a:rPr lang="ko-KR" altLang="en-US" sz="1400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파일을 찾아보라고 하는 등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1C7E8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② 물어보기 (RAG · 활용)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7" y="713231"/>
            <a:ext cx="11550793" cy="2106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Directory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 추가 버튼을 통해 여러 폴더를 연동할 수도 있음</a:t>
            </a:r>
            <a:endParaRPr lang="en-US" altLang="ko-KR" sz="2900" b="1" dirty="0">
              <a:solidFill>
                <a:srgbClr val="23232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오늘 실습 뿐만 아니라 실무에서도 활용해보기</a:t>
            </a:r>
            <a:endParaRPr kumimoji="0" lang="en-US" altLang="ko-KR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Calibri" panose="020F0502020204030204"/>
              </a:rPr>
              <a:t>다만 파일 경로에 </a:t>
            </a:r>
            <a:r>
              <a:rPr lang="en-US" altLang="ko-KR" sz="2400" dirty="0">
                <a:solidFill>
                  <a:prstClr val="black"/>
                </a:solidFill>
                <a:latin typeface="Calibri" panose="020F0502020204030204"/>
              </a:rPr>
              <a:t>‘</a:t>
            </a:r>
            <a:r>
              <a:rPr lang="ko-KR" altLang="en-US" sz="2400" dirty="0">
                <a:solidFill>
                  <a:prstClr val="black"/>
                </a:solidFill>
                <a:latin typeface="Calibri" panose="020F0502020204030204"/>
              </a:rPr>
              <a:t>바탕 화면</a:t>
            </a:r>
            <a:r>
              <a:rPr lang="en-US" altLang="ko-KR" sz="2400" dirty="0">
                <a:solidFill>
                  <a:prstClr val="black"/>
                </a:solidFill>
                <a:latin typeface="Calibri" panose="020F0502020204030204"/>
              </a:rPr>
              <a:t>’</a:t>
            </a:r>
            <a:r>
              <a:rPr lang="ko-KR" altLang="en-US" sz="2400" dirty="0">
                <a:solidFill>
                  <a:prstClr val="black"/>
                </a:solidFill>
                <a:latin typeface="Calibri" panose="020F0502020204030204"/>
              </a:rPr>
              <a:t>처럼 한글이나 띄어쓰기 있으면 에러 발생 </a:t>
            </a:r>
            <a:r>
              <a:rPr lang="ko-KR" altLang="en-US" sz="2400" dirty="0" err="1">
                <a:solidFill>
                  <a:prstClr val="black"/>
                </a:solidFill>
                <a:latin typeface="Calibri" panose="020F0502020204030204"/>
              </a:rPr>
              <a:t>했어서</a:t>
            </a:r>
            <a:endParaRPr lang="en-US" altLang="ko-KR" sz="2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Calibri" panose="020F0502020204030204"/>
              </a:rPr>
              <a:t>혹시 나중에 에러 발생하면 영문 경로로만 해보기 </a:t>
            </a:r>
            <a:r>
              <a:rPr lang="en-US" altLang="ko-KR" sz="24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ko-KR" altLang="en-US" sz="2400" dirty="0">
                <a:solidFill>
                  <a:prstClr val="black"/>
                </a:solidFill>
                <a:latin typeface="Calibri" panose="020F0502020204030204"/>
              </a:rPr>
              <a:t>지금 실습에는 이슈 없음 확인</a:t>
            </a:r>
            <a:r>
              <a:rPr lang="en-US" altLang="ko-KR" sz="2400" dirty="0">
                <a:solidFill>
                  <a:prstClr val="black"/>
                </a:solidFill>
                <a:latin typeface="Calibri" panose="020F0502020204030204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02335" y="6291072"/>
            <a:ext cx="89875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정확히는 Claude가 도구로 파일을 찾아 읽는 방식(tool-use retrieval) — 효과가 같아 넓은 의미의 RAG로 봅니다.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B32286-CF93-4B9C-8AC1-683C52D91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895" y="2853881"/>
            <a:ext cx="8469475" cy="340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6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kumimoji="0" lang="ko-KR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연동 안된다 하여 강사 시연</a:t>
            </a:r>
            <a:endParaRPr kumimoji="0" lang="en-US" altLang="ko-KR" sz="2900" b="1" i="0" u="none" strike="noStrike" kern="1200" cap="none" spc="0" normalizeH="0" baseline="0" noProof="0" dirty="0">
              <a:ln>
                <a:noFill/>
              </a:ln>
              <a:solidFill>
                <a:srgbClr val="2323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회사 계정 아니신 분들은 같이 실습 가능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다만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Calibri" panose="020F0502020204030204"/>
              </a:rPr>
              <a:t>보안 유의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9050">
            <a:solidFill>
              <a:srgbClr val="C0613C"/>
            </a:solidFill>
            <a:prstDash val="solid"/>
          </a:ln>
          <a:effectLst>
            <a:outerShdw blurRad="101600" dist="38100" dir="5400000" algn="bl" rotWithShape="0">
              <a:srgbClr val="C061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75688"/>
            <a:ext cx="603504" cy="603504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70" y="223863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0574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꽂기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27632" y="2423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연결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32688" y="2990088"/>
            <a:ext cx="384048" cy="384048"/>
          </a:xfrm>
          <a:prstGeom prst="ellipse">
            <a:avLst/>
          </a:prstGeom>
          <a:solidFill>
            <a:srgbClr val="F7EDE6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63040" y="2926080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사용자지정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Googledrive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Connect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32688" y="3593592"/>
            <a:ext cx="384048" cy="384048"/>
          </a:xfrm>
          <a:prstGeom prst="ellipse">
            <a:avLst/>
          </a:prstGeom>
          <a:solidFill>
            <a:srgbClr val="F7EDE6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63040" y="3529584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 → Connect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32688" y="4197096"/>
            <a:ext cx="384048" cy="384048"/>
          </a:xfrm>
          <a:prstGeom prst="ellipse">
            <a:avLst/>
          </a:prstGeom>
          <a:solidFill>
            <a:srgbClr val="F7EDE6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63040" y="4133088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로그인 → 권한 허용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309360" y="178308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9050">
            <a:solidFill>
              <a:srgbClr val="1C7E8C"/>
            </a:solidFill>
            <a:prstDash val="solid"/>
          </a:ln>
          <a:effectLst>
            <a:outerShdw blurRad="101600" dist="38100" dir="5400000" algn="bl" rotWithShape="0">
              <a:srgbClr val="1C7E8C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20256" y="2075688"/>
            <a:ext cx="603504" cy="603504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202" y="2238634"/>
            <a:ext cx="277612" cy="2776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70064" y="20574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물어보기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370064" y="2423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활용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638544" y="2990088"/>
            <a:ext cx="4626864" cy="548640"/>
          </a:xfrm>
          <a:prstGeom prst="roundRect">
            <a:avLst>
              <a:gd name="adj" fmla="val 15000"/>
            </a:avLst>
          </a:prstGeom>
          <a:solidFill>
            <a:srgbClr val="E7F1F3"/>
          </a:solidFill>
          <a:ln/>
        </p:spPr>
      </p:sp>
      <p:sp>
        <p:nvSpPr>
          <p:cNvPr id="24" name="Shape 20"/>
          <p:cNvSpPr/>
          <p:nvPr/>
        </p:nvSpPr>
        <p:spPr>
          <a:xfrm>
            <a:off x="6766560" y="3108960"/>
            <a:ext cx="310896" cy="310896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3191256"/>
            <a:ext cx="146304" cy="1463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223760" y="299008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Drive에 올린 OOO 보고서 핵심만 정리해줘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638544" y="3648456"/>
            <a:ext cx="4626864" cy="548640"/>
          </a:xfrm>
          <a:prstGeom prst="roundRect">
            <a:avLst>
              <a:gd name="adj" fmla="val 15000"/>
            </a:avLst>
          </a:prstGeom>
          <a:solidFill>
            <a:srgbClr val="E7F1F3"/>
          </a:solidFill>
          <a:ln/>
        </p:spPr>
      </p:sp>
      <p:sp>
        <p:nvSpPr>
          <p:cNvPr id="28" name="Shape 23"/>
          <p:cNvSpPr/>
          <p:nvPr/>
        </p:nvSpPr>
        <p:spPr>
          <a:xfrm>
            <a:off x="6766560" y="3767328"/>
            <a:ext cx="310896" cy="310896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3849624"/>
            <a:ext cx="146304" cy="1463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23760" y="364845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지난달 회의자료 중 일정 부분만 뽑아줘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638544" y="4306824"/>
            <a:ext cx="4626864" cy="548640"/>
          </a:xfrm>
          <a:prstGeom prst="roundRect">
            <a:avLst>
              <a:gd name="adj" fmla="val 15000"/>
            </a:avLst>
          </a:prstGeom>
          <a:solidFill>
            <a:srgbClr val="E7F1F3"/>
          </a:solidFill>
          <a:ln/>
        </p:spPr>
      </p:sp>
      <p:sp>
        <p:nvSpPr>
          <p:cNvPr id="32" name="Shape 26"/>
          <p:cNvSpPr/>
          <p:nvPr/>
        </p:nvSpPr>
        <p:spPr>
          <a:xfrm>
            <a:off x="6766560" y="4425696"/>
            <a:ext cx="310896" cy="310896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4507992"/>
            <a:ext cx="146304" cy="1463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3760" y="4306824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폴더 문서들 한눈에 요약해줘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66928" y="5230368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F5F4F1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41248" y="5230368"/>
            <a:ext cx="10479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6월 기준: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색인(인덱싱)하지 않고, 대화 중 필요할 때 해당 파일을 즉시 불러오는 커넥터 방식입니다. </a:t>
            </a: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(예전의 'Drive Search 토글·인덱싱 대기' 단계는 사라졌습니다.)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</a:t>
            </a:r>
            <a:r>
              <a:rPr kumimoji="0" lang="en-US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kumimoji="0" lang="ko-KR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연동 안된다 하여 강사 시연</a:t>
            </a:r>
            <a:endParaRPr kumimoji="0" lang="en-US" sz="2900" b="1" i="0" u="none" strike="noStrike" kern="1200" cap="none" spc="0" normalizeH="0" baseline="0" noProof="0" dirty="0">
              <a:ln>
                <a:noFill/>
              </a:ln>
              <a:solidFill>
                <a:srgbClr val="2323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회사 계정 아니신 분들은 같이 실습 가능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다만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보안 유의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9050">
            <a:solidFill>
              <a:srgbClr val="C0613C"/>
            </a:solidFill>
            <a:prstDash val="solid"/>
          </a:ln>
          <a:effectLst>
            <a:outerShdw blurRad="101600" dist="38100" dir="5400000" algn="bl" rotWithShape="0">
              <a:srgbClr val="C061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75688"/>
            <a:ext cx="603504" cy="603504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70" y="223863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0574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꽂기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27632" y="2423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연결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32688" y="2990088"/>
            <a:ext cx="384048" cy="384048"/>
          </a:xfrm>
          <a:prstGeom prst="ellipse">
            <a:avLst/>
          </a:prstGeom>
          <a:solidFill>
            <a:srgbClr val="F7EDE6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63040" y="2926080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사용자지정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Connectors → Gmail → Connect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32688" y="3593592"/>
            <a:ext cx="384048" cy="384048"/>
          </a:xfrm>
          <a:prstGeom prst="ellipse">
            <a:avLst/>
          </a:prstGeom>
          <a:solidFill>
            <a:srgbClr val="F7EDE6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63040" y="3529584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Google 계정으로 인증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32688" y="4197096"/>
            <a:ext cx="384048" cy="384048"/>
          </a:xfrm>
          <a:prstGeom prst="ellipse">
            <a:avLst/>
          </a:prstGeom>
          <a:solidFill>
            <a:srgbClr val="F7EDE6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C4E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63040" y="4133088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허용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309360" y="178308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9050">
            <a:solidFill>
              <a:srgbClr val="1C7E8C"/>
            </a:solidFill>
            <a:prstDash val="solid"/>
          </a:ln>
          <a:effectLst>
            <a:outerShdw blurRad="101600" dist="38100" dir="5400000" algn="bl" rotWithShape="0">
              <a:srgbClr val="1C7E8C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20256" y="2075688"/>
            <a:ext cx="603504" cy="603504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202" y="2238634"/>
            <a:ext cx="277612" cy="2776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70064" y="20574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물어보기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370064" y="2423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55E69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활용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638544" y="2990088"/>
            <a:ext cx="4626864" cy="548640"/>
          </a:xfrm>
          <a:prstGeom prst="roundRect">
            <a:avLst>
              <a:gd name="adj" fmla="val 15000"/>
            </a:avLst>
          </a:prstGeom>
          <a:solidFill>
            <a:srgbClr val="E7F1F3"/>
          </a:solidFill>
          <a:ln/>
        </p:spPr>
      </p:sp>
      <p:sp>
        <p:nvSpPr>
          <p:cNvPr id="24" name="Shape 20"/>
          <p:cNvSpPr/>
          <p:nvPr/>
        </p:nvSpPr>
        <p:spPr>
          <a:xfrm>
            <a:off x="6766560" y="3108960"/>
            <a:ext cx="310896" cy="310896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3191256"/>
            <a:ext cx="146304" cy="1463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223760" y="299008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받은 중요 메일 요약해줘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638544" y="3648456"/>
            <a:ext cx="4626864" cy="548640"/>
          </a:xfrm>
          <a:prstGeom prst="roundRect">
            <a:avLst>
              <a:gd name="adj" fmla="val 15000"/>
            </a:avLst>
          </a:prstGeom>
          <a:solidFill>
            <a:srgbClr val="E7F1F3"/>
          </a:solidFill>
          <a:ln/>
        </p:spPr>
      </p:sp>
      <p:sp>
        <p:nvSpPr>
          <p:cNvPr id="28" name="Shape 23"/>
          <p:cNvSpPr/>
          <p:nvPr/>
        </p:nvSpPr>
        <p:spPr>
          <a:xfrm>
            <a:off x="6766560" y="3767328"/>
            <a:ext cx="310896" cy="310896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3849624"/>
            <a:ext cx="146304" cy="1463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23760" y="364845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민원인 홍길동에게 처리완료 답장 초안 써줘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638544" y="4306824"/>
            <a:ext cx="4626864" cy="548640"/>
          </a:xfrm>
          <a:prstGeom prst="roundRect">
            <a:avLst>
              <a:gd name="adj" fmla="val 15000"/>
            </a:avLst>
          </a:prstGeom>
          <a:solidFill>
            <a:srgbClr val="E7F1F3"/>
          </a:solidFill>
          <a:ln/>
        </p:spPr>
      </p:sp>
      <p:sp>
        <p:nvSpPr>
          <p:cNvPr id="32" name="Shape 26"/>
          <p:cNvSpPr/>
          <p:nvPr/>
        </p:nvSpPr>
        <p:spPr>
          <a:xfrm>
            <a:off x="6766560" y="4425696"/>
            <a:ext cx="310896" cy="310896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4507992"/>
            <a:ext cx="146304" cy="1463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3760" y="4306824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예산 관련 메일 찾아줘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66928" y="5230368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F5F4F1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41248" y="5230368"/>
            <a:ext cx="10479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똑같습니다 —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꽂고(MCP) → 물어본다(RAG)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Drive와 같은 Google 계정으로 인증하면 깔끔합니다.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B7831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— 메일은 자동 발송되지 않습니다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1371600"/>
          </a:xfrm>
          <a:prstGeom prst="roundRect">
            <a:avLst>
              <a:gd name="adj" fmla="val 6000"/>
            </a:avLst>
          </a:prstGeom>
          <a:solidFill>
            <a:srgbClr val="F8F0DA"/>
          </a:solidFill>
          <a:ln w="19050">
            <a:solidFill>
              <a:srgbClr val="B783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48840"/>
            <a:ext cx="640080" cy="640080"/>
          </a:xfrm>
          <a:prstGeom prst="ellipse">
            <a:avLst/>
          </a:prstGeom>
          <a:solidFill>
            <a:srgbClr val="B7831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0" y="23216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3936" y="1783080"/>
            <a:ext cx="9564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Claude는 Gmail에서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7831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초안(Draft)까지만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66928" y="3611880"/>
            <a:ext cx="324916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80616" y="3849624"/>
            <a:ext cx="621792" cy="621792"/>
          </a:xfrm>
          <a:prstGeom prst="ellipse">
            <a:avLst/>
          </a:prstGeom>
          <a:solidFill>
            <a:srgbClr val="1C7E8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500" y="4017508"/>
            <a:ext cx="286024" cy="286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4526280"/>
            <a:ext cx="2919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답장 초안 작성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31520" y="4837176"/>
            <a:ext cx="2919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내용을 읽고 답장 문구를 만들어 둡니다.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925824" y="4178808"/>
            <a:ext cx="420624" cy="0"/>
          </a:xfrm>
          <a:prstGeom prst="line">
            <a:avLst/>
          </a:prstGeom>
          <a:noFill/>
          <a:ln w="25400">
            <a:solidFill>
              <a:srgbClr val="8C8C97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456176" y="3611880"/>
            <a:ext cx="324916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9864" y="3849624"/>
            <a:ext cx="621792" cy="621792"/>
          </a:xfrm>
          <a:prstGeom prst="ellipse">
            <a:avLst/>
          </a:prstGeom>
          <a:solidFill>
            <a:srgbClr val="C0613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748" y="4017508"/>
            <a:ext cx="286024" cy="286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20768" y="4526280"/>
            <a:ext cx="2919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확인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620768" y="4837176"/>
            <a:ext cx="2919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검토하고 필요하면 수정합니다.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815072" y="4178808"/>
            <a:ext cx="420624" cy="0"/>
          </a:xfrm>
          <a:prstGeom prst="line">
            <a:avLst/>
          </a:prstGeom>
          <a:noFill/>
          <a:ln w="25400">
            <a:solidFill>
              <a:srgbClr val="8C8C97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8345424" y="3611880"/>
            <a:ext cx="324916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59112" y="3849624"/>
            <a:ext cx="621792" cy="621792"/>
          </a:xfrm>
          <a:prstGeom prst="ellipse">
            <a:avLst/>
          </a:prstGeom>
          <a:solidFill>
            <a:srgbClr val="B7831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6996" y="4017508"/>
            <a:ext cx="286024" cy="286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10016" y="4526280"/>
            <a:ext cx="2919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'보내기' 클릭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510016" y="4837176"/>
            <a:ext cx="2919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발송은 항상 사용자가 누릅니다.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66928" y="527608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실수로 메일이 나가는 사고를 막는 안전장치입니다.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454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멋대로 메일을 보내지 않습니다.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100" normalizeH="0" baseline="0" noProof="0" dirty="0">
                <a:ln>
                  <a:noFill/>
                </a:ln>
                <a:solidFill>
                  <a:srgbClr val="C061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PATTERN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1469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오늘은 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가지만 연동했지만</a:t>
            </a:r>
            <a:r>
              <a:rPr lang="en-US" altLang="ko-KR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2900" b="1" dirty="0">
                <a:solidFill>
                  <a:srgbClr val="23232F"/>
                </a:solidFill>
                <a:latin typeface="Malgun Gothic" pitchFamily="34" charset="0"/>
                <a:ea typeface="Malgun Gothic" pitchFamily="34" charset="-122"/>
              </a:rPr>
              <a:t>다른 저장소들도 연동 가능하다는 것 참고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761488"/>
            <a:ext cx="2468880" cy="1078992"/>
          </a:xfrm>
          <a:prstGeom prst="roundRect">
            <a:avLst>
              <a:gd name="adj" fmla="val 5085"/>
            </a:avLst>
          </a:prstGeom>
          <a:solidFill>
            <a:srgbClr val="F5F4F1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44952"/>
            <a:ext cx="512064" cy="512064"/>
          </a:xfrm>
          <a:prstGeom prst="ellipse">
            <a:avLst/>
          </a:prstGeom>
          <a:solidFill>
            <a:srgbClr val="F7EDE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182112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3040" y="2761488"/>
            <a:ext cx="1463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폴더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22192" y="2761488"/>
            <a:ext cx="24688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3044952"/>
            <a:ext cx="512064" cy="512064"/>
          </a:xfrm>
          <a:prstGeom prst="ellipse">
            <a:avLst/>
          </a:prstGeom>
          <a:solidFill>
            <a:srgbClr val="F7EDE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318211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18304" y="2761488"/>
            <a:ext cx="1463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7077456" y="2761488"/>
            <a:ext cx="2468880" cy="1078992"/>
          </a:xfrm>
          <a:prstGeom prst="roundRect">
            <a:avLst>
              <a:gd name="adj" fmla="val 5085"/>
            </a:avLst>
          </a:prstGeom>
          <a:solidFill>
            <a:srgbClr val="F5F4F1"/>
          </a:solidFill>
          <a:ln w="12700">
            <a:solidFill>
              <a:srgbClr val="E2E0D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351776" y="3044952"/>
            <a:ext cx="512064" cy="512064"/>
          </a:xfrm>
          <a:prstGeom prst="ellipse">
            <a:avLst/>
          </a:prstGeom>
          <a:solidFill>
            <a:srgbClr val="F7EDE6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182112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973568" y="2761488"/>
            <a:ext cx="1463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323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AX 실습  |  Claude 자료 연동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C8C9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27496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72491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</a:t>
            </a:r>
            <a:r>
              <a:rPr lang="en-US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</a:t>
            </a: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다루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분석해보기</a:t>
            </a:r>
            <a:endParaRPr lang="en-US" altLang="ko-KR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Claude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가 어느 수준까지 분석해주는지 실습해보기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대한 기대치는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80%까지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13293D"/>
          </a:solidFill>
          <a:ln/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691640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801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572768"/>
            <a:ext cx="98691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</a:t>
            </a: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80%까지 데려다주는 훌륭한 초안 도구다.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 err="1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</a:t>
            </a:r>
            <a:r>
              <a:rPr lang="en-US" sz="18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20% — </a:t>
            </a:r>
            <a:r>
              <a:rPr lang="ko-KR" altLang="en-US" sz="18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</a:t>
            </a:r>
            <a:r>
              <a:rPr lang="en-US" sz="1800" b="1" dirty="0" err="1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함정을</a:t>
            </a:r>
            <a:r>
              <a:rPr lang="en-US" sz="18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알아채고 검증하는 일 </a:t>
            </a:r>
            <a:r>
              <a:rPr lang="ko-KR" altLang="en-US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2945" y="3351475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E2F0F0"/>
          </a:solidFill>
          <a:ln w="9525">
            <a:solidFill>
              <a:srgbClr val="0E8388">
                <a:alpha val="4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4113" y="3506923"/>
            <a:ext cx="548640" cy="548640"/>
          </a:xfrm>
          <a:prstGeom prst="ellipse">
            <a:avLst/>
          </a:prstGeom>
          <a:solidFill>
            <a:srgbClr val="0A6164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87" y="3638597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83065" y="3351475"/>
            <a:ext cx="98691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강의의 목표는 Claude </a:t>
            </a:r>
            <a:r>
              <a:rPr lang="ko-KR" altLang="en-US" sz="14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</a:t>
            </a:r>
            <a:r>
              <a:rPr lang="en-US" sz="14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조작법이</a:t>
            </a:r>
            <a:r>
              <a:rPr lang="en-US" sz="14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sz="14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4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이용해서</a:t>
            </a:r>
            <a:r>
              <a:rPr lang="en-US" sz="14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정확히 읽고 · 가공하고 · </a:t>
            </a:r>
            <a:r>
              <a:rPr lang="en-US" sz="1450" b="1" dirty="0" err="1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검증하는</a:t>
            </a:r>
            <a:r>
              <a:rPr lang="en-US" sz="1450" b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</a:t>
            </a:r>
            <a:r>
              <a:rPr lang="ko-KR" altLang="en-US" sz="1450" b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키우는</a:t>
            </a:r>
            <a:r>
              <a:rPr lang="en-US" sz="1450" b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리터러시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상황에 무엇을 쓰는가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데이터를 다루는 5가지 방법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996029"/>
              </p:ext>
            </p:extLst>
          </p:nvPr>
        </p:nvGraphicFramePr>
        <p:xfrm>
          <a:off x="566928" y="1417320"/>
          <a:ext cx="11064240" cy="34015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이럴 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 / 한계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50" b="1" dirty="0">
                          <a:solidFill>
                            <a:srgbClr val="0A61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프롬프트 창에서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대부분의 분석 (1순위)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Python을 코드로 실행 → 정밀·재현 가능. 차트를 인터랙티브 아티팩트로 즉시 렌더링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Projects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파일·여러 탭이 얽힌 큰 작업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컨텍스트로 복잡한 워크북 맥락 유지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</a:t>
                      </a:r>
                      <a:r>
                        <a:rPr lang="ko-KR" alt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50" b="1" dirty="0" err="1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형태로</a:t>
                      </a: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정제된 결과물을 파일로 받기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정리된 시트·요약본을 새 파일로 출력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in Excel (애드인)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셀을 직접 만지고 Excel 안에서 끝내기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 친화적, 셀 단위 인용으로 근거 추적. 2026.5 정식 출시(유료 플랜·AppSource). 사용량 소모 빠름·IT 승인 필요할 수 있음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/ Claude Code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분석을 반복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분석을 재사용 가능한 스크립트 자산으로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5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분석가의 순서를 그대로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→ 클리닝 → 탐색 → 분석 → 검증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962851" cy="233172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5746" y="1837944"/>
            <a:ext cx="585216" cy="585216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197" y="1978396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1709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2532888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4944" y="2898648"/>
            <a:ext cx="17068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구조·행수·결측·자료형·이상값 파악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566355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40675" y="1600200"/>
            <a:ext cx="1962851" cy="233172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493" y="1837944"/>
            <a:ext cx="585216" cy="585216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944" y="1978396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50403" y="1709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32115" y="2532888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클리닝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968691" y="2898648"/>
            <a:ext cx="17068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처리·표기 통일·이상치 식별/제외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4840102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114422" y="1600200"/>
            <a:ext cx="1962851" cy="233172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3240" y="1837944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91" y="1978396"/>
            <a:ext cx="304312" cy="304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24150" y="1709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205862" y="2532888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242438" y="2898648"/>
            <a:ext cx="17068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분포·요약통계·관계 훑기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7113849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388169" y="1600200"/>
            <a:ext cx="1962851" cy="233172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76987" y="1837944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438" y="1978396"/>
            <a:ext cx="304312" cy="3043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7897" y="1709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479609" y="2532888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516185" y="2898648"/>
            <a:ext cx="17068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답하는 집계·통계·시각화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9387596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661916" y="1600200"/>
            <a:ext cx="1962851" cy="233172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50734" y="1837944"/>
            <a:ext cx="585216" cy="585216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1186" y="1978396"/>
            <a:ext cx="304312" cy="3043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71644" y="1709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9753356" y="2532888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9789932" y="2898648"/>
            <a:ext cx="17068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수치를 직접·결정론적으로 재확인</a:t>
            </a:r>
            <a:endParaRPr lang="en-US" sz="1080" dirty="0"/>
          </a:p>
        </p:txBody>
      </p:sp>
      <p:sp>
        <p:nvSpPr>
          <p:cNvPr id="38" name="Text 31"/>
          <p:cNvSpPr/>
          <p:nvPr/>
        </p:nvSpPr>
        <p:spPr>
          <a:xfrm>
            <a:off x="566928" y="4206240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585216" y="4480560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전에 무엇이 잘못됐는지 먼저 본다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2840675" y="4206240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2858963" y="4480560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쓰레기를 넣으면 쓰레기가 나온다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114422" y="4206240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5132710" y="4480560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분석 전 데이터의 '감'을 잡는다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7388169" y="4206240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7406457" y="4480560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비로소 인사이트가 나온다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9661916" y="4206240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9680204" y="4480560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계산·해석 실수를 잡는 마지막 관문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66928" y="553212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3293D"/>
          </a:solidFill>
          <a:ln/>
        </p:spPr>
      </p:sp>
      <p:sp>
        <p:nvSpPr>
          <p:cNvPr id="49" name="Text 42"/>
          <p:cNvSpPr/>
          <p:nvPr/>
        </p:nvSpPr>
        <p:spPr>
          <a:xfrm>
            <a:off x="841248" y="553212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5단계는 이후 모든 실습에서 반복됩니다.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실습마다 '몇 단계를 하고 있는지'를 의식하면 흐름을 놓치지 않습니다.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시작 전 한 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프롬프트 — 계획부터 세우게 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 분석 </a:t>
            </a:r>
            <a:r>
              <a:rPr lang="en-US" sz="1350" dirty="0" err="1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</a:t>
            </a:r>
            <a:r>
              <a:rPr lang="en-US" sz="13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계획을 세우도록 하면</a:t>
            </a:r>
            <a:r>
              <a:rPr lang="en-US" sz="13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단계를 스스로 설계합니다. 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7839" cy="1828800"/>
          </a:xfrm>
          <a:prstGeom prst="roundRect">
            <a:avLst>
              <a:gd name="adj" fmla="val 5000"/>
            </a:avLst>
          </a:prstGeom>
          <a:solidFill>
            <a:srgbClr val="13293D"/>
          </a:solidFill>
          <a:ln/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94560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3042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2212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첫 프롬프트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26974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"본격적으로 분석하기 전에, 이 데이터의 분석 계획을 먼저 세워줘. 포함: (1) 필요한 클리닝 단계, (2) 먼저 볼 기초 통계, (3) 실행할 분석과 그 이유, (4) 추천 시각화, (5) 이런 유형 데이터에서 흔한 함정. 아직 분석은 하지 마."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6928" y="4160520"/>
            <a:ext cx="1992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288664" y="4416552"/>
            <a:ext cx="548640" cy="54864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338" y="454822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" y="5074920"/>
            <a:ext cx="180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클리닝 단계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833360" y="4160520"/>
            <a:ext cx="1992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5096" y="4416552"/>
            <a:ext cx="548640" cy="54864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6769" y="45482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24800" y="5074920"/>
            <a:ext cx="180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기초 통계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99792" y="4160520"/>
            <a:ext cx="1992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21528" y="4416552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201" y="4548226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91232" y="5074920"/>
            <a:ext cx="180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분석 + 이유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366224" y="4160520"/>
            <a:ext cx="1992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87959" y="4416552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633" y="4548226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7664" y="5074920"/>
            <a:ext cx="180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추천 시각화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9632655" y="4160520"/>
            <a:ext cx="1992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354391" y="4416552"/>
            <a:ext cx="548640" cy="54864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6065" y="4548226"/>
            <a:ext cx="285293" cy="2852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24095" y="5074920"/>
            <a:ext cx="180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(5) 흔한 함정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'한 번에 답'을 요구하지 않는다. 계획을 먼저 받고, 그 다음 단계별로 진행한다.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0E838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실습과 데이터 파일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7034" y="2995544"/>
            <a:ext cx="11443217" cy="2604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자료 </a:t>
            </a:r>
            <a:r>
              <a:rPr lang="en-US" alt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데이터리터러시</a:t>
            </a:r>
            <a:r>
              <a:rPr lang="en-US" alt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파일명 번호와 실습 번호가 동일함</a:t>
            </a:r>
            <a:endParaRPr lang="en-US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어떤 파일로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실습 — 함께 제공되는 파일을 그대로 사용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8806"/>
              </p:ext>
            </p:extLst>
          </p:nvPr>
        </p:nvGraphicFramePr>
        <p:xfrm>
          <a:off x="566928" y="1417320"/>
          <a:ext cx="9610344" cy="35204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실습1_부서별_예산집행.xlsx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점검·클리닝: 이상치 / 결측 / 표기불일치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실습2_직원_급여성과.xlsx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평균의 함정 → 중앙값·분포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실습3_논문_연구비.csv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상관 ≠ 인과, 분야별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실습4a_회원.csv / 실습4b_대출기록.csv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가공: 조인·정합성·파생변수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실습5_월별_서비스이용.csv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시계열 맥락 + 인터랙티브 대시보드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실습6_서비스만족도_설문.csv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비정형→정형: 자유응답 코딩 + 환각·재현성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C277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C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점검과 클리닝 · 예산 집행 데이터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2491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분석 전에 데이터를 의심하라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one outlier cell ruins the whole result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C2771A"/>
          </a:solidFill>
          <a:ln w="12700">
            <a:solidFill>
              <a:srgbClr val="C277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36776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06624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76472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76472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1616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616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29662-78B3-7836-1514-DA0EF213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625342D-AC10-A59F-9FA2-24BE8DF29D77}"/>
              </a:ext>
            </a:extLst>
          </p:cNvPr>
          <p:cNvSpPr/>
          <p:nvPr/>
        </p:nvSpPr>
        <p:spPr>
          <a:xfrm>
            <a:off x="640080" y="768096"/>
            <a:ext cx="109115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13294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3294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모델 설명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13294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AFD834-A219-4F53-9598-82B00D1B03B9}"/>
              </a:ext>
            </a:extLst>
          </p:cNvPr>
          <p:cNvSpPr/>
          <p:nvPr/>
        </p:nvSpPr>
        <p:spPr>
          <a:xfrm>
            <a:off x="563078" y="131216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오늘 실습에서는 빠른 실습과 토큰 절약을 위해 모델은 대부분 </a:t>
            </a:r>
            <a:r>
              <a:rPr lang="en-US" altLang="ko-KR" sz="15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Sonnet </a:t>
            </a:r>
            <a:r>
              <a:rPr lang="ko-KR" altLang="en-US" sz="15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을 먼저 사용하고</a:t>
            </a:r>
            <a:r>
              <a:rPr lang="en-US" altLang="ko-KR" sz="15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, opus</a:t>
            </a:r>
            <a:r>
              <a:rPr lang="ko-KR" altLang="en-US" sz="15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를 비교용으로 사용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027AE68-264D-C34C-73FC-7836F6BB7A24}"/>
              </a:ext>
            </a:extLst>
          </p:cNvPr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me로 생각을 끌어내다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11370E2-1941-B8BF-D8B8-851BB78E1FED}"/>
              </a:ext>
            </a:extLst>
          </p:cNvPr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B1749C50-183F-F97A-7600-97B66171A970}"/>
              </a:ext>
            </a:extLst>
          </p:cNvPr>
          <p:cNvSpPr/>
          <p:nvPr/>
        </p:nvSpPr>
        <p:spPr>
          <a:xfrm>
            <a:off x="640079" y="2075688"/>
            <a:ext cx="5227168" cy="2468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EAD3CF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0B80310D-C41E-5EEA-EFA6-0D4D20DBEF59}"/>
              </a:ext>
            </a:extLst>
          </p:cNvPr>
          <p:cNvSpPr/>
          <p:nvPr/>
        </p:nvSpPr>
        <p:spPr>
          <a:xfrm>
            <a:off x="640079" y="2075688"/>
            <a:ext cx="5227168" cy="713232"/>
          </a:xfrm>
          <a:prstGeom prst="roundRect">
            <a:avLst>
              <a:gd name="adj" fmla="val 10256"/>
            </a:avLst>
          </a:prstGeom>
          <a:solidFill>
            <a:srgbClr val="F8EEEC"/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2641814F-D4F3-A8BE-311B-CFCDF23003F0}"/>
              </a:ext>
            </a:extLst>
          </p:cNvPr>
          <p:cNvSpPr/>
          <p:nvPr/>
        </p:nvSpPr>
        <p:spPr>
          <a:xfrm>
            <a:off x="640079" y="2441448"/>
            <a:ext cx="5227168" cy="347472"/>
          </a:xfrm>
          <a:prstGeom prst="rect">
            <a:avLst/>
          </a:prstGeom>
          <a:solidFill>
            <a:srgbClr val="F8EEEC"/>
          </a:solidFill>
          <a:ln/>
        </p:spPr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095ADE5A-9D11-8523-377F-BECFC5CEB37E}"/>
              </a:ext>
            </a:extLst>
          </p:cNvPr>
          <p:cNvSpPr/>
          <p:nvPr/>
        </p:nvSpPr>
        <p:spPr>
          <a:xfrm>
            <a:off x="1417319" y="2075688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584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CCF66BB8-56CD-CDDD-D26E-B3B978C08A54}"/>
              </a:ext>
            </a:extLst>
          </p:cNvPr>
          <p:cNvSpPr/>
          <p:nvPr/>
        </p:nvSpPr>
        <p:spPr>
          <a:xfrm>
            <a:off x="1051560" y="3154680"/>
            <a:ext cx="4495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수준의 추론 능력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27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분석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고난도 코딩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추론에 강점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27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비용보다 품질이 우선일 때 선택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4E7DDFEA-54F8-B85E-CC81-AA2C3BFE5384}"/>
              </a:ext>
            </a:extLst>
          </p:cNvPr>
          <p:cNvSpPr/>
          <p:nvPr/>
        </p:nvSpPr>
        <p:spPr>
          <a:xfrm>
            <a:off x="6324447" y="2075688"/>
            <a:ext cx="5227168" cy="2468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CFE3D9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44A23C15-0D6F-B2F3-4367-7B0F25367E77}"/>
              </a:ext>
            </a:extLst>
          </p:cNvPr>
          <p:cNvSpPr/>
          <p:nvPr/>
        </p:nvSpPr>
        <p:spPr>
          <a:xfrm>
            <a:off x="6324447" y="2075688"/>
            <a:ext cx="5227168" cy="713232"/>
          </a:xfrm>
          <a:prstGeom prst="roundRect">
            <a:avLst>
              <a:gd name="adj" fmla="val 10256"/>
            </a:avLst>
          </a:prstGeom>
          <a:solidFill>
            <a:srgbClr val="EBF3EF"/>
          </a:solidFill>
          <a:ln/>
        </p:spPr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FD5C6457-6443-CA15-975B-695CAA352644}"/>
              </a:ext>
            </a:extLst>
          </p:cNvPr>
          <p:cNvSpPr/>
          <p:nvPr/>
        </p:nvSpPr>
        <p:spPr>
          <a:xfrm>
            <a:off x="6324447" y="2441448"/>
            <a:ext cx="5227168" cy="347472"/>
          </a:xfrm>
          <a:prstGeom prst="rect">
            <a:avLst/>
          </a:prstGeom>
          <a:solidFill>
            <a:srgbClr val="EBF3EF"/>
          </a:solidFill>
          <a:ln/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8E9559FB-B176-6532-A99D-9D259082F946}"/>
              </a:ext>
            </a:extLst>
          </p:cNvPr>
          <p:cNvSpPr/>
          <p:nvPr/>
        </p:nvSpPr>
        <p:spPr>
          <a:xfrm>
            <a:off x="7101687" y="2075688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E8E6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67EDE5C7-5583-A537-F210-8D5455A6C6A7}"/>
              </a:ext>
            </a:extLst>
          </p:cNvPr>
          <p:cNvSpPr/>
          <p:nvPr/>
        </p:nvSpPr>
        <p:spPr>
          <a:xfrm>
            <a:off x="6735928" y="3154680"/>
            <a:ext cx="4495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응답속도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비용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27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실용적인 태스크에 적합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272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환경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72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처리에 최적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E29A0B96-55AD-6900-CB85-1CCB0893C935}"/>
              </a:ext>
            </a:extLst>
          </p:cNvPr>
          <p:cNvSpPr/>
          <p:nvPr/>
        </p:nvSpPr>
        <p:spPr>
          <a:xfrm>
            <a:off x="640080" y="4828032"/>
            <a:ext cx="10679229" cy="42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sz="14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Haiku</a:t>
            </a:r>
            <a:r>
              <a:rPr lang="ko-KR" altLang="en-US" sz="14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는 경량 태스크 용도로 사용되며</a:t>
            </a:r>
            <a:r>
              <a:rPr lang="en-US" altLang="ko-KR" sz="14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sz="1400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 세 모델 중 가장 빠르고 저렴하지만 실습도 못 따라올 때가 많아서 오늘 실습에서 제외함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041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2D031-271F-C4B7-A099-38E6D95C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87057A0-6AF1-4904-74C3-FDBDEB3568B0}"/>
              </a:ext>
            </a:extLst>
          </p:cNvPr>
          <p:cNvSpPr/>
          <p:nvPr/>
        </p:nvSpPr>
        <p:spPr>
          <a:xfrm>
            <a:off x="640080" y="768096"/>
            <a:ext cx="109115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ko-KR" altLang="en-US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빠른 실습 시작과 토큰 절약을 위해 </a:t>
            </a:r>
            <a:r>
              <a:rPr lang="en-US" altLang="ko-KR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Sonnet </a:t>
            </a:r>
            <a:r>
              <a:rPr lang="ko-KR" altLang="en-US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을 사용하고</a:t>
            </a:r>
            <a:r>
              <a:rPr lang="en-US" altLang="ko-KR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, </a:t>
            </a:r>
          </a:p>
          <a:p>
            <a:pPr lvl="0">
              <a:defRPr/>
            </a:pPr>
            <a:r>
              <a:rPr lang="ko-KR" altLang="en-US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중간에 </a:t>
            </a:r>
            <a:r>
              <a:rPr lang="en-US" altLang="ko-KR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opus</a:t>
            </a:r>
            <a:r>
              <a:rPr lang="ko-KR" altLang="en-US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로 바꾸며 결과가 어떻게 </a:t>
            </a:r>
            <a:r>
              <a:rPr lang="ko-KR" altLang="en-US" sz="2800" b="1" dirty="0" err="1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다른지</a:t>
            </a:r>
            <a:r>
              <a:rPr lang="ko-KR" altLang="en-US" sz="2800" b="1" dirty="0">
                <a:solidFill>
                  <a:srgbClr val="23272F"/>
                </a:solidFill>
                <a:latin typeface="Malgun Gothic" pitchFamily="34" charset="0"/>
                <a:ea typeface="Malgun Gothic" pitchFamily="34" charset="-122"/>
              </a:rPr>
              <a:t> 확인</a:t>
            </a:r>
            <a:endParaRPr lang="en-US" altLang="ko-KR" sz="2800" b="1" dirty="0">
              <a:solidFill>
                <a:prstClr val="black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4CBC78-1EC6-E08F-EE8B-FDD5CFB1CDAC}"/>
              </a:ext>
            </a:extLst>
          </p:cNvPr>
          <p:cNvSpPr/>
          <p:nvPr/>
        </p:nvSpPr>
        <p:spPr>
          <a:xfrm>
            <a:off x="563078" y="131216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2EF45C0-141E-38D6-EBA2-068F727D918E}"/>
              </a:ext>
            </a:extLst>
          </p:cNvPr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me로 생각을 끌어내다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5C54B90-C43D-0B52-03EF-F65EF41B07B8}"/>
              </a:ext>
            </a:extLst>
          </p:cNvPr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DC8FDDC-EBC3-9EF6-1CBE-2CD61C32F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09792"/>
            <a:ext cx="6874390" cy="443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05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① 점검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86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본격적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데이터 형태와 이상치 여부 확인</a:t>
            </a:r>
            <a:endParaRPr lang="en-US" altLang="ko-KR" sz="2700" b="1" dirty="0">
              <a:solidFill>
                <a:srgbClr val="1329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20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직접 비교해보며 잘 잡아냈는지 검토해보기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2288370"/>
            <a:ext cx="5532120" cy="1417320"/>
          </a:xfrm>
          <a:prstGeom prst="roundRect">
            <a:avLst>
              <a:gd name="adj" fmla="val 4516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42553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250453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39809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818722"/>
            <a:ext cx="5001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엑셀을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분석하기 전에 점검만 해줘. </a:t>
            </a:r>
            <a:b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수, 각 열 자료형, 결측치 위치, 값이 이상해 보이는 행을 보고해줘. 아직 분석은 하지 마.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3842850"/>
            <a:ext cx="5532120" cy="2328175"/>
          </a:xfrm>
          <a:prstGeom prst="roundRect">
            <a:avLst>
              <a:gd name="adj" fmla="val 2059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3980010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" y="4059014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395257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예상 결과 (강사 참고)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22960" y="4354914"/>
            <a:ext cx="5038344" cy="1428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30행. 집행액 결측 1건 (연구지원부 2분기 운영비).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부서명에 '정보화본부'와 '정보화 본부'(공백) 혼재 → 같은 부서.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대외협력팀 2분기 운영비 집행액 195,000,000원 = 배정액의 약 98배 → 입력 오류 의심.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총무과 2분기 비품구입 집행액 0원 (미집행).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2288369"/>
            <a:ext cx="5223967" cy="3882655"/>
          </a:xfrm>
          <a:prstGeom prst="roundRect">
            <a:avLst>
              <a:gd name="adj" fmla="val 1373"/>
            </a:avLst>
          </a:prstGeom>
          <a:solidFill>
            <a:srgbClr val="FAF0DD"/>
          </a:solidFill>
          <a:ln w="9525">
            <a:solidFill>
              <a:srgbClr val="C2771A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6248" y="2425530"/>
            <a:ext cx="329184" cy="329184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252" y="2504534"/>
            <a:ext cx="171176" cy="171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239809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여기서 멈추고 직접 확인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656832" y="2800434"/>
            <a:ext cx="4730191" cy="2327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195,000,000원 이상치를 스스로 찾았는가?</a:t>
            </a:r>
            <a:endParaRPr lang="en-US" sz="1250" dirty="0"/>
          </a:p>
          <a:p>
            <a:pPr marL="304800" lvl="1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찾으면 → "집행액이 배정액보다 비정상적으로 큰 행 있어?"로 유도.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부서명 공백 불일치를 잡았는가?</a:t>
            </a:r>
            <a:endParaRPr lang="en-US" sz="1250" dirty="0"/>
          </a:p>
          <a:p>
            <a:pPr marL="304800" lvl="1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잡으면 집계가 두 갈래로 쪼개진다 → 같은 부서가 둘로 카운트.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목적: '분석'이 아니라 '의심'. 무엇이 잘못됐는지 먼저 본다.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70612A-2297-91AD-11D7-95B9151E6ECF}"/>
              </a:ext>
            </a:extLst>
          </p:cNvPr>
          <p:cNvSpPr txBox="1"/>
          <p:nvPr/>
        </p:nvSpPr>
        <p:spPr>
          <a:xfrm>
            <a:off x="482280" y="181209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altLang="ko-KR" sz="18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</a:t>
            </a:r>
            <a:r>
              <a:rPr lang="ko-KR" altLang="en-US" sz="18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</a:t>
            </a:r>
            <a:r>
              <a:rPr lang="en-US" altLang="ko-KR" sz="18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8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예산집행</a:t>
            </a:r>
            <a:r>
              <a:rPr lang="en-US" altLang="ko-KR" sz="18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.xlsx </a:t>
            </a:r>
            <a:r>
              <a:rPr lang="ko-KR" altLang="en-US" sz="18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사용</a:t>
            </a:r>
            <a:endParaRPr lang="ko-KR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② 클리닝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등을 제거할 때 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'왜·몇 건을' 제외했는지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ko-KR" altLang="en-US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히스토리를 일목요연하게 기록해 나중에 리마인드 하기도 좋고 효율적 업무 가능</a:t>
            </a:r>
            <a:r>
              <a:rPr lang="en-US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4592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72492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6184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039112"/>
            <a:ext cx="525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결과로 정리해줘: </a:t>
            </a:r>
            <a:b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'정보화 본부' 공백 제거해 통일, </a:t>
            </a:r>
            <a:b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195,000,000원은 입력오류로 분석에서 제외하되 제외 사실 표시, </a:t>
            </a:r>
            <a:b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집행액 결측 1건도 집행률 계산에서 제외. 처리 내역을 표로 정리해줘.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3474720"/>
            <a:ext cx="5532120" cy="2697480"/>
          </a:xfrm>
          <a:prstGeom prst="roundRect">
            <a:avLst>
              <a:gd name="adj" fmla="val 2373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3611880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" y="3690884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35844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예상 결과 (강사 참고)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22960" y="3986784"/>
            <a:ext cx="50383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5개로 통일: 기획조정실 · 연구지원부 · 정보화본부 · 대외협력팀 · 총무과.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행 2건(이상치 1 + 결측 1)을 명시한 처리 내역 표 생성.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5223967" cy="2286000"/>
          </a:xfrm>
          <a:prstGeom prst="roundRect">
            <a:avLst>
              <a:gd name="adj" fmla="val 2800"/>
            </a:avLst>
          </a:prstGeom>
          <a:solidFill>
            <a:srgbClr val="FAF0DD"/>
          </a:solidFill>
          <a:ln w="9525">
            <a:solidFill>
              <a:srgbClr val="C2771A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6248" y="1645920"/>
            <a:ext cx="329184" cy="329184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252" y="1724924"/>
            <a:ext cx="171176" cy="171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161848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· 검증 포인트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656832" y="2020824"/>
            <a:ext cx="473019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'몇 건을 왜 제외했는지'가 명확한가?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없이 조용히 지우면 위험하다. 공공·재무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감사 들어왔을 때 히스토리를 위해서도 좋고</a:t>
            </a:r>
            <a:r>
              <a:rPr lang="en-US" altLang="ko-KR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 나중에 기억하기에도 좋음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3977640"/>
            <a:ext cx="5223967" cy="2194560"/>
          </a:xfrm>
          <a:prstGeom prst="roundRect">
            <a:avLst>
              <a:gd name="adj" fmla="val 3333"/>
            </a:avLst>
          </a:prstGeom>
          <a:solidFill>
            <a:srgbClr val="F2F6F9"/>
          </a:solidFill>
          <a:ln w="12700">
            <a:solidFill>
              <a:srgbClr val="D6DFE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0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클리닝 </a:t>
            </a:r>
            <a:r>
              <a:rPr lang="en-US" sz="12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내역</a:t>
            </a:r>
            <a:r>
              <a:rPr lang="ko-KR" alt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별도 시트로 만든 것을 확인할 수 있음</a:t>
            </a: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(예시)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434840"/>
          <a:ext cx="4709160" cy="168249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정보화 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공백 제거·통일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195,000,000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제외(표시)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배정액 98배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운영비 결측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집행률서 제외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82B37-3835-5720-39F5-13D85158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4CE505-AFC8-1BBC-0644-F1D04D435424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③ 분석 + 검증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DA4DB1-9FC5-386F-C54B-C1DB84F5B768}"/>
              </a:ext>
            </a:extLst>
          </p:cNvPr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집행률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이상치 제외 전/후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제외 전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D37C95-99C0-A303-4204-EDE87B8ACC1B}"/>
              </a:ext>
            </a:extLst>
          </p:cNvPr>
          <p:cNvSpPr/>
          <p:nvPr/>
        </p:nvSpPr>
        <p:spPr>
          <a:xfrm>
            <a:off x="566928" y="1508760"/>
            <a:ext cx="5212080" cy="1289304"/>
          </a:xfrm>
          <a:prstGeom prst="roundRect">
            <a:avLst>
              <a:gd name="adj" fmla="val 4516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E93711-FBB6-049B-892E-2550AA9EDE51}"/>
              </a:ext>
            </a:extLst>
          </p:cNvPr>
          <p:cNvSpPr/>
          <p:nvPr/>
        </p:nvSpPr>
        <p:spPr>
          <a:xfrm>
            <a:off x="722376" y="164592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CB3550B-1665-EA13-140D-DA6BB0A15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724924"/>
            <a:ext cx="171176" cy="17117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D7E4093-299F-E84F-DFFC-F1C84F90B48B}"/>
              </a:ext>
            </a:extLst>
          </p:cNvPr>
          <p:cNvSpPr/>
          <p:nvPr/>
        </p:nvSpPr>
        <p:spPr>
          <a:xfrm>
            <a:off x="1133856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6843E1E-4034-D318-C104-38793E30086F}"/>
              </a:ext>
            </a:extLst>
          </p:cNvPr>
          <p:cNvSpPr/>
          <p:nvPr/>
        </p:nvSpPr>
        <p:spPr>
          <a:xfrm>
            <a:off x="841248" y="2039112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처음 업로드한 원본 데이터로 부서별 </a:t>
            </a:r>
            <a:r>
              <a:rPr lang="ko-KR" alt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집행률</a:t>
            </a:r>
            <a:r>
              <a:rPr lang="en-US" altLang="ko-KR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집행액합</a:t>
            </a:r>
            <a:r>
              <a:rPr lang="en-US" altLang="ko-KR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</a:t>
            </a:r>
            <a:r>
              <a:rPr lang="ko-KR" alt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배정액합</a:t>
            </a:r>
            <a:r>
              <a:rPr lang="en-US" altLang="ko-KR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×100)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코드로 계산해 낮은 순으로 표를 만들고</a:t>
            </a:r>
            <a:r>
              <a:rPr lang="en-US" altLang="ko-KR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</a:t>
            </a:r>
            <a:r>
              <a:rPr lang="en-US" altLang="ko-KR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부서의 원인 항목을 짚어줘</a:t>
            </a:r>
            <a:r>
              <a:rPr lang="en-US" altLang="ko-KR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EA123E9-B887-E260-71DD-A4AFB7FA801A}"/>
              </a:ext>
            </a:extLst>
          </p:cNvPr>
          <p:cNvSpPr/>
          <p:nvPr/>
        </p:nvSpPr>
        <p:spPr>
          <a:xfrm>
            <a:off x="6236208" y="1517904"/>
            <a:ext cx="5544007" cy="1280160"/>
          </a:xfrm>
          <a:prstGeom prst="roundRect">
            <a:avLst>
              <a:gd name="adj" fmla="val 2800"/>
            </a:avLst>
          </a:prstGeom>
          <a:solidFill>
            <a:srgbClr val="FBEAE7"/>
          </a:solidFill>
          <a:ln w="9525">
            <a:solidFill>
              <a:srgbClr val="B23A2E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DC75CEA-3B00-3AB9-D73C-EB2F7FA80732}"/>
              </a:ext>
            </a:extLst>
          </p:cNvPr>
          <p:cNvSpPr/>
          <p:nvPr/>
        </p:nvSpPr>
        <p:spPr>
          <a:xfrm>
            <a:off x="6391656" y="1655064"/>
            <a:ext cx="329184" cy="329184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6DA7F054-1CD8-6789-D9F1-A4CA79A7F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660" y="1734068"/>
            <a:ext cx="171176" cy="171176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8BB54EFF-55B6-1C27-AC51-845D065C21C5}"/>
              </a:ext>
            </a:extLst>
          </p:cNvPr>
          <p:cNvSpPr/>
          <p:nvPr/>
        </p:nvSpPr>
        <p:spPr>
          <a:xfrm>
            <a:off x="6803136" y="1627632"/>
            <a:ext cx="4812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25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못 잡아줄 수 있으므로</a:t>
            </a: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</a:t>
            </a:r>
            <a:r>
              <a:rPr lang="ko-KR" alt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</a:t>
            </a: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가능해야 함</a:t>
            </a:r>
            <a:endParaRPr lang="en-US" sz="12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6CF8A73-5C00-3E02-AD7E-202F90A8DE28}"/>
              </a:ext>
            </a:extLst>
          </p:cNvPr>
          <p:cNvSpPr/>
          <p:nvPr/>
        </p:nvSpPr>
        <p:spPr>
          <a:xfrm>
            <a:off x="6492240" y="2029968"/>
            <a:ext cx="50502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순간적으로 코드를 만들어내서 분석하는 것이기에 코드가 못 잡아내는 이슈가 있을 수 있음</a:t>
            </a:r>
            <a:r>
              <a:rPr lang="en-US" altLang="ko-KR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lang="ko-KR" altLang="en-US" sz="1250" b="1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경고창</a:t>
            </a:r>
            <a:r>
              <a:rPr lang="ko-KR" alt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r>
              <a:rPr lang="en-US" altLang="ko-KR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50" b="1" dirty="0">
              <a:solidFill>
                <a:srgbClr val="1F2D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연구지원부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운영비 </a:t>
            </a:r>
            <a:r>
              <a:rPr lang="ko-KR" alt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결측치가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분모에 </a:t>
            </a:r>
            <a:r>
              <a:rPr lang="ko-KR" alt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포함되서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집행률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낮아짐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이상치를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빼면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대외협력팀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집행률이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비정상적으로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치솟는다</a:t>
            </a:r>
            <a:endParaRPr lang="en-US" sz="12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42004D1-0CEA-E12D-8AAB-188FC210F8BF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F9041B3-196D-7322-18B0-F5A116386831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5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503A801-A1F9-015C-F899-07CCDAE7E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251" y="3054095"/>
            <a:ext cx="6162261" cy="355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12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③ 분석 +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집행률 — 이상치 제외 전/후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제외 후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12080" cy="1417320"/>
          </a:xfrm>
          <a:prstGeom prst="roundRect">
            <a:avLst>
              <a:gd name="adj" fmla="val 4516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4592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72492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039112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데이터로 부서별 집행률(집행액합÷배정액합×100)을 코드로 계산해 낮은 순으로 표를 만들고, 낮은 3개 부서의 원인 항목을 짚어줘.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80760" y="1508760"/>
            <a:ext cx="5544007" cy="1488672"/>
          </a:xfrm>
          <a:prstGeom prst="roundRect">
            <a:avLst>
              <a:gd name="adj" fmla="val 2857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36208" y="1645920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212" y="1724924"/>
            <a:ext cx="171176" cy="171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47688" y="1618488"/>
            <a:ext cx="4812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336792" y="2020824"/>
            <a:ext cx="505023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순: 연구지원부 ≈81.9% (장비구입 저조) &lt; 대외협력팀 ≈83.3% (행사비 저조) &lt; 총무과 ≈86.7% (비품 미집행) &lt; 정보화본부 ≈96.2% &lt; 기획조정실 ≈97.0%.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5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E4AF247-B33F-174B-316B-54696EA45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439" y="3282079"/>
            <a:ext cx="9134100" cy="30919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F20F-3B78-7C4F-BD86-654104BC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6EF21F-0B1A-3FBB-10C1-D67C4FAF1FBC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보조 트랙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2E7015-297D-26F1-6CF8-564243D96060}"/>
              </a:ext>
            </a:extLst>
          </p:cNvPr>
          <p:cNvSpPr/>
          <p:nvPr/>
        </p:nvSpPr>
        <p:spPr>
          <a:xfrm>
            <a:off x="566927" y="621791"/>
            <a:ext cx="11481637" cy="1049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애드인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인스톨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버전에 따라 인스톨 방법 다름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 장도 참고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2700" b="1" dirty="0">
              <a:solidFill>
                <a:srgbClr val="1329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들어가서 메뉴에 추가 기능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Claude for Microsoft 365 -&gt; 1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정도 기다리기</a:t>
            </a:r>
            <a:endParaRPr lang="en-US" sz="2700" dirty="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D5D4F82E-00A9-703A-2FC6-82F4D758B056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674476B5-2596-2D7F-60A5-C66928CB87E8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CD321F8D-BEEF-0F8C-7F90-2EC20EBE2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232" y="1780721"/>
            <a:ext cx="3330694" cy="507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9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F20F-3B78-7C4F-BD86-654104BC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6EF21F-0B1A-3FBB-10C1-D67C4FAF1FBC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보조 트랙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2E7015-297D-26F1-6CF8-564243D96060}"/>
              </a:ext>
            </a:extLst>
          </p:cNvPr>
          <p:cNvSpPr/>
          <p:nvPr/>
        </p:nvSpPr>
        <p:spPr>
          <a:xfrm>
            <a:off x="566928" y="621791"/>
            <a:ext cx="11064240" cy="136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애드인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인스톨 </a:t>
            </a:r>
            <a:endParaRPr lang="en-US" altLang="ko-KR" sz="2700" b="1" dirty="0">
              <a:solidFill>
                <a:srgbClr val="1329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메뉴에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-&gt;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기능 가져오기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Claude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en-US" altLang="ko-KR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Microsoft 365 -&gt; 1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정도 기다리기</a:t>
            </a:r>
            <a:endParaRPr lang="en-US" sz="2700" dirty="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D5D4F82E-00A9-703A-2FC6-82F4D758B056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674476B5-2596-2D7F-60A5-C66928CB87E8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2EA0EB-9E66-47C3-916E-C7EB8CA2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88" y="2301225"/>
            <a:ext cx="5276928" cy="33159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EC386A-0B6B-4A88-8CD2-B7AF272FB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930" y="1982481"/>
            <a:ext cx="4463365" cy="455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70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0C48-0B55-E4C1-2B27-E81CC820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8BC287-190A-3DF8-9359-E41E586C32BD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보조 트랙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71695F-95E3-7DF5-CA5E-13436F930628}"/>
              </a:ext>
            </a:extLst>
          </p:cNvPr>
          <p:cNvSpPr/>
          <p:nvPr/>
        </p:nvSpPr>
        <p:spPr>
          <a:xfrm>
            <a:off x="566928" y="621791"/>
            <a:ext cx="11064240" cy="1049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애드인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사용하기</a:t>
            </a:r>
            <a:endParaRPr lang="en-US" altLang="ko-KR" sz="2700" b="1" dirty="0">
              <a:solidFill>
                <a:srgbClr val="1329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메뉴에서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</a:t>
            </a:r>
            <a:endParaRPr lang="en-US" sz="2700" dirty="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E4CC466F-DAC9-524B-720F-CF917DAF281F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2F25F1B0-C466-E9A9-7BFC-FD57586DE333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473808-4DE9-A9F1-335A-8BD74654F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428" y="1672905"/>
            <a:ext cx="2698275" cy="465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17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보조 트랙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애드인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사용해보기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했던 작업들을 다시 해보고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진행하며 어떻게 </a:t>
            </a:r>
            <a:r>
              <a:rPr lang="ko-KR" alt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다른지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38936" y="2798064"/>
            <a:ext cx="3707497" cy="198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작업을 Excel </a:t>
            </a:r>
            <a:r>
              <a:rPr lang="en-US" sz="1600" b="1" dirty="0" err="1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사이드바에서</a:t>
            </a:r>
            <a:r>
              <a:rPr lang="en-US" sz="16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altLang="ko-KR" sz="1600" b="1" dirty="0">
              <a:solidFill>
                <a:srgbClr val="0E838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0E8388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sz="1600" b="1" dirty="0">
              <a:solidFill>
                <a:srgbClr val="0E8388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16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</a:rPr>
              <a:t>우측 예시처럼 권한 요청하면 허가해 줘야 함</a:t>
            </a:r>
            <a:endParaRPr lang="en-US" sz="1600" b="1" dirty="0">
              <a:solidFill>
                <a:srgbClr val="0E8388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040880" y="1508760"/>
            <a:ext cx="4583887" cy="1417320"/>
          </a:xfrm>
          <a:prstGeom prst="roundRect">
            <a:avLst>
              <a:gd name="adj" fmla="val 4516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196328" y="1645920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332" y="1724924"/>
            <a:ext cx="171176" cy="171176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607808" y="1618488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애드인의 강점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7296912" y="2020824"/>
            <a:ext cx="40901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단위 인용으로 '어떤 셀을 근거로 했는지' 클릭해 추적 — 행정·재무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섬세하게 컨트롤하고 </a:t>
            </a:r>
            <a:r>
              <a:rPr lang="en-US" altLang="ko-KR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지시하고 싶을 때 효율적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7040880" y="3063240"/>
            <a:ext cx="4583887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7223760" y="3218688"/>
            <a:ext cx="512064" cy="512064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655" y="3341583"/>
            <a:ext cx="266273" cy="266273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818120" y="3246120"/>
            <a:ext cx="3669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(빠른 분)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7315200" y="3886200"/>
            <a:ext cx="4035247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피벗으로 '분기 × 항목' 교차 집행률 표 만들기.</a:t>
            </a:r>
            <a:endParaRPr lang="en-US" sz="12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배정액을 부서별 5% 늘리면 전체 집행률 목표 달성에 어떤 영향인지 시나리오 분석.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20F9DFC4-4BDC-C538-D332-71A3FC0D7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178" y="1508760"/>
            <a:ext cx="2220607" cy="514807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C277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C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평균의 함정 · 직원 급여·성과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2491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— '평균'이라는 말에 속지 않기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two outliers drag the mean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36776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C2771A"/>
          </a:solidFill>
          <a:ln w="12700">
            <a:solidFill>
              <a:srgbClr val="C277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06624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76472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76472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1616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616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· ① 순진한 질문 → ② 제대로 묻기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평균만 묻기(일부러) → 분포를 함께 묻기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0020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67920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572768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① </a:t>
            </a:r>
            <a:r>
              <a:rPr lang="en-US" sz="1250" b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</a:t>
            </a: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순진한</a:t>
            </a: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</a:t>
            </a:r>
            <a:r>
              <a:rPr lang="ko-KR" alt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데이터라 왜곡 있다고 </a:t>
            </a:r>
            <a:r>
              <a:rPr lang="en-US" altLang="ko-KR" sz="1250" b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검증하기도 함</a:t>
            </a:r>
            <a:r>
              <a:rPr lang="en-US" altLang="ko-KR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데이터 커지거나 검증 안 하면 낭패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199339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회사 직원들의 평균 연봉이 얼마야?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46888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260604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2685044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② 분포까지 요청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41248" y="2999232"/>
            <a:ext cx="4956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연봉의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사분위수를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계산하고, 분포를 히스토그램으로 그려 평균이 대표값으로 적절한지 판단해줘. 극단값이 평균에 얼마나 영향을 주는지도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보여줘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박스플롯으로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그려서 </a:t>
            </a:r>
            <a:r>
              <a:rPr lang="ko-KR" alt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극단값을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보여줘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323729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4460889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92" y="4539893"/>
            <a:ext cx="171176" cy="171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4433457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4672" y="4835793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≈7,465만원  vs  중앙값 ≈4,450만원 — 큰 차이 = 분포가 위로 왜곡(우편향).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2명 제외 시 평균 ≈4,794만원으로 급락.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히스토그램에서 35,000·28,000이 멀리 떨어진 극단값으로 보임.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이 데이터는 '평균'보다 '중앙값'이 대표값으로 적절.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33783410-CCAE-46B4-9CA3-F476D4D68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837" y="1261872"/>
            <a:ext cx="4814009" cy="25658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17750ED-A5A6-4266-B116-2421930FF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339" y="4023360"/>
            <a:ext cx="3335511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· 함정 → ③ 올바른 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극단값 영향과 결측 처리, 그리고 정직한 보고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943600" cy="2377440"/>
          </a:xfrm>
          <a:prstGeom prst="roundRect">
            <a:avLst>
              <a:gd name="adj" fmla="val 2692"/>
            </a:avLst>
          </a:prstGeom>
          <a:solidFill>
            <a:srgbClr val="FBEAE7"/>
          </a:solidFill>
          <a:ln w="9525">
            <a:solidFill>
              <a:srgbClr val="B23A2E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45920"/>
            <a:ext cx="329184" cy="329184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72492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6184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· 검증 포인트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02082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원장(35,000)·부원장(28,000) 단 2명이 평균을 끌어올렸다. 직원 18명 대다수는 3,200~4,800만원대.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중앙값을 권했는가? 평균만 답했다면 "극단값 영향은?"으로 한 번 더 파고들게 한다.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성과점수 결측 1건(E018)을 어떻게 처리했는지 확인 — 결측을 0으로 잘못 넣으면 성과 평균이 왜곡된다.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4023360"/>
            <a:ext cx="5943600" cy="2148840"/>
          </a:xfrm>
          <a:prstGeom prst="roundRect">
            <a:avLst>
              <a:gd name="adj" fmla="val 2979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416052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" y="4239524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41330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③ 그룹 비교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41248" y="4553712"/>
            <a:ext cx="54132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경영진을 제외하고, 직급별 평균·중앙값 연봉과 근속년수–연봉의 관계를 분석해줘. 막대 차트로 직급별 중앙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연봉을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그려서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보여줘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766560" y="1508760"/>
            <a:ext cx="4858207" cy="2377440"/>
          </a:xfrm>
          <a:prstGeom prst="roundRect">
            <a:avLst>
              <a:gd name="adj" fmla="val 3077"/>
            </a:avLst>
          </a:prstGeom>
          <a:solidFill>
            <a:srgbClr val="F2F6F9"/>
          </a:solidFill>
          <a:ln w="12700">
            <a:solidFill>
              <a:srgbClr val="D6DFE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95160" y="1627632"/>
            <a:ext cx="44010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중앙값인가 — 한 장의 그림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132320" y="3063240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7" name="Shape 13"/>
          <p:cNvSpPr/>
          <p:nvPr/>
        </p:nvSpPr>
        <p:spPr>
          <a:xfrm>
            <a:off x="7278624" y="3026664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8" name="Shape 14"/>
          <p:cNvSpPr/>
          <p:nvPr/>
        </p:nvSpPr>
        <p:spPr>
          <a:xfrm>
            <a:off x="7424928" y="299008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9" name="Shape 15"/>
          <p:cNvSpPr/>
          <p:nvPr/>
        </p:nvSpPr>
        <p:spPr>
          <a:xfrm>
            <a:off x="7571232" y="2953512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0" name="Shape 16"/>
          <p:cNvSpPr/>
          <p:nvPr/>
        </p:nvSpPr>
        <p:spPr>
          <a:xfrm>
            <a:off x="7717536" y="2916936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1" name="Shape 17"/>
          <p:cNvSpPr/>
          <p:nvPr/>
        </p:nvSpPr>
        <p:spPr>
          <a:xfrm>
            <a:off x="7863840" y="2880360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010144" y="2843784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3" name="Shape 19"/>
          <p:cNvSpPr/>
          <p:nvPr/>
        </p:nvSpPr>
        <p:spPr>
          <a:xfrm>
            <a:off x="8156448" y="280720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4" name="Shape 20"/>
          <p:cNvSpPr/>
          <p:nvPr/>
        </p:nvSpPr>
        <p:spPr>
          <a:xfrm>
            <a:off x="8302752" y="280720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5" name="Shape 21"/>
          <p:cNvSpPr/>
          <p:nvPr/>
        </p:nvSpPr>
        <p:spPr>
          <a:xfrm>
            <a:off x="8449056" y="280720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6" name="Shape 22"/>
          <p:cNvSpPr/>
          <p:nvPr/>
        </p:nvSpPr>
        <p:spPr>
          <a:xfrm>
            <a:off x="8595360" y="280720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7" name="Shape 23"/>
          <p:cNvSpPr/>
          <p:nvPr/>
        </p:nvSpPr>
        <p:spPr>
          <a:xfrm>
            <a:off x="8741664" y="280720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8" name="Shape 24"/>
          <p:cNvSpPr/>
          <p:nvPr/>
        </p:nvSpPr>
        <p:spPr>
          <a:xfrm>
            <a:off x="8887968" y="280720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9" name="Shape 25"/>
          <p:cNvSpPr/>
          <p:nvPr/>
        </p:nvSpPr>
        <p:spPr>
          <a:xfrm>
            <a:off x="9034272" y="2807208"/>
            <a:ext cx="118872" cy="11887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0" name="Shape 26"/>
          <p:cNvSpPr/>
          <p:nvPr/>
        </p:nvSpPr>
        <p:spPr>
          <a:xfrm>
            <a:off x="10573207" y="3017520"/>
            <a:ext cx="155448" cy="1554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31" name="Shape 27"/>
          <p:cNvSpPr/>
          <p:nvPr/>
        </p:nvSpPr>
        <p:spPr>
          <a:xfrm>
            <a:off x="10984687" y="3017520"/>
            <a:ext cx="155448" cy="1554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32" name="Shape 28"/>
          <p:cNvSpPr/>
          <p:nvPr/>
        </p:nvSpPr>
        <p:spPr>
          <a:xfrm>
            <a:off x="7040880" y="3474720"/>
            <a:ext cx="4309567" cy="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183880" y="2743200"/>
            <a:ext cx="0" cy="868680"/>
          </a:xfrm>
          <a:prstGeom prst="line">
            <a:avLst/>
          </a:prstGeom>
          <a:noFill/>
          <a:ln w="31750">
            <a:solidFill>
              <a:srgbClr val="2E8B6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68096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9601200" y="2743200"/>
            <a:ext cx="0" cy="868680"/>
          </a:xfrm>
          <a:prstGeom prst="line">
            <a:avLst/>
          </a:prstGeom>
          <a:noFill/>
          <a:ln w="31750">
            <a:solidFill>
              <a:srgbClr val="C2771A"/>
            </a:solidFill>
            <a:prstDash val="dash"/>
          </a:ln>
        </p:spPr>
      </p:sp>
      <p:sp>
        <p:nvSpPr>
          <p:cNvPr id="36" name="Text 32"/>
          <p:cNvSpPr/>
          <p:nvPr/>
        </p:nvSpPr>
        <p:spPr>
          <a:xfrm>
            <a:off x="896112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평균(극단값에 끌림)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766560" y="4023360"/>
            <a:ext cx="4858207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949440" y="4178808"/>
            <a:ext cx="493776" cy="493776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946" y="4297314"/>
            <a:ext cx="256764" cy="25676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7516368" y="4206240"/>
            <a:ext cx="39438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(빠른 분)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7040880" y="4800600"/>
            <a:ext cx="43095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'연봉 대비 성과점수' 파생 지표로 가성비 높은 직급 찾기.</a:t>
            </a:r>
            <a:endParaRPr lang="en-US" sz="12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포함/제외 두 버전 평균을 나란히 제시 → 통계를 어떻게 '정직하게' </a:t>
            </a:r>
            <a:r>
              <a:rPr lang="ko-KR" alt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뽑을지 고민을 </a:t>
            </a:r>
            <a:r>
              <a:rPr lang="ko-KR" altLang="en-US" sz="120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클로드에게</a:t>
            </a:r>
            <a:r>
              <a:rPr lang="ko-KR" alt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시키기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C277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C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상관은 인과가 아니다 · 논문·연구비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24911"/>
            <a:ext cx="10515600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— 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</a:t>
            </a:r>
            <a:r>
              <a:rPr lang="en-US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인과 관계 분석</a:t>
            </a:r>
            <a:r>
              <a:rPr lang="en-US" alt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시키기</a:t>
            </a:r>
            <a:endParaRPr lang="en-US" altLang="ko-KR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altLang="ko-KR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계수 분석도 </a:t>
            </a:r>
            <a:r>
              <a:rPr lang="en-US" altLang="ko-KR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시키면 잘함</a:t>
            </a:r>
            <a:endParaRPr lang="en-US" altLang="ko-KR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6692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36776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06624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C2771A"/>
          </a:solidFill>
          <a:ln w="12700">
            <a:solidFill>
              <a:srgbClr val="C277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76472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76472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1616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616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· ② 상관 분석 (핵심)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80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연구비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관계까지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 확인시키기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4592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72492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618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039112"/>
            <a:ext cx="5047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공저자수–피인용수, 그리고 연구비–피인용수의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상관계수를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계산하고</a:t>
            </a: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산점도로 보여줘. 이 상관이 인과를 의미하는지, 통계적으로 단정할 수 있는지 신중히 해석해줘.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3200400"/>
            <a:ext cx="5577840" cy="1371600"/>
          </a:xfrm>
          <a:prstGeom prst="roundRect">
            <a:avLst>
              <a:gd name="adj" fmla="val 4667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3337560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" y="3416564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3310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예상 결과 (강사 참고)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22960" y="3712464"/>
            <a:ext cx="5084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공저자수–피인용 ≈0.41, 연구비–피인용 ≈0.31 (둘 다 약~중간 양의 상관).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답: '상관 ≠ 인과', 표본이 작아 단정 어려움, 분야가 교란변수일 수 있음을 언급.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4709160"/>
            <a:ext cx="5577840" cy="1463040"/>
          </a:xfrm>
          <a:prstGeom prst="roundRect">
            <a:avLst>
              <a:gd name="adj" fmla="val 4375"/>
            </a:avLst>
          </a:prstGeom>
          <a:solidFill>
            <a:srgbClr val="FBEAE7"/>
          </a:solidFill>
          <a:ln w="9525">
            <a:solidFill>
              <a:srgbClr val="B23A2E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4846320"/>
            <a:ext cx="329184" cy="329184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80" y="4925324"/>
            <a:ext cx="171176" cy="171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48188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핵심 함정 — </a:t>
            </a:r>
            <a:r>
              <a:rPr lang="en-US" sz="125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</a:t>
            </a: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비약</a:t>
            </a:r>
            <a:endParaRPr lang="en-US" sz="1250" b="1" dirty="0">
              <a:solidFill>
                <a:srgbClr val="B23A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실습은 정확히 대답하지만 다른 상황에서는 잘못 대답할 수 있으니 최종 확인은 사람이 직접 해야함</a:t>
            </a:r>
            <a:r>
              <a:rPr lang="en-US" altLang="ko-KR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1380" y="5495544"/>
            <a:ext cx="5084064" cy="639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"공저자 많으면 인용 많다 → 공저자를 늘리자"는 잘못된 결론. 큰 프로젝트일수록 공저자·연구비·인용이 함께 큰 것일 뿐(공통 원인 = 교란변수).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5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5112F8DD-BA74-40C5-B0ED-97E555801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810512"/>
            <a:ext cx="5588067" cy="240890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· ③ 교란변수 통제 시도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분야로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나누면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관계가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약해지는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확인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760720" cy="1463040"/>
          </a:xfrm>
          <a:prstGeom prst="roundRect">
            <a:avLst>
              <a:gd name="adj" fmla="val 4375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9164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77064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③ </a:t>
            </a:r>
            <a:r>
              <a:rPr lang="ko-KR" alt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분야를 나눠</a:t>
            </a: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084832"/>
            <a:ext cx="5230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분야별로 나눠서 각 분야 안에서 공저자수–피인용수 관계를 다시 봐줘. 분야를 통제하면 상관이 약해지는지 확인해줘.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3200400"/>
            <a:ext cx="5760720" cy="2971800"/>
          </a:xfrm>
          <a:prstGeom prst="roundRect">
            <a:avLst>
              <a:gd name="adj" fmla="val 2462"/>
            </a:avLst>
          </a:prstGeom>
          <a:solidFill>
            <a:srgbClr val="F2F6F9"/>
          </a:solidFill>
          <a:ln w="12700">
            <a:solidFill>
              <a:srgbClr val="D6DF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7033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전체로 보면 → </a:t>
            </a:r>
            <a:r>
              <a:rPr lang="en-US" sz="13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0.41 (관계 있어 보임)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32688" y="4160520"/>
            <a:ext cx="5029200" cy="0"/>
          </a:xfrm>
          <a:prstGeom prst="line">
            <a:avLst/>
          </a:prstGeom>
          <a:noFill/>
          <a:ln w="12700">
            <a:solidFill>
              <a:srgbClr val="D6DFE7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795528" y="42519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 안에서 보면 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32688" y="461772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7F3EE"/>
          </a:solidFill>
          <a:ln w="9525">
            <a:solidFill>
              <a:srgbClr val="2E8B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4617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 안: 약함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15768" y="461772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7F3EE"/>
          </a:solidFill>
          <a:ln w="9525">
            <a:solidFill>
              <a:srgbClr val="2E8B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61488" y="4617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 안: 약함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98848" y="461772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7F3EE"/>
          </a:solidFill>
          <a:ln w="9525">
            <a:solidFill>
              <a:srgbClr val="2E8B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44568" y="4617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안: 거의 없음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5528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전체 상관의 상당 부분이 '분야 차이'에서 온 것이었다 (교란변수 확인).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0" y="1554480"/>
            <a:ext cx="5041087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84848" y="1737360"/>
            <a:ext cx="548640" cy="54864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22" y="1869034"/>
            <a:ext cx="285293" cy="28529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52360" y="1783080"/>
            <a:ext cx="40352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(빠른 분)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903720" y="2514600"/>
            <a:ext cx="440100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 관계 찾아볼 수 있는 방법 있는지  물어보기</a:t>
            </a:r>
            <a:endParaRPr lang="en-US" altLang="ko-KR" sz="1300" dirty="0">
              <a:solidFill>
                <a:srgbClr val="1F2D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endParaRPr lang="en-US" altLang="ko-KR" sz="1300" dirty="0">
              <a:solidFill>
                <a:srgbClr val="1F2D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유의미한 상관 관계가 뭐가 있는지 물어보기 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C277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C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정합성을 의심하라 · 도서관 회원·대출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24911"/>
            <a:ext cx="10515600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— 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있는 엑셀 파일 두 개를 합치기</a:t>
            </a:r>
            <a:endParaRPr lang="en-US" altLang="ko-KR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3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DB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에서 </a:t>
            </a:r>
            <a:r>
              <a:rPr lang="en-US" alt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JOIN 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개념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56692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36776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06624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76472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C2771A"/>
          </a:solidFill>
          <a:ln w="12700">
            <a:solidFill>
              <a:srgbClr val="C277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76472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1616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616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· ① 두 파일 조인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대출기록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합치고 —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누락되는 것이 있는지 확인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623560" cy="1417320"/>
          </a:xfrm>
          <a:prstGeom prst="roundRect">
            <a:avLst>
              <a:gd name="adj" fmla="val 4516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18488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697492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5910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011680"/>
            <a:ext cx="50932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회원(실습4a)과 대출기록(실습4b) 두 파일을 회원ID로 합쳐줘. 합친 뒤 전체 행 수와, 어느 쪽에서도 매칭되지 않은 회원·대출이 있는지 반드시 확인해줘.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3035808"/>
            <a:ext cx="5623560" cy="1325880"/>
          </a:xfrm>
          <a:prstGeom prst="roundRect">
            <a:avLst>
              <a:gd name="adj" fmla="val 4828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3172968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" y="3251972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31455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예상 결과 (강사 참고)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22960" y="3547872"/>
            <a:ext cx="5129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20건 기준으로 합치면 매칭 19건 + 미매칭 1건(L1008→회원 M011 없음).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조인 방식(내부/왼쪽)에 따라 행 수가 달라짐을 스스로 짚으면 좋은 답.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4498848"/>
            <a:ext cx="5623560" cy="1664208"/>
          </a:xfrm>
          <a:prstGeom prst="roundRect">
            <a:avLst>
              <a:gd name="adj" fmla="val 3846"/>
            </a:avLst>
          </a:prstGeom>
          <a:solidFill>
            <a:srgbClr val="FBEAE7"/>
          </a:solidFill>
          <a:ln w="9525">
            <a:solidFill>
              <a:srgbClr val="B23A2E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4636008"/>
            <a:ext cx="329184" cy="329184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80" y="4715012"/>
            <a:ext cx="171176" cy="171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46085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핵심 함정 — 정합성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" y="5010912"/>
            <a:ext cx="5129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</a:t>
            </a:r>
            <a:r>
              <a:rPr lang="ko-KR" alt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안되는 부분이 있음을 모르고 분석하면 </a:t>
            </a:r>
            <a:r>
              <a:rPr lang="en-US" sz="11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통계가</a:t>
            </a: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</a:t>
            </a:r>
            <a:r>
              <a:rPr lang="ko-KR" alt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(없는 회원의 대출, 대출 없는 회원).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여러 권 빌리면 회원 정보가 중복 복제되어 '회원 수'가 부풀 수 있다 — 합친 뒤 행 수를 꼭 확인.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1481328"/>
            <a:ext cx="5223967" cy="4681728"/>
          </a:xfrm>
          <a:prstGeom prst="roundRect">
            <a:avLst>
              <a:gd name="adj" fmla="val 1563"/>
            </a:avLst>
          </a:prstGeom>
          <a:solidFill>
            <a:srgbClr val="F2F6F9"/>
          </a:solidFill>
          <a:ln w="12700">
            <a:solidFill>
              <a:srgbClr val="D6DFE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29400" y="1572768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조인 개념도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629400" y="1965960"/>
            <a:ext cx="2269084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1965960"/>
            <a:ext cx="2269084" cy="329184"/>
          </a:xfrm>
          <a:prstGeom prst="rect">
            <a:avLst/>
          </a:prstGeom>
          <a:solidFill>
            <a:srgbClr val="27496D"/>
          </a:solidFill>
          <a:ln/>
        </p:spPr>
      </p:sp>
      <p:sp>
        <p:nvSpPr>
          <p:cNvPr id="23" name="Text 18"/>
          <p:cNvSpPr/>
          <p:nvPr/>
        </p:nvSpPr>
        <p:spPr>
          <a:xfrm>
            <a:off x="6739128" y="1965960"/>
            <a:ext cx="20496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(10명)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739128" y="2295144"/>
            <a:ext cx="2049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M010 · 학부생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6656832" y="2569464"/>
            <a:ext cx="2214220" cy="274320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26" name="Text 21"/>
          <p:cNvSpPr/>
          <p:nvPr/>
        </p:nvSpPr>
        <p:spPr>
          <a:xfrm>
            <a:off x="6739128" y="2569464"/>
            <a:ext cx="2049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M011 · 대학원생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6739128" y="2843784"/>
            <a:ext cx="2049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880" dirty="0"/>
          </a:p>
        </p:txBody>
      </p:sp>
      <p:sp>
        <p:nvSpPr>
          <p:cNvPr id="28" name="Shape 23"/>
          <p:cNvSpPr/>
          <p:nvPr/>
        </p:nvSpPr>
        <p:spPr>
          <a:xfrm>
            <a:off x="9127084" y="1965960"/>
            <a:ext cx="2269084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27084" y="1965960"/>
            <a:ext cx="2269084" cy="32918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0" name="Text 25"/>
          <p:cNvSpPr/>
          <p:nvPr/>
        </p:nvSpPr>
        <p:spPr>
          <a:xfrm>
            <a:off x="9236812" y="1965960"/>
            <a:ext cx="20496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대출기록 (20건)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9236812" y="2295144"/>
            <a:ext cx="2049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L1007 · M004</a:t>
            </a:r>
            <a:endParaRPr lang="en-US" sz="880" dirty="0"/>
          </a:p>
        </p:txBody>
      </p:sp>
      <p:sp>
        <p:nvSpPr>
          <p:cNvPr id="32" name="Shape 27"/>
          <p:cNvSpPr/>
          <p:nvPr/>
        </p:nvSpPr>
        <p:spPr>
          <a:xfrm>
            <a:off x="9154516" y="2569464"/>
            <a:ext cx="2214220" cy="274320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33" name="Text 28"/>
          <p:cNvSpPr/>
          <p:nvPr/>
        </p:nvSpPr>
        <p:spPr>
          <a:xfrm>
            <a:off x="9236812" y="2569464"/>
            <a:ext cx="2049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L1008 · M011</a:t>
            </a:r>
            <a:endParaRPr lang="en-US" sz="880" dirty="0"/>
          </a:p>
        </p:txBody>
      </p:sp>
      <p:sp>
        <p:nvSpPr>
          <p:cNvPr id="34" name="Text 29"/>
          <p:cNvSpPr/>
          <p:nvPr/>
        </p:nvSpPr>
        <p:spPr>
          <a:xfrm>
            <a:off x="9236812" y="2843784"/>
            <a:ext cx="2049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880" dirty="0"/>
          </a:p>
        </p:txBody>
      </p:sp>
      <p:sp>
        <p:nvSpPr>
          <p:cNvPr id="35" name="Text 30"/>
          <p:cNvSpPr/>
          <p:nvPr/>
        </p:nvSpPr>
        <p:spPr>
          <a:xfrm>
            <a:off x="6629400" y="3246120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 회원ID로 합치기  ▼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629400" y="3611880"/>
            <a:ext cx="4766767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629400" y="3611880"/>
            <a:ext cx="4766767" cy="329184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38" name="Text 33"/>
          <p:cNvSpPr/>
          <p:nvPr/>
        </p:nvSpPr>
        <p:spPr>
          <a:xfrm>
            <a:off x="6739128" y="3611880"/>
            <a:ext cx="45473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합친 결과 (대출 기준 20행)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739128" y="3941064"/>
            <a:ext cx="45473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L1007 · M004 · 정보과학 …</a:t>
            </a:r>
            <a:endParaRPr lang="en-US" sz="880" dirty="0"/>
          </a:p>
        </p:txBody>
      </p:sp>
      <p:sp>
        <p:nvSpPr>
          <p:cNvPr id="40" name="Shape 35"/>
          <p:cNvSpPr/>
          <p:nvPr/>
        </p:nvSpPr>
        <p:spPr>
          <a:xfrm>
            <a:off x="6656832" y="4251960"/>
            <a:ext cx="4711903" cy="310896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41" name="Text 36"/>
          <p:cNvSpPr/>
          <p:nvPr/>
        </p:nvSpPr>
        <p:spPr>
          <a:xfrm>
            <a:off x="6739128" y="4251960"/>
            <a:ext cx="45473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L1008 · M011 · ✖ 회원 정보 없음</a:t>
            </a:r>
            <a:endParaRPr lang="en-US" sz="880" dirty="0"/>
          </a:p>
        </p:txBody>
      </p:sp>
      <p:sp>
        <p:nvSpPr>
          <p:cNvPr id="42" name="Text 37"/>
          <p:cNvSpPr/>
          <p:nvPr/>
        </p:nvSpPr>
        <p:spPr>
          <a:xfrm>
            <a:off x="6739128" y="4562856"/>
            <a:ext cx="45473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M002 · 대출 기록 없음 → 분석서 제외 검토</a:t>
            </a:r>
            <a:endParaRPr lang="en-US" sz="880" dirty="0"/>
          </a:p>
        </p:txBody>
      </p:sp>
      <p:sp>
        <p:nvSpPr>
          <p:cNvPr id="43" name="Text 38"/>
          <p:cNvSpPr/>
          <p:nvPr/>
        </p:nvSpPr>
        <p:spPr>
          <a:xfrm>
            <a:off x="6629400" y="5440680"/>
            <a:ext cx="47667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행 = 정합성 깨진 지점. 합치기 전후 행 수를 비교해 '몇 건이 사라지고 몇 건이 늘었나'를 확인한다.</a:t>
            </a:r>
            <a:endParaRPr lang="en-US" sz="980" dirty="0"/>
          </a:p>
        </p:txBody>
      </p:sp>
      <p:sp>
        <p:nvSpPr>
          <p:cNvPr id="44" name="Text 39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· ② 파생변수 · ③ 피벗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피벗 함수처럼 묶어서 보기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623560" cy="1371600"/>
          </a:xfrm>
          <a:prstGeom prst="roundRect">
            <a:avLst>
              <a:gd name="adj" fmla="val 4667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18488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697492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5910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② 파생변수 만들기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011680"/>
            <a:ext cx="5093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대출일과 반납일로 '대출기간(일)'을 새 컬럼으로 계산해줘. 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소속유형 별 대출 기간을 </a:t>
            </a:r>
            <a:r>
              <a:rPr lang="ko-KR" altLang="en-US" sz="1350" i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히트맵으로</a:t>
            </a:r>
            <a:r>
              <a:rPr lang="ko-KR" altLang="en-US" sz="13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그려줘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990088"/>
            <a:ext cx="5623560" cy="1371600"/>
          </a:xfrm>
          <a:prstGeom prst="roundRect">
            <a:avLst>
              <a:gd name="adj" fmla="val 4667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3127248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" y="3206252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309981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22960" y="3502152"/>
            <a:ext cx="5129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ko-KR" altLang="en-US" sz="11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미반납</a:t>
            </a:r>
            <a:r>
              <a:rPr lang="ko-KR" alt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건은 대출기간을 산정할 수 없으니 제외하겠다고 나옴</a:t>
            </a:r>
            <a:endParaRPr lang="en-US" altLang="ko-KR" sz="1150" dirty="0">
              <a:solidFill>
                <a:srgbClr val="1F2D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/>
              <a:t>‘</a:t>
            </a:r>
            <a:r>
              <a:rPr lang="ko-KR" altLang="en-US" sz="1150" dirty="0"/>
              <a:t>대출 기간</a:t>
            </a:r>
            <a:r>
              <a:rPr lang="en-US" altLang="ko-KR" sz="1150" dirty="0"/>
              <a:t>’</a:t>
            </a:r>
            <a:r>
              <a:rPr lang="ko-KR" altLang="en-US" sz="1150" dirty="0"/>
              <a:t>이라는 새로운 컬럼을 만들었는데</a:t>
            </a:r>
            <a:r>
              <a:rPr lang="en-US" altLang="ko-KR" sz="1150" dirty="0"/>
              <a:t>, </a:t>
            </a:r>
            <a:r>
              <a:rPr lang="ko-KR" altLang="en-US" sz="1150" dirty="0"/>
              <a:t>이 때 생기는 이슈를 </a:t>
            </a:r>
            <a:r>
              <a:rPr lang="en-US" altLang="ko-KR" sz="1150" dirty="0" err="1"/>
              <a:t>claude</a:t>
            </a:r>
            <a:r>
              <a:rPr lang="ko-KR" altLang="en-US" sz="1150" dirty="0"/>
              <a:t>가 알아서 파악해준 것</a:t>
            </a:r>
            <a:endParaRPr lang="en-US" altLang="ko-KR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ko-KR" altLang="en-US" sz="1150" dirty="0"/>
              <a:t>그래프는 우측과 같이 </a:t>
            </a:r>
            <a:r>
              <a:rPr lang="ko-KR" altLang="en-US" sz="1150" dirty="0" err="1"/>
              <a:t>그려줌</a:t>
            </a:r>
            <a:endParaRPr lang="en-US" sz="1150" dirty="0"/>
          </a:p>
        </p:txBody>
      </p:sp>
      <p:sp>
        <p:nvSpPr>
          <p:cNvPr id="56" name="Text 51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57" name="Text 52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5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D28F8915-7D0F-4DD8-814F-9871A7B84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1483499"/>
            <a:ext cx="5499487" cy="194550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C277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C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착시 · 월별 서비스 이용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2491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— 추세에서 '진짜 신호'만 골라내기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Seasonality &amp; lag vs. a real signal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36776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06624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76472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76472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C2771A"/>
          </a:solidFill>
          <a:ln w="12700">
            <a:solidFill>
              <a:srgbClr val="C277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1616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616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76895" y="53492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C2771A"/>
          </a:solidFill>
          <a:ln/>
        </p:spPr>
      </p:sp>
      <p:sp>
        <p:nvSpPr>
          <p:cNvPr id="23" name="Text 20"/>
          <p:cNvSpPr/>
          <p:nvPr/>
        </p:nvSpPr>
        <p:spPr>
          <a:xfrm>
            <a:off x="8076895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정조준하는 함정: 맥락 착시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F365-02A1-EE95-70C9-AEFC49410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8A103D-C200-7C2B-C334-6E29E186214F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추세 보기 + 대시보드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A04252-2CF2-093D-F197-C03DE8447DD2}"/>
              </a:ext>
            </a:extLst>
          </p:cNvPr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대시보드로 만들어보기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sonnet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7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F0EBE17-1980-40A9-FBE1-F3E32F75797D}"/>
              </a:ext>
            </a:extLst>
          </p:cNvPr>
          <p:cNvSpPr/>
          <p:nvPr/>
        </p:nvSpPr>
        <p:spPr>
          <a:xfrm>
            <a:off x="527171" y="1261872"/>
            <a:ext cx="10570730" cy="932688"/>
          </a:xfrm>
          <a:prstGeom prst="roundRect">
            <a:avLst>
              <a:gd name="adj" fmla="val 6863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F645D9A-2031-DECF-E6DE-FFE8A05C9BDA}"/>
              </a:ext>
            </a:extLst>
          </p:cNvPr>
          <p:cNvSpPr/>
          <p:nvPr/>
        </p:nvSpPr>
        <p:spPr>
          <a:xfrm>
            <a:off x="682619" y="1399032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18B0207E-5D33-C7A7-6C59-4675AB770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23" y="1478036"/>
            <a:ext cx="171176" cy="171176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3FEC23EF-2FAF-D10F-B359-4095C6D87E56}"/>
              </a:ext>
            </a:extLst>
          </p:cNvPr>
          <p:cNvSpPr/>
          <p:nvPr/>
        </p:nvSpPr>
        <p:spPr>
          <a:xfrm>
            <a:off x="1094099" y="137160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C946890-086B-238F-772B-4A39E7002E72}"/>
              </a:ext>
            </a:extLst>
          </p:cNvPr>
          <p:cNvSpPr/>
          <p:nvPr/>
        </p:nvSpPr>
        <p:spPr>
          <a:xfrm>
            <a:off x="801491" y="1792224"/>
            <a:ext cx="766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신규가입·문의건수·만족도를 한 화면에서 볼 수 있는 인터랙티브 대시보드를 아티팩트로 만들어줘.</a:t>
            </a:r>
            <a:endParaRPr lang="en-US" sz="125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DC78287-604B-1672-7F5B-2A4F852F441C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BCFD2FC2-ED92-4123-D915-A7081A47368E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E207E1E-0CA5-3602-A366-C89BDDC7B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156" y="2292296"/>
            <a:ext cx="4752646" cy="407192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20CB00F-D712-E5EB-61FB-D9469A970F35}"/>
              </a:ext>
            </a:extLst>
          </p:cNvPr>
          <p:cNvSpPr txBox="1"/>
          <p:nvPr/>
        </p:nvSpPr>
        <p:spPr>
          <a:xfrm>
            <a:off x="6510802" y="2724912"/>
            <a:ext cx="55751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인터랙티브 대시보드는 사용자가 마우스 클릭</a:t>
            </a:r>
            <a:r>
              <a:rPr lang="en-US" altLang="ko-KR" dirty="0"/>
              <a:t>, </a:t>
            </a:r>
            <a:r>
              <a:rPr lang="ko-KR" altLang="en-US" dirty="0"/>
              <a:t>슬라이더 조작</a:t>
            </a:r>
            <a:r>
              <a:rPr lang="en-US" altLang="ko-KR" dirty="0"/>
              <a:t>, </a:t>
            </a:r>
            <a:r>
              <a:rPr lang="ko-KR" altLang="en-US" dirty="0"/>
              <a:t>필터 변경 등을 통해 실시간으로 데이터를 탐색하고 </a:t>
            </a:r>
            <a:r>
              <a:rPr lang="ko-KR" altLang="en-US" dirty="0" err="1"/>
              <a:t>시뮬레이션할</a:t>
            </a:r>
            <a:r>
              <a:rPr lang="ko-KR" altLang="en-US" dirty="0"/>
              <a:t> 수 있는 동적 화면을 의미</a:t>
            </a:r>
          </a:p>
        </p:txBody>
      </p:sp>
    </p:spTree>
    <p:extLst>
      <p:ext uri="{BB962C8B-B14F-4D97-AF65-F5344CB8AC3E}">
        <p14:creationId xmlns:p14="http://schemas.microsoft.com/office/powerpoint/2010/main" val="1140544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2709-0C85-B380-692B-61FEB723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D3C132-8AA9-AA42-4ACA-6F76D2D4BB72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추세 보기 + 대시보드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1D235C-1470-886C-DE32-4CA3F71CAE35}"/>
              </a:ext>
            </a:extLst>
          </p:cNvPr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대시보드로 만들어보기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sonnet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7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65539B87-5ED0-3F55-6726-4AB9F48BCFF7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6FC5FD42-6E1B-B904-DB23-B913B5CC898A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CFB13C-9D36-798C-62BD-46F47029D8BC}"/>
              </a:ext>
            </a:extLst>
          </p:cNvPr>
          <p:cNvSpPr txBox="1"/>
          <p:nvPr/>
        </p:nvSpPr>
        <p:spPr>
          <a:xfrm>
            <a:off x="6510802" y="2724912"/>
            <a:ext cx="5575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우측 상단에 </a:t>
            </a:r>
            <a:r>
              <a:rPr lang="en-US" altLang="ko-KR" dirty="0"/>
              <a:t>… </a:t>
            </a:r>
            <a:r>
              <a:rPr lang="ko-KR" altLang="en-US" dirty="0"/>
              <a:t>버튼을 누르고 </a:t>
            </a:r>
            <a:r>
              <a:rPr lang="en-US" altLang="ko-KR" dirty="0"/>
              <a:t>download file </a:t>
            </a:r>
            <a:r>
              <a:rPr lang="ko-KR" altLang="en-US" dirty="0"/>
              <a:t>누르면 </a:t>
            </a:r>
            <a:r>
              <a:rPr lang="en-US" altLang="ko-KR" dirty="0"/>
              <a:t>html </a:t>
            </a:r>
            <a:r>
              <a:rPr lang="ko-KR" altLang="en-US" dirty="0"/>
              <a:t>파일 형태로 다운로드해서 볼 수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42FF26-CBBA-3642-199B-89ED20554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19" y="1633052"/>
            <a:ext cx="5658640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49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추세 보기 + 대시보드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대시보드로 만들어보기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opus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527171" y="1261872"/>
            <a:ext cx="10455568" cy="932688"/>
          </a:xfrm>
          <a:prstGeom prst="roundRect">
            <a:avLst>
              <a:gd name="adj" fmla="val 6863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2619" y="1399032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23" y="1478036"/>
            <a:ext cx="171176" cy="171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4099" y="137160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01490" y="1792224"/>
            <a:ext cx="9641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신규가입·문의건수·만족도를 한 화면에서 볼 수 있는 인터랙티브 대시보드를 아티팩트로 만들어줘.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2B1BDE3D-B7F9-2856-FE60-DD25A73BC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352" y="2218344"/>
            <a:ext cx="4511822" cy="463965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7AC0A1E-62D8-C97B-123B-BAF84BED3DCF}"/>
              </a:ext>
            </a:extLst>
          </p:cNvPr>
          <p:cNvSpPr txBox="1"/>
          <p:nvPr/>
        </p:nvSpPr>
        <p:spPr>
          <a:xfrm>
            <a:off x="6096000" y="2933633"/>
            <a:ext cx="5791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인터랙티브 대시보드는 정적 그래프</a:t>
            </a:r>
            <a:r>
              <a:rPr lang="en-US" altLang="ko-KR" dirty="0"/>
              <a:t>/</a:t>
            </a:r>
            <a:r>
              <a:rPr lang="ko-KR" altLang="en-US" dirty="0"/>
              <a:t>차트보다 생성할 수 있는 내용과 방법이 더 다양하기 때문에 </a:t>
            </a:r>
            <a:r>
              <a:rPr lang="en-US" altLang="ko-KR" dirty="0"/>
              <a:t>opus </a:t>
            </a:r>
            <a:r>
              <a:rPr lang="ko-KR" altLang="en-US" dirty="0"/>
              <a:t>모델 사용 시 더 만족도 높고 내가 원하는 방향으로 생성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인터랙티브 대시보드 생성할 때 저는 주로 </a:t>
            </a:r>
            <a:r>
              <a:rPr lang="en-US" altLang="ko-KR" dirty="0"/>
              <a:t>opus</a:t>
            </a:r>
            <a:r>
              <a:rPr lang="ko-KR" altLang="en-US" dirty="0"/>
              <a:t>만 사용함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8C70-F805-84C9-27F4-18466CE2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ACB71B-D172-7633-EB02-94F10CB71A01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추세 보기 + 대시보드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D60B44-CF72-1F6C-BE26-518CE007FBED}"/>
              </a:ext>
            </a:extLst>
          </p:cNvPr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 분석</a:t>
            </a:r>
            <a:endParaRPr lang="en-US" sz="27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EBB6B22-17ED-3ADB-4AB0-45F0F2E0F368}"/>
              </a:ext>
            </a:extLst>
          </p:cNvPr>
          <p:cNvSpPr/>
          <p:nvPr/>
        </p:nvSpPr>
        <p:spPr>
          <a:xfrm>
            <a:off x="7589520" y="1481328"/>
            <a:ext cx="4035247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C0DFE91-9408-DF09-2E2E-FF3B75971F51}"/>
              </a:ext>
            </a:extLst>
          </p:cNvPr>
          <p:cNvSpPr/>
          <p:nvPr/>
        </p:nvSpPr>
        <p:spPr>
          <a:xfrm>
            <a:off x="7790688" y="159105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띄는 3가지</a:t>
            </a:r>
            <a:endParaRPr lang="en-US" sz="12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0CEA03B-B7C1-248C-A5AA-43FD0B794605}"/>
              </a:ext>
            </a:extLst>
          </p:cNvPr>
          <p:cNvSpPr/>
          <p:nvPr/>
        </p:nvSpPr>
        <p:spPr>
          <a:xfrm>
            <a:off x="7863840" y="2011680"/>
            <a:ext cx="353232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· 12월 가입 급감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가입 최고(280)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4~5월 문의 급증(310→420), 같은 달 만족도 최저(3.5)</a:t>
            </a:r>
            <a:endParaRPr lang="en-US" sz="115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B51C70E3-8803-E3A5-8227-C2F39A4BC993}"/>
              </a:ext>
            </a:extLst>
          </p:cNvPr>
          <p:cNvSpPr/>
          <p:nvPr/>
        </p:nvSpPr>
        <p:spPr>
          <a:xfrm>
            <a:off x="7589520" y="3950208"/>
            <a:ext cx="4035247" cy="2212848"/>
          </a:xfrm>
          <a:prstGeom prst="roundRect">
            <a:avLst>
              <a:gd name="adj" fmla="val 2893"/>
            </a:avLst>
          </a:prstGeom>
          <a:solidFill>
            <a:srgbClr val="FBEAE7"/>
          </a:solidFill>
          <a:ln w="9525">
            <a:solidFill>
              <a:srgbClr val="B23A2E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533EE9E-59D5-E212-50D2-7832A241D37F}"/>
              </a:ext>
            </a:extLst>
          </p:cNvPr>
          <p:cNvSpPr/>
          <p:nvPr/>
        </p:nvSpPr>
        <p:spPr>
          <a:xfrm>
            <a:off x="7744968" y="4087368"/>
            <a:ext cx="329184" cy="329184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C4FFAB46-03AC-8563-B725-776E641B3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972" y="4166372"/>
            <a:ext cx="171176" cy="171176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E59E99E6-B731-FB6C-9AB4-9C763EEC7CEB}"/>
              </a:ext>
            </a:extLst>
          </p:cNvPr>
          <p:cNvSpPr/>
          <p:nvPr/>
        </p:nvSpPr>
        <p:spPr>
          <a:xfrm>
            <a:off x="8156448" y="4059936"/>
            <a:ext cx="3303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대시보드 착시</a:t>
            </a:r>
            <a:endParaRPr lang="en-US" sz="125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661EE92-6539-EA5F-5542-A60767A1FE86}"/>
              </a:ext>
            </a:extLst>
          </p:cNvPr>
          <p:cNvSpPr/>
          <p:nvPr/>
        </p:nvSpPr>
        <p:spPr>
          <a:xfrm>
            <a:off x="7845552" y="4462272"/>
            <a:ext cx="3541471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차트가 매끈하고 인터랙티브할수록 결론을 의심 없이 받아들이기 쉽다.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출렁임이 계절성인지, 일시적 사건인지, 진짜 추세인지"를 반드시 되물어야 한다.</a:t>
            </a:r>
            <a:endParaRPr lang="en-US" sz="115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545006B-876E-89D7-8F5F-525A7C955561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B164B6B-A003-4A73-DE52-391114A7A5F1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634692-6938-7ADE-850A-35C2EA136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719" y="1481328"/>
            <a:ext cx="5695698" cy="463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070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② 신호 구분 · ③ 이동평균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'하락'도 의미가 다르다 —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 하락인지 파악하기 위해 이동 평균을 사용해서 그래프 그리도록 </a:t>
            </a:r>
            <a:r>
              <a:rPr lang="ko-KR" alt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재지시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85216" y="1653681"/>
            <a:ext cx="5346040" cy="2286000"/>
          </a:xfrm>
          <a:prstGeom prst="roundRect">
            <a:avLst>
              <a:gd name="adj" fmla="val 3200"/>
            </a:avLst>
          </a:prstGeom>
          <a:solidFill>
            <a:srgbClr val="F2F6F9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54849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5C6B7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54849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계절성 착시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330337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· 12월 가입 급감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805825"/>
            <a:ext cx="483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휴가·연말 시즌의 반복 패턴. 매년 같은 달에 나타나면 '문제'가 아니라 '계절성'. 작년 같은 달과 비교하면 드러난다.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97016" y="1653681"/>
            <a:ext cx="5346040" cy="2286000"/>
          </a:xfrm>
          <a:prstGeom prst="roundRect">
            <a:avLst>
              <a:gd name="adj" fmla="val 3200"/>
            </a:avLst>
          </a:prstGeom>
          <a:solidFill>
            <a:srgbClr val="FBEAE7"/>
          </a:solidFill>
          <a:ln w="12700">
            <a:solidFill>
              <a:srgbClr val="B23A2E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8184" y="1854849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1854849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신호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3048" y="2330337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4~5월 문의 급증 + 만족도 최저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3048" y="2805825"/>
            <a:ext cx="483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계절성으로 설명되지 않는 이례적 변화 + 만족도 동반 하락. 실제 사건(장애·정책 변경 등)을 의심하고 원인을 추적해야 할 신호.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" y="4271401"/>
            <a:ext cx="5623560" cy="1097280"/>
          </a:xfrm>
          <a:prstGeom prst="roundRect">
            <a:avLst>
              <a:gd name="adj" fmla="val 5833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0664" y="4408561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68" y="4487565"/>
            <a:ext cx="171176" cy="1711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2144" y="4381129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③ </a:t>
            </a:r>
            <a:r>
              <a:rPr lang="en-US" sz="1250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이동평균으로</a:t>
            </a:r>
            <a:r>
              <a:rPr lang="en-US" sz="12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매끈하게</a:t>
            </a:r>
            <a:r>
              <a:rPr lang="en-US" sz="12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프롬프트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859536" y="4801753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데이터에 3개월 이동평균을 적용해서, 단기 출렁임을 걷어내고 진짜 추세를 보여줘.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85216" y="5460121"/>
            <a:ext cx="5623560" cy="1005840"/>
          </a:xfrm>
          <a:prstGeom prst="roundRect">
            <a:avLst>
              <a:gd name="adj" fmla="val 6364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0664" y="5597281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68" y="5676285"/>
            <a:ext cx="171176" cy="1711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52144" y="5569849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41248" y="5972185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이동평균을 씌우면 8·12월의 뾰족한 골이 완만해지고, 우상향 추세가 드러난다. 단기 노이즈와 장기 추세를 분리하는 도구.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19088" y="4271401"/>
            <a:ext cx="5223967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620256" y="4454281"/>
            <a:ext cx="502920" cy="50292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957" y="4574982"/>
            <a:ext cx="261518" cy="26151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42048" y="4481713"/>
            <a:ext cx="4218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6711696" y="5030353"/>
            <a:ext cx="463875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동월과 비교(YoY)해 8·12월 급감이 매년 반복되는지 확인 — 계절성 가설 검정.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만족도 하락의 원인 가설 3가지를 구조화 프롬프트로 받고, 검증 가능한 것부터 우선순위 매기기.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206240" cy="4206240"/>
          </a:xfrm>
          <a:prstGeom prst="ellipse">
            <a:avLst/>
          </a:prstGeom>
          <a:solidFill>
            <a:srgbClr val="C277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2743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868680" cy="86868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C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지평 · 자유응답 설문의 구조화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2491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— 표로 못 만들던 '문장'을 데이터로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new frontier: coding unstructured text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36776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06624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76472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76472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E81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16168" y="5349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C2771A"/>
          </a:solidFill>
          <a:ln w="12700">
            <a:solidFill>
              <a:srgbClr val="C277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6168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C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왜 '새 지평'인가 · ① 순진한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40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설문에서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자유응답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분류해보기</a:t>
            </a:r>
            <a:endParaRPr lang="en-US" altLang="ko-KR" sz="2700" b="1" dirty="0">
              <a:solidFill>
                <a:srgbClr val="1329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분류하기가 어려워 사실상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버려지던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2700" b="1" dirty="0">
              <a:solidFill>
                <a:srgbClr val="1329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3776" y="1827703"/>
            <a:ext cx="11057839" cy="1078992"/>
          </a:xfrm>
          <a:prstGeom prst="roundRect">
            <a:avLst>
              <a:gd name="adj" fmla="val 8475"/>
            </a:avLst>
          </a:prstGeom>
          <a:solidFill>
            <a:srgbClr val="13293D"/>
          </a:solidFill>
          <a:ln/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56303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9" y="2192366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5336" y="1827703"/>
            <a:ext cx="973195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늘 분석했지만, '주관식 문장'은 읽기 번거로워 버려지기 일쑤였다. </a:t>
            </a:r>
            <a:r>
              <a:rPr lang="en-US" sz="14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이 비정형 텍스트를 분류·집계 가능한 데이터로 바꾼다 — 표로 못 만들던 </a:t>
            </a:r>
            <a:r>
              <a:rPr lang="en-US" sz="1400" b="1" dirty="0" err="1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것을</a:t>
            </a:r>
            <a:r>
              <a:rPr lang="en-US" sz="14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r>
              <a:rPr lang="en-US" sz="14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9FE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수 있음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50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8F620474-98E0-27F4-6E83-A61E22C69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034" y="3068169"/>
            <a:ext cx="4744662" cy="355849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66EB-65A3-0835-7D35-4D10C8A9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3152FA-3C3B-8606-1E8F-D31CB5DA3728}"/>
              </a:ext>
            </a:extLst>
          </p:cNvPr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왜 '새 지평'인가 · ① 순진한 요약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78A9F4-D07F-88A5-BE98-90ECB8E80C12}"/>
              </a:ext>
            </a:extLst>
          </p:cNvPr>
          <p:cNvSpPr/>
          <p:nvPr/>
        </p:nvSpPr>
        <p:spPr>
          <a:xfrm>
            <a:off x="566928" y="621792"/>
            <a:ext cx="1140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단순한 프롬프트로 분류해보기</a:t>
            </a:r>
            <a:endParaRPr lang="en-US" sz="2700" b="1" dirty="0">
              <a:solidFill>
                <a:srgbClr val="1329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5E5EC59-E0A2-7187-02DF-B7C694FEDC1A}"/>
              </a:ext>
            </a:extLst>
          </p:cNvPr>
          <p:cNvSpPr/>
          <p:nvPr/>
        </p:nvSpPr>
        <p:spPr>
          <a:xfrm>
            <a:off x="566928" y="1956816"/>
            <a:ext cx="5623560" cy="1325880"/>
          </a:xfrm>
          <a:prstGeom prst="roundRect">
            <a:avLst>
              <a:gd name="adj" fmla="val 4828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D1F0383-47F6-ECAB-E7ED-2EE14F1F4599}"/>
              </a:ext>
            </a:extLst>
          </p:cNvPr>
          <p:cNvSpPr/>
          <p:nvPr/>
        </p:nvSpPr>
        <p:spPr>
          <a:xfrm>
            <a:off x="722376" y="2093976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0559A7D-8732-F65A-C7BE-91B2A6F7E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2172980"/>
            <a:ext cx="171176" cy="17117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BE42FC8C-3EA8-F58D-57E2-4C87895CC672}"/>
              </a:ext>
            </a:extLst>
          </p:cNvPr>
          <p:cNvSpPr/>
          <p:nvPr/>
        </p:nvSpPr>
        <p:spPr>
          <a:xfrm>
            <a:off x="1133856" y="20665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① </a:t>
            </a:r>
            <a:r>
              <a:rPr lang="en-US" b="1" dirty="0" err="1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en-US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＇</a:t>
            </a:r>
            <a:r>
              <a:rPr lang="ko-KR" altLang="en-US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단순하게</a:t>
            </a:r>
            <a:r>
              <a:rPr lang="en-US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시켜보기</a:t>
            </a:r>
            <a:endParaRPr lang="en-US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62E8275-F747-B1E1-4B1E-80B48651A28C}"/>
              </a:ext>
            </a:extLst>
          </p:cNvPr>
          <p:cNvSpPr/>
          <p:nvPr/>
        </p:nvSpPr>
        <p:spPr>
          <a:xfrm>
            <a:off x="841248" y="2487168"/>
            <a:ext cx="5093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자유응답 30건을 요약해서 주요 불만이 뭔지 알려줘.</a:t>
            </a:r>
            <a:endParaRPr lang="en-US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76F171E6-FBB7-16FF-4B15-22CE620BA0C5}"/>
              </a:ext>
            </a:extLst>
          </p:cNvPr>
          <p:cNvSpPr/>
          <p:nvPr/>
        </p:nvSpPr>
        <p:spPr>
          <a:xfrm>
            <a:off x="6464808" y="1864469"/>
            <a:ext cx="5623560" cy="2247039"/>
          </a:xfrm>
          <a:prstGeom prst="roundRect">
            <a:avLst>
              <a:gd name="adj" fmla="val 3333"/>
            </a:avLst>
          </a:prstGeom>
          <a:solidFill>
            <a:srgbClr val="FBEAE7"/>
          </a:solidFill>
          <a:ln w="9525">
            <a:solidFill>
              <a:srgbClr val="B23A2E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857AF0EF-28CD-E829-79A3-A9E6F0F2280F}"/>
              </a:ext>
            </a:extLst>
          </p:cNvPr>
          <p:cNvSpPr/>
          <p:nvPr/>
        </p:nvSpPr>
        <p:spPr>
          <a:xfrm>
            <a:off x="6620256" y="2001629"/>
            <a:ext cx="329184" cy="385207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12237C7C-E062-D287-8864-BE8979DBB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60" y="2080634"/>
            <a:ext cx="171176" cy="200308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64E4B849-EBAB-1143-2243-5AA03724BCA2}"/>
              </a:ext>
            </a:extLst>
          </p:cNvPr>
          <p:cNvSpPr/>
          <p:nvPr/>
        </p:nvSpPr>
        <p:spPr>
          <a:xfrm>
            <a:off x="7031736" y="1974197"/>
            <a:ext cx="4892040" cy="42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왜 이게 위험한가</a:t>
            </a:r>
            <a:endParaRPr lang="en-US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5FDC2425-44BF-78B7-C371-9A2C50BF8CBD}"/>
              </a:ext>
            </a:extLst>
          </p:cNvPr>
          <p:cNvSpPr/>
          <p:nvPr/>
        </p:nvSpPr>
        <p:spPr>
          <a:xfrm>
            <a:off x="6720840" y="2376534"/>
            <a:ext cx="5129784" cy="149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 문단이 나오지만, 무엇을 몇 건으로 셌는지 근거가 </a:t>
            </a:r>
            <a:r>
              <a:rPr lang="en-US" sz="160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</a:t>
            </a:r>
            <a:r>
              <a:rPr lang="en-US" sz="16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ko-KR" altLang="en-US" sz="16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분류 기준을 알려주지 않았기 때문에 </a:t>
            </a:r>
            <a:r>
              <a:rPr lang="en-US" altLang="ko-KR" sz="160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6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맘대로 분류하고</a:t>
            </a:r>
            <a:r>
              <a:rPr lang="en-US" sz="16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검증·재현이 불가능.</a:t>
            </a:r>
            <a:endParaRPr lang="en-US" sz="16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인상적인 소수 의견이 과대 대표되고, 조용한 다수가 묻힌다(빈도 왜곡).</a:t>
            </a:r>
            <a:endParaRPr lang="en-US" sz="16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② '</a:t>
            </a:r>
            <a:r>
              <a:rPr lang="en-US" sz="160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r>
              <a:rPr 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정해주는</a:t>
            </a:r>
            <a:r>
              <a:rPr 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en-US" sz="160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</a:t>
            </a:r>
            <a:r>
              <a:rPr lang="ko-KR" alt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가기</a:t>
            </a:r>
            <a:r>
              <a:rPr lang="en-US" sz="16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8ED69E3C-B2A3-3E86-1F93-6EE3A7512B64}"/>
              </a:ext>
            </a:extLst>
          </p:cNvPr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83937F5D-1104-25A2-5539-2F872194A30E}"/>
              </a:ext>
            </a:extLst>
          </p:cNvPr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1480893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② </a:t>
            </a:r>
            <a:r>
              <a:rPr lang="en-US" sz="1200" b="1" kern="0" spc="200" dirty="0" err="1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정해주는 프롬프트 </a:t>
            </a: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(핵심)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'분류 기준'을 정하고 — 그 틀로 모든 응답을 라벨링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1207008"/>
          </a:xfrm>
          <a:prstGeom prst="roundRect">
            <a:avLst>
              <a:gd name="adj" fmla="val 5303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00200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679204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57276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입력 프롬프트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1993392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응답을 다음 스키마로 코딩해줘 — 감정(긍</a:t>
            </a:r>
            <a:r>
              <a:rPr lang="ko-KR" alt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r>
              <a:rPr 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/부</a:t>
            </a:r>
            <a:r>
              <a:rPr lang="ko-KR" alt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r>
              <a:rPr 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/중</a:t>
            </a:r>
            <a:r>
              <a:rPr lang="ko-KR" alt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</a:t>
            </a:r>
            <a:r>
              <a:rPr lang="en-US" sz="125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주제(속도·가격·지원·기능·UI, 복수 가능), 핵심 요청 한 줄, 긴급도(상/중/하). 무응답·무관·단순 문의는 불만과 분리해서 따로 표시해줘. 결과를 표로 만들어줘.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907792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072384"/>
            <a:ext cx="457200" cy="45720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18211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(자유응답)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95528" y="362102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"속도가 너무 느려서 답답해요. 빨리 개선되면 좋겠어요."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4728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995928" y="2907792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178808" y="30358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(분류 기준)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197096" y="3419856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496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97096" y="3419856"/>
            <a:ext cx="557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4864608" y="341985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496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64608" y="341985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주제(다중)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4197096" y="3803904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496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97096" y="380390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핵심요청</a:t>
            </a:r>
            <a:endParaRPr lang="en-US" sz="980" dirty="0"/>
          </a:p>
        </p:txBody>
      </p:sp>
      <p:sp>
        <p:nvSpPr>
          <p:cNvPr id="23" name="Shape 19"/>
          <p:cNvSpPr/>
          <p:nvPr/>
        </p:nvSpPr>
        <p:spPr>
          <a:xfrm>
            <a:off x="5111496" y="3803904"/>
            <a:ext cx="6812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496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11496" y="3803904"/>
            <a:ext cx="6812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4197096" y="4187952"/>
            <a:ext cx="14218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496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97096" y="4187952"/>
            <a:ext cx="14218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무응답·무관 분리</a:t>
            </a:r>
            <a:endParaRPr lang="en-US" sz="980" dirty="0"/>
          </a:p>
        </p:txBody>
      </p:sp>
      <p:sp>
        <p:nvSpPr>
          <p:cNvPr id="27" name="Text 23"/>
          <p:cNvSpPr/>
          <p:nvPr/>
        </p:nvSpPr>
        <p:spPr>
          <a:xfrm>
            <a:off x="678484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7287768" y="2907792"/>
            <a:ext cx="4336999" cy="1828800"/>
          </a:xfrm>
          <a:prstGeom prst="roundRect">
            <a:avLst>
              <a:gd name="adj" fmla="val 4000"/>
            </a:avLst>
          </a:prstGeom>
          <a:solidFill>
            <a:srgbClr val="E7F3EE"/>
          </a:solidFill>
          <a:ln w="12700">
            <a:solidFill>
              <a:srgbClr val="2E8B6F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470648" y="3035808"/>
            <a:ext cx="39712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결과 (한 행)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516368" y="3419856"/>
            <a:ext cx="39255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감정: </a:t>
            </a: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
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주제: </a:t>
            </a: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
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핵심요청: </a:t>
            </a: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응답속도 개선
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긴급도: </a:t>
            </a:r>
            <a:r>
              <a:rPr lang="en-US" sz="11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66928" y="4956048"/>
            <a:ext cx="11057839" cy="1207008"/>
          </a:xfrm>
          <a:prstGeom prst="roundRect">
            <a:avLst>
              <a:gd name="adj" fmla="val 5303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722376" y="5093208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80" y="5172212"/>
            <a:ext cx="171176" cy="17117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133856" y="5065776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822960" y="5468112"/>
            <a:ext cx="105640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스키마를 먼저 고정하면 30건 모두 같은 틀로 라벨링되어 → 감정 분포·주제별 건수·긴급도 우선순위를 표로 집계할 수 있다.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기준이 글로 남으므로 다음 사람이 같은 기준으로 재현·확장 가능 (순진한 요약과의 결정적 차이).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함정 ⑥ 환각 · 조용한 오추출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분류되었어도 숫자 데이터처럼 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탐지</a:t>
            </a:r>
            <a:r>
              <a:rPr lang="en-US" altLang="ko-KR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안 될 수 있으니 사람이 표본 검사 해줘야 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11057839" cy="969264"/>
          </a:xfrm>
          <a:prstGeom prst="roundRect">
            <a:avLst>
              <a:gd name="adj" fmla="val 8696"/>
            </a:avLst>
          </a:prstGeom>
          <a:solidFill>
            <a:srgbClr val="FBEAE7"/>
          </a:solidFill>
          <a:ln w="9525">
            <a:solidFill>
              <a:srgbClr val="B23A2E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74520"/>
            <a:ext cx="548640" cy="54864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2123" y="1746504"/>
            <a:ext cx="986911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데이터는 </a:t>
            </a:r>
            <a:r>
              <a:rPr lang="en-US" altLang="ko-KR" sz="13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이나 사람이 </a:t>
            </a:r>
            <a:r>
              <a:rPr lang="ko-KR" altLang="en-US" sz="13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검사하다가도</a:t>
            </a:r>
            <a:r>
              <a:rPr 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＂</a:t>
            </a:r>
            <a:r>
              <a:rPr lang="en-US" sz="13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이상한데</a:t>
            </a:r>
            <a:r>
              <a:rPr 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?＂ </a:t>
            </a: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싶은 점들을 바로 발견 가능</a:t>
            </a:r>
            <a:endParaRPr lang="en-US" altLang="ko-KR" sz="1350" dirty="0">
              <a:solidFill>
                <a:srgbClr val="1F2D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설문 </a:t>
            </a:r>
            <a:r>
              <a:rPr lang="ko-KR" altLang="en-US" sz="13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응답같은</a:t>
            </a: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자연어는</a:t>
            </a:r>
            <a:r>
              <a:rPr 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 분류된 라벨은 표 안에서 완벽히 정상으로 보인다. </a:t>
            </a: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실제로는 긍정 답변인데 </a:t>
            </a:r>
            <a:r>
              <a:rPr lang="en-US" altLang="ko-KR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</a:t>
            </a:r>
            <a:r>
              <a:rPr lang="en-US" altLang="ko-KR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13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답변으로 처리 되어도 엑셀 파일에서 이상치처럼 보이지 않음</a:t>
            </a:r>
            <a:endParaRPr lang="en-US" sz="1350" dirty="0">
              <a:solidFill>
                <a:srgbClr val="1F2D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13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</a:t>
            </a:r>
            <a:r>
              <a:rPr lang="en-US" sz="1350" b="1" dirty="0" err="1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2064" y="278892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23A2E">
                <a:alpha val="65000"/>
              </a:srgbClr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971800"/>
            <a:ext cx="475488" cy="475488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3085917"/>
            <a:ext cx="247254" cy="247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9304" y="2990088"/>
            <a:ext cx="25886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R004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289304" y="322783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비꼬는 칭찬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1520" y="3630168"/>
            <a:ext cx="1477213" cy="329184"/>
          </a:xfrm>
          <a:prstGeom prst="roundRect">
            <a:avLst>
              <a:gd name="adj" fmla="val 13889"/>
            </a:avLst>
          </a:prstGeom>
          <a:solidFill>
            <a:srgbClr val="FBEAE7"/>
          </a:solidFill>
          <a:ln w="9525">
            <a:solidFill>
              <a:srgbClr val="B23A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3630168"/>
            <a:ext cx="14772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긍정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2208733" y="3630168"/>
            <a:ext cx="109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318461" y="3630168"/>
            <a:ext cx="1477213" cy="329184"/>
          </a:xfrm>
          <a:prstGeom prst="roundRect">
            <a:avLst>
              <a:gd name="adj" fmla="val 13889"/>
            </a:avLst>
          </a:prstGeom>
          <a:solidFill>
            <a:srgbClr val="E7F3EE"/>
          </a:solidFill>
          <a:ln w="9525">
            <a:solidFill>
              <a:srgbClr val="2E8B6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318461" y="3630168"/>
            <a:ext cx="14772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749808" y="4087368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"정말 빠르네요^^" — 반어. 표면 단어만 보면 긍정으로 오분류.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4289450" y="278892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23A2E">
                <a:alpha val="65000"/>
              </a:srgbClr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90618" y="2971800"/>
            <a:ext cx="475488" cy="475488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736" y="3085917"/>
            <a:ext cx="247254" cy="24725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66690" y="2990088"/>
            <a:ext cx="25886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R022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66690" y="322783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문의를 불만으로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4508906" y="3630168"/>
            <a:ext cx="1477213" cy="329184"/>
          </a:xfrm>
          <a:prstGeom prst="roundRect">
            <a:avLst>
              <a:gd name="adj" fmla="val 13889"/>
            </a:avLst>
          </a:prstGeom>
          <a:solidFill>
            <a:srgbClr val="FBEAE7"/>
          </a:solidFill>
          <a:ln w="9525">
            <a:solidFill>
              <a:srgbClr val="B23A2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08906" y="3630168"/>
            <a:ext cx="14772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불만</a:t>
            </a:r>
            <a:endParaRPr lang="en-US" sz="980" dirty="0"/>
          </a:p>
        </p:txBody>
      </p:sp>
      <p:sp>
        <p:nvSpPr>
          <p:cNvPr id="26" name="Text 21"/>
          <p:cNvSpPr/>
          <p:nvPr/>
        </p:nvSpPr>
        <p:spPr>
          <a:xfrm>
            <a:off x="5986120" y="3630168"/>
            <a:ext cx="109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095848" y="3630168"/>
            <a:ext cx="1477213" cy="329184"/>
          </a:xfrm>
          <a:prstGeom prst="roundRect">
            <a:avLst>
              <a:gd name="adj" fmla="val 13889"/>
            </a:avLst>
          </a:prstGeom>
          <a:solidFill>
            <a:srgbClr val="E7F3EE"/>
          </a:solidFill>
          <a:ln w="9525">
            <a:solidFill>
              <a:srgbClr val="2E8B6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095848" y="3630168"/>
            <a:ext cx="14772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문의</a:t>
            </a:r>
            <a:endParaRPr lang="en-US" sz="980" dirty="0"/>
          </a:p>
        </p:txBody>
      </p:sp>
      <p:sp>
        <p:nvSpPr>
          <p:cNvPr id="29" name="Text 24"/>
          <p:cNvSpPr/>
          <p:nvPr/>
        </p:nvSpPr>
        <p:spPr>
          <a:xfrm>
            <a:off x="4527194" y="4087368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"환불 절차 알려주세요" — 불만 아님. 불만 건수가 부풀려진다.</a:t>
            </a:r>
            <a:endParaRPr lang="en-US" sz="1030" dirty="0"/>
          </a:p>
        </p:txBody>
      </p:sp>
      <p:sp>
        <p:nvSpPr>
          <p:cNvPr id="30" name="Shape 25"/>
          <p:cNvSpPr/>
          <p:nvPr/>
        </p:nvSpPr>
        <p:spPr>
          <a:xfrm>
            <a:off x="8066837" y="278892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23A2E">
                <a:alpha val="65000"/>
              </a:srgbClr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268005" y="2971800"/>
            <a:ext cx="475488" cy="475488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122" y="3085917"/>
            <a:ext cx="247254" cy="24725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844077" y="2990088"/>
            <a:ext cx="25886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R006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844077" y="322783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무관한 응답</a:t>
            </a:r>
            <a:endParaRPr lang="en-US" sz="1350" dirty="0"/>
          </a:p>
        </p:txBody>
      </p:sp>
      <p:sp>
        <p:nvSpPr>
          <p:cNvPr id="35" name="Shape 29"/>
          <p:cNvSpPr/>
          <p:nvPr/>
        </p:nvSpPr>
        <p:spPr>
          <a:xfrm>
            <a:off x="8286293" y="3630168"/>
            <a:ext cx="1477213" cy="329184"/>
          </a:xfrm>
          <a:prstGeom prst="roundRect">
            <a:avLst>
              <a:gd name="adj" fmla="val 13889"/>
            </a:avLst>
          </a:prstGeom>
          <a:solidFill>
            <a:srgbClr val="FBEAE7"/>
          </a:solidFill>
          <a:ln w="9525">
            <a:solidFill>
              <a:srgbClr val="B23A2E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286293" y="3630168"/>
            <a:ext cx="14772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서비스 불만</a:t>
            </a:r>
            <a:endParaRPr lang="en-US" sz="980" dirty="0"/>
          </a:p>
        </p:txBody>
      </p:sp>
      <p:sp>
        <p:nvSpPr>
          <p:cNvPr id="37" name="Text 31"/>
          <p:cNvSpPr/>
          <p:nvPr/>
        </p:nvSpPr>
        <p:spPr>
          <a:xfrm>
            <a:off x="9763506" y="3630168"/>
            <a:ext cx="109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9873234" y="3630168"/>
            <a:ext cx="1477213" cy="329184"/>
          </a:xfrm>
          <a:prstGeom prst="roundRect">
            <a:avLst>
              <a:gd name="adj" fmla="val 13889"/>
            </a:avLst>
          </a:prstGeom>
          <a:solidFill>
            <a:srgbClr val="E7F3EE"/>
          </a:solidFill>
          <a:ln w="9525">
            <a:solidFill>
              <a:srgbClr val="2E8B6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873234" y="3630168"/>
            <a:ext cx="14772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무관(제외)</a:t>
            </a:r>
            <a:endParaRPr lang="en-US" sz="980" dirty="0"/>
          </a:p>
        </p:txBody>
      </p:sp>
      <p:sp>
        <p:nvSpPr>
          <p:cNvPr id="40" name="Text 34"/>
          <p:cNvSpPr/>
          <p:nvPr/>
        </p:nvSpPr>
        <p:spPr>
          <a:xfrm>
            <a:off x="8304581" y="4087368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"구내식당 메뉴가 별로" — 서비스와 무관. 분석에서 빼야 한다.</a:t>
            </a:r>
            <a:endParaRPr lang="en-US" sz="1030" dirty="0"/>
          </a:p>
        </p:txBody>
      </p:sp>
      <p:sp>
        <p:nvSpPr>
          <p:cNvPr id="41" name="Shape 35"/>
          <p:cNvSpPr/>
          <p:nvPr/>
        </p:nvSpPr>
        <p:spPr>
          <a:xfrm>
            <a:off x="512064" y="5285232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667512" y="5422392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516" y="5501396"/>
            <a:ext cx="171176" cy="17117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078992" y="5394960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처방 — spot-check (표본 대조)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768096" y="5797296"/>
            <a:ext cx="1056406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끝나면 원문 5건을 무작위로 뽑아 라벨과 직접 대조한다. 한 건이라도 어긋나면 스키마·지시를 수정하고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시키기</a:t>
            </a: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'전수 신뢰' 대신 '표본 검증'.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③ 집계 · 재현성 · 함정 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여러 번 하고 </a:t>
            </a:r>
            <a:r>
              <a:rPr lang="en-US" altLang="ko-KR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비교하게 해서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재현성을</a:t>
            </a:r>
            <a:r>
              <a:rPr lang="en-US" sz="27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623560" cy="1325880"/>
          </a:xfrm>
          <a:prstGeom prst="roundRect">
            <a:avLst>
              <a:gd name="adj" fmla="val 4828"/>
            </a:avLst>
          </a:prstGeom>
          <a:solidFill>
            <a:srgbClr val="EAF1F8"/>
          </a:solidFill>
          <a:ln w="9525">
            <a:solidFill>
              <a:srgbClr val="27496D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18488"/>
            <a:ext cx="329184" cy="329184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" y="1697492"/>
            <a:ext cx="171176" cy="17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5910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③ 집계 + 대시보드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011680"/>
            <a:ext cx="5093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140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sz="1400" i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결과로 감정 분포, 주제별 건수, 긴급도 '상'인 핵심 요청 목록을 집계하고 대시보드로 보여줘.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944368"/>
            <a:ext cx="5623560" cy="1234440"/>
          </a:xfrm>
          <a:prstGeom prst="roundRect">
            <a:avLst>
              <a:gd name="adj" fmla="val 5185"/>
            </a:avLst>
          </a:prstGeom>
          <a:solidFill>
            <a:srgbClr val="E7F3EE"/>
          </a:solidFill>
          <a:ln w="9525">
            <a:solidFill>
              <a:srgbClr val="2E8B6F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3081528"/>
            <a:ext cx="329184" cy="32918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" y="3160532"/>
            <a:ext cx="171176" cy="171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30540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예상 결과 (강사 참고)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3456432"/>
            <a:ext cx="5129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불만/문의/무관이 분리된 깨끗한 집계가 나온다. 긴급도 '상' 목록은 곧장 실무 액션 아이템으로 쓸 수 있다.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6928" y="4315968"/>
            <a:ext cx="5623560" cy="1847088"/>
          </a:xfrm>
          <a:prstGeom prst="roundRect">
            <a:avLst>
              <a:gd name="adj" fmla="val 3465"/>
            </a:avLst>
          </a:prstGeom>
          <a:solidFill>
            <a:srgbClr val="FBEAE7"/>
          </a:solidFill>
          <a:ln w="9525">
            <a:solidFill>
              <a:srgbClr val="B23A2E">
                <a:alpha val="45000"/>
              </a:srgbClr>
            </a:solidFill>
            <a:prstDash val="solid"/>
          </a:ln>
          <a:effectLst>
            <a:outerShdw blurRad="88900" dist="25400" dir="5400000" algn="bl" rotWithShape="0">
              <a:srgbClr val="8AA0B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4453128"/>
            <a:ext cx="329184" cy="329184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80" y="4532132"/>
            <a:ext cx="171176" cy="171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44256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⑦ — 비재현성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828032"/>
            <a:ext cx="51297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응답·같은 프롬프트라도 실행마다 라벨이 조금씩 달라질 수 있다.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처방: ① 스키마를 명시적·구체적으로 고정 ② 2회 실행해 차이 비교 ③ 어긋난 건만 사람이 확정.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1481328"/>
            <a:ext cx="5223967" cy="1783080"/>
          </a:xfrm>
          <a:prstGeom prst="roundRect">
            <a:avLst>
              <a:gd name="adj" fmla="val 4103"/>
            </a:avLst>
          </a:prstGeom>
          <a:solidFill>
            <a:srgbClr val="F2F6F9"/>
          </a:solidFill>
          <a:ln w="12700">
            <a:solidFill>
              <a:srgbClr val="D6DFE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01968" y="1572768"/>
            <a:ext cx="4821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점검 루프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601968" y="1993392"/>
            <a:ext cx="139385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7496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01968" y="1993392"/>
            <a:ext cx="13938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</a:t>
            </a:r>
            <a:r>
              <a:rPr lang="ko-KR" altLang="en-US" sz="1100" b="1" dirty="0">
                <a:solidFill>
                  <a:srgbClr val="2749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95818" y="1993392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315858" y="1993392"/>
            <a:ext cx="139385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E838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15858" y="1993392"/>
            <a:ext cx="13938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</a:t>
            </a:r>
            <a:r>
              <a:rPr lang="ko-KR" altLang="en-US" sz="11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709709" y="1993392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0029749" y="1993392"/>
            <a:ext cx="139385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2771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029749" y="1993392"/>
            <a:ext cx="13938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차이만 검토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601968" y="2907792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돌려 같으면 신뢰 ↑, 다르면 그 부분만 사람이 확정.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400800" y="3401568"/>
            <a:ext cx="5223967" cy="1371600"/>
          </a:xfrm>
          <a:prstGeom prst="roundRect">
            <a:avLst>
              <a:gd name="adj" fmla="val 5333"/>
            </a:avLst>
          </a:prstGeom>
          <a:solidFill>
            <a:srgbClr val="E2F0F0"/>
          </a:solidFill>
          <a:ln w="12700">
            <a:solidFill>
              <a:srgbClr val="0E8388">
                <a:alpha val="60000"/>
              </a:srgbClr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601968" y="3584448"/>
            <a:ext cx="502920" cy="502920"/>
          </a:xfrm>
          <a:prstGeom prst="ellipse">
            <a:avLst/>
          </a:prstGeom>
          <a:solidFill>
            <a:srgbClr val="0A6164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69" y="3705149"/>
            <a:ext cx="261518" cy="26151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223760" y="3584448"/>
            <a:ext cx="4218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곁들이기 — AI </a:t>
            </a:r>
            <a:r>
              <a:rPr lang="en-US" sz="1400" b="1" dirty="0" err="1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</a:t>
            </a:r>
            <a:r>
              <a:rPr lang="en-US" sz="1400" b="1" dirty="0">
                <a:solidFill>
                  <a:srgbClr val="0A6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675120" y="4114800"/>
            <a:ext cx="46753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로직을 담은 작은 도구(아티팩트 앱)를 만들어, 새 응답을 붙여넣으면 자동으로 분류되게 — '일회성 분석'에서 '재사용 도구'로.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400800" y="4910328"/>
            <a:ext cx="5223967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D6DFE7"/>
            </a:solidFill>
            <a:prstDash val="solid"/>
          </a:ln>
          <a:effectLst>
            <a:outerShdw blurRad="114300" dist="38100" dir="5400000" algn="bl" rotWithShape="0">
              <a:srgbClr val="1B3A57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601968" y="5065776"/>
            <a:ext cx="457200" cy="457200"/>
          </a:xfrm>
          <a:prstGeom prst="ellipse">
            <a:avLst/>
          </a:prstGeom>
          <a:solidFill>
            <a:srgbClr val="C2771A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517550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78040" y="5074920"/>
            <a:ext cx="43095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675120" y="5468112"/>
            <a:ext cx="467532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 '상' 응답만 모아, 담당 부서에 보낼 요약 메일 </a:t>
            </a:r>
            <a:r>
              <a:rPr lang="en-US" sz="10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초안을</a:t>
            </a:r>
            <a:r>
              <a:rPr lang="en-US" sz="10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1050" dirty="0">
              <a:solidFill>
                <a:srgbClr val="1F2D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ko-KR" altLang="en-US" sz="10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</a:t>
            </a:r>
            <a:r>
              <a:rPr lang="en-US" sz="1050" dirty="0" err="1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원문과</a:t>
            </a:r>
            <a:r>
              <a:rPr lang="en-US" sz="10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대조해 사실 검증 후 발송.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Claude로 익히는 데이터 리터러시 &amp; 데이터 가공 실무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11277295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669280" cy="5669280"/>
          </a:xfrm>
          <a:prstGeom prst="ellipse">
            <a:avLst/>
          </a:prstGeom>
          <a:solidFill>
            <a:srgbClr val="0E7C7B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474720"/>
            <a:ext cx="3840480" cy="3840480"/>
          </a:xfrm>
          <a:prstGeom prst="ellipse">
            <a:avLst/>
          </a:prstGeom>
          <a:solidFill>
            <a:srgbClr val="E8973A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</a:t>
            </a: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시각화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 ‘여러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콘텐츠’로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r>
              <a:rPr lang="ko-KR" altLang="en-US" sz="3000" b="1" dirty="0">
                <a:solidFill>
                  <a:srgbClr val="E897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분석에 이용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7512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시각자료를 넘어 보이스 · 영상까지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 핵심 메시지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 자료를 이용해 여러가지 형태로 가공 가능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20440" y="2331720"/>
            <a:ext cx="1524305" cy="2103120"/>
          </a:xfrm>
          <a:prstGeom prst="line">
            <a:avLst/>
          </a:prstGeom>
          <a:noFill/>
          <a:ln w="27940">
            <a:solidFill>
              <a:srgbClr val="D3E1E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520440" y="3611880"/>
            <a:ext cx="1524305" cy="822960"/>
          </a:xfrm>
          <a:prstGeom prst="line">
            <a:avLst/>
          </a:prstGeom>
          <a:noFill/>
          <a:ln w="27940">
            <a:solidFill>
              <a:srgbClr val="D3E1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520440" y="4434840"/>
            <a:ext cx="1524305" cy="457200"/>
          </a:xfrm>
          <a:prstGeom prst="line">
            <a:avLst/>
          </a:prstGeom>
          <a:noFill/>
          <a:ln w="27940">
            <a:solidFill>
              <a:srgbClr val="D3E1E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7147865" y="2331720"/>
            <a:ext cx="1950415" cy="2103120"/>
          </a:xfrm>
          <a:prstGeom prst="line">
            <a:avLst/>
          </a:prstGeom>
          <a:noFill/>
          <a:ln w="27940">
            <a:solidFill>
              <a:srgbClr val="D3E1E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147865" y="3611880"/>
            <a:ext cx="1950415" cy="822960"/>
          </a:xfrm>
          <a:prstGeom prst="line">
            <a:avLst/>
          </a:prstGeom>
          <a:noFill/>
          <a:ln w="27940">
            <a:solidFill>
              <a:srgbClr val="D3E1E3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147865" y="4434840"/>
            <a:ext cx="1950415" cy="457200"/>
          </a:xfrm>
          <a:prstGeom prst="line">
            <a:avLst/>
          </a:prstGeom>
          <a:noFill/>
          <a:ln w="27940">
            <a:solidFill>
              <a:srgbClr val="D3E1E3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953305" y="39319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/>
          <a:effectLst>
            <a:outerShdw blurRad="127000" dist="38100" dir="5400000" algn="bl" rotWithShape="0">
              <a:srgbClr val="1B2B3A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6265" y="4123944"/>
            <a:ext cx="640080" cy="64008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285" y="4283964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953305" y="4764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53305" y="5038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AA8A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1개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77240" y="187452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EAF3F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945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18488" y="1874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마인드맵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77240" y="315468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EAF3F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47472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18488" y="31546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테이블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77240" y="443484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EAF3F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0120" y="4617720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7548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18488" y="4434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· FAQ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9098280" y="187452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EAF3F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219456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39528" y="1874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· 플래시카드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9098280" y="315468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BF1E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281160" y="3337560"/>
            <a:ext cx="548640" cy="54864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347472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939528" y="31546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오디오(팟캐스트)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9098280" y="443484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BF1E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9281160" y="4617720"/>
            <a:ext cx="548640" cy="54864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0" y="475488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939528" y="4434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영상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777240" y="5806440"/>
            <a:ext cx="10634472" cy="566928"/>
          </a:xfrm>
          <a:prstGeom prst="roundRect">
            <a:avLst>
              <a:gd name="adj" fmla="val 14516"/>
            </a:avLst>
          </a:prstGeom>
          <a:solidFill>
            <a:srgbClr val="13314C"/>
          </a:solidFill>
          <a:ln/>
        </p:spPr>
      </p:sp>
      <p:sp>
        <p:nvSpPr>
          <p:cNvPr id="40" name="Text 31"/>
          <p:cNvSpPr/>
          <p:nvPr/>
        </p:nvSpPr>
        <p:spPr>
          <a:xfrm>
            <a:off x="1005840" y="5806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출처를 ‘여러 번 재활용’ — 이것이 ‘똑똑한 AI 활용’의 본질입니다.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E7C7B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2926080" cy="2926080"/>
          </a:xfrm>
          <a:prstGeom prst="ellipse">
            <a:avLst/>
          </a:prstGeom>
          <a:solidFill>
            <a:srgbClr val="E8973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en-US" sz="1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914400" cy="91440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06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3AA8A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 세팅 · 5분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31920" y="25146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버튼 다 눌러서 </a:t>
            </a:r>
            <a:endParaRPr kumimoji="0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‘걸어두기’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59352" y="37947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보이스·영상은 생성에 몇 분이 걸립니다. NotebookLM은 백그라운드로 생성되므로,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걸리는 것을 먼저 눌러 걸어두고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동안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세팅 순서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우측에 있는 각종 기능 버튼 다 누르기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5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3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E1E86A24-C2C6-9F0C-51B5-C4BA9F286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37" y="1334550"/>
            <a:ext cx="5751837" cy="509415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7E9D82B-CC20-8B5E-319C-F39F37DF8123}"/>
              </a:ext>
            </a:extLst>
          </p:cNvPr>
          <p:cNvSpPr txBox="1"/>
          <p:nvPr/>
        </p:nvSpPr>
        <p:spPr>
          <a:xfrm>
            <a:off x="401855" y="1870328"/>
            <a:ext cx="37755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선택 필요한 것들은 빠른 실습을 위해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또는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선택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무료 등급 한도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플랜으로도 실습은 충분 — 단,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생성은 안될 수 있음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EAF3F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2996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노트북당 소스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EAF3F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02996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66160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채팅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BF1E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2996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개요 / 하루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BF1E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202996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35440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Research / 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77640"/>
            <a:ext cx="603504" cy="603504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128516"/>
            <a:ext cx="301752" cy="30175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4041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 · 고급형 제한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41248" y="4572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등급 결과물에는 워터마크가 남습니다.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영상의 ‘시네마틱’ 고급형은 상위(Ultra) 등급 전용입니다.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무료 기능 범위에서 오늘 실습은 충분히 가능합니다.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245352" y="370332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0F2A43"/>
          </a:solidFill>
          <a:ln/>
        </p:spPr>
      </p:sp>
      <p:sp>
        <p:nvSpPr>
          <p:cNvPr id="22" name="Shape 19"/>
          <p:cNvSpPr/>
          <p:nvPr/>
        </p:nvSpPr>
        <p:spPr>
          <a:xfrm>
            <a:off x="6519672" y="3977640"/>
            <a:ext cx="603504" cy="603504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128516"/>
            <a:ext cx="301752" cy="3017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51192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직전 재확인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537960" y="45720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NotebookLM은 기능·옵션·등급 체계가 매우 빠르게 바뀝니다(오디오 포맷·영상 언어·등급이 2025~2026년 계속 변경). 위 수치는 2026년 6월 기준 — 구체적 한도는 수업 직전 다시 확인하세요.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E7C7B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2926080" cy="2926080"/>
          </a:xfrm>
          <a:prstGeom prst="ellipse">
            <a:avLst/>
          </a:prstGeom>
          <a:solidFill>
            <a:srgbClr val="E8973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1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914400" cy="91440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06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87579" y="2514600"/>
            <a:ext cx="863386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별로 어떤 옵션이 있는지 확인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59352" y="37947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기능들은 거의 즉시 생성됩니다. 비디오·오디오가 백그라운드로 돌아가는 동안 하나씩 직접 눌러봅니다.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기능은 [무엇 · 언제 쓰나 · 노하우/함정 · 직접 해보기] 순서로 익힙니다.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마인드맵 · MIND MAP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마인드맵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보고서의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구조를 가지치기로 한눈에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06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107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28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282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81328" y="19842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출처의 개념·주제 간 연결을 가지치기 형태로 시각화. 노드를 클릭해 하위 개념으로 확장.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615184"/>
            <a:ext cx="5806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766060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9077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743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481328" y="29992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보고서의 구조를 빠르게 파악하거나, 발표 전 전체 그림을 잡을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630168"/>
            <a:ext cx="5806440" cy="1170432"/>
          </a:xfrm>
          <a:prstGeom prst="roundRect">
            <a:avLst>
              <a:gd name="adj" fmla="val 7031"/>
            </a:avLst>
          </a:prstGeom>
          <a:solidFill>
            <a:srgbClr val="F4ECE9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931920"/>
            <a:ext cx="566928" cy="566928"/>
          </a:xfrm>
          <a:prstGeom prst="ellipse">
            <a:avLst/>
          </a:prstGeom>
          <a:solidFill>
            <a:srgbClr val="C0563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0736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7581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 err="1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481328" y="4014216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오른쪽 화살표 버튼을 누르면 나오는 프롬프트를 통해 마인드맵을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원하는대로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커스터마이징 할 수 있음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898FE8B8-7C7E-BB25-BC30-13C0E0618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101739"/>
            <a:ext cx="4355592" cy="3172905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63BF8DE-8FC8-AA75-1C9F-D768E2C14B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1847" y="4520745"/>
            <a:ext cx="4849009" cy="19793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</a:t>
            </a:r>
            <a:r>
              <a:rPr kumimoji="0" lang="en-US" sz="1200" b="1" i="0" u="none" strike="noStrike" kern="0" cap="none" spc="200" normalizeH="0" baseline="0" noProof="0" dirty="0" err="1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DATA TABLE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표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내용을 비교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39840" y="12755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결과를 구글 시트로 내보내 재가공할 수 있습니다.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29400" y="1691640"/>
            <a:ext cx="50109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30568" y="188823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02996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62088" y="18196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562088" y="207568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항목·기준을 비교하거나, 결과를 구글 시트로 내보내 재가공할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629400" y="2798064"/>
            <a:ext cx="5010912" cy="1170432"/>
          </a:xfrm>
          <a:prstGeom prst="roundRect">
            <a:avLst>
              <a:gd name="adj" fmla="val 7031"/>
            </a:avLst>
          </a:prstGeom>
          <a:solidFill>
            <a:srgbClr val="FBF1E4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5" name="Shape 9"/>
          <p:cNvSpPr/>
          <p:nvPr/>
        </p:nvSpPr>
        <p:spPr>
          <a:xfrm>
            <a:off x="6830568" y="3099816"/>
            <a:ext cx="566928" cy="566928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324154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62088" y="29260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62088" y="3182112"/>
            <a:ext cx="4050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비교하기 원하는 행과 열을 직접 지정하면 더 효율적으로 사용할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행은 동아시아와 서구권을 비교하고 열은 예산과 평균 수명을 비교해줘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2AF5C2E-F437-34F8-051A-4D768C92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093" y="4398420"/>
            <a:ext cx="4591970" cy="227757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C2CE658-33CF-E452-B40C-C6499FA49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254" y="1691640"/>
            <a:ext cx="4284072" cy="434324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</a:t>
            </a: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출력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업로드한 보고서를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스타일의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’로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변환해주는 기능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406640" y="19279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 err="1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259134" y="2425848"/>
            <a:ext cx="4574245" cy="3511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하단에 보면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해당 보고서로 변환하기 유용한 다른 추천 형식을 제안함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B2B3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B2B3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Notebooklm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이 만들어준 프롬프트를 참고해서 내가 원하는 방향과 스타일로 보고서 만들게 하면 됨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B2B3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B2B3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보고서를 국민들에게 설명하는 게시물 형태로 작성해야 하는 경우가 많을 것 같은데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,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블로그 게시물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‘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기능을 이용하면 유용함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811D4300-28DF-2FDA-1ACC-5EA22BF61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20" y="1676282"/>
            <a:ext cx="6530461" cy="351173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퀴즈 · 플래시카드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플래시카드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문제·암기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카드로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만들기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8823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0299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81965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81328" y="20756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내용을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기반으로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암기용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플래시카드를 자동 생성.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798064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994660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1363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926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481328" y="31821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자료·온보딩 자료를 만들 때, 또는 본인의 내용 숙지를 점검할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904488"/>
            <a:ext cx="5806440" cy="1170432"/>
          </a:xfrm>
          <a:prstGeom prst="roundRect">
            <a:avLst>
              <a:gd name="adj" fmla="val 7031"/>
            </a:avLst>
          </a:prstGeom>
          <a:solidFill>
            <a:srgbClr val="FBF1E4"/>
          </a:solidFill>
          <a:ln/>
          <a:effectLst>
            <a:outerShdw blurRad="762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206240"/>
            <a:ext cx="566928" cy="566928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34797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0325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481328" y="4288536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난이도·범위를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“기초 개념 위주로”, “정의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암기용으로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”.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객관식으로 만들어달라고 프롬프트에 지정할 수도 있음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7AC4887-88E6-7CBE-46EE-49F288EC5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406" y="1691639"/>
            <a:ext cx="4363594" cy="390873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오디오 개요 · AUDIO OVERVIEW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</a:t>
            </a:r>
            <a:r>
              <a:rPr kumimoji="0" lang="ko-KR" alt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오버뷰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AI 진행자의 ‘대화형 팟캐스트’로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EAF3F4"/>
          </a:solidFill>
          <a:ln/>
          <a:effectLst>
            <a:outerShdw blurRad="889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AI 진행자가 출처를 대화체로 풀어주는 오디오. 출퇴근·이동 중 ‘듣는 보고서’로 쓸 수 있습니다.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355080" y="16916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6327648" y="1985692"/>
            <a:ext cx="5285232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3A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464263" y="2273728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423" y="241088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68350" y="2154856"/>
            <a:ext cx="426164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운전이나 이동 중에 보고서의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정도의 지식만 가볍게 들으며 습득하고 싶을 때 사용하면 유용함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ADE40F8A-06EA-0157-7BFC-980AC2F9F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98" y="3176454"/>
            <a:ext cx="4525006" cy="246731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오디오 개요 — 포맷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</a:t>
            </a:r>
            <a:r>
              <a:rPr kumimoji="0" lang="ko-KR" alt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오버뷰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용도에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따라 4가지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톤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6760" y="2746197"/>
            <a:ext cx="2670048" cy="1212304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55684" y="2746197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분석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42792" y="342670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있는 대화형 요약. 가장 폭넓게 쓰는 기본 포맷.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921400" y="2746197"/>
            <a:ext cx="2670048" cy="1212304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90324" y="2746197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9177432" y="342670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핵심 요약. 빠르게 감 잡을 때.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086760" y="4395968"/>
            <a:ext cx="2670048" cy="1212304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4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255684" y="43959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342792" y="5076475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자료에 대한 건설적 피드백. 비판적 점검용.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921400" y="4395968"/>
            <a:ext cx="2670048" cy="1212304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4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090324" y="43959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9177432" y="5076475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진행자가 찬반으로 토론. 쟁점 양면 보기.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338328" y="1426464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0F2A43"/>
          </a:solidFill>
          <a:ln/>
        </p:spPr>
      </p:sp>
      <p:sp>
        <p:nvSpPr>
          <p:cNvPr id="33" name="Shape 27"/>
          <p:cNvSpPr/>
          <p:nvPr/>
        </p:nvSpPr>
        <p:spPr>
          <a:xfrm>
            <a:off x="612648" y="1600200"/>
            <a:ext cx="493776" cy="493776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1252728" y="1426464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AA8A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AA8A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3AA8A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만들어 톤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E97A20FC-0294-EF14-7FDB-05EBE7BDB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68" y="2672138"/>
            <a:ext cx="5126960" cy="315505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오디오 개요 — 노하우 · 함정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</a:t>
            </a:r>
            <a:r>
              <a:rPr kumimoji="0" lang="ko-KR" alt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오버뷰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사항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4ECE9"/>
          </a:solidFill>
          <a:ln/>
          <a:effectLst>
            <a:outerShdw blurRad="889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C0563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74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길이는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‘설정’만으로 정해지지 않는다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8308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옵션이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있지만(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길게도 있음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실제 길이는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소스의 </a:t>
            </a: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개수·분량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됨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해줘”라고만 해선 안 늘어납니다.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하려면 소스를 늘려야 합니다.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5458968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" y="3794760"/>
            <a:ext cx="640080" cy="64008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39547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초점 지시가 핵심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68680" y="4370832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프롬프트로 진행자에게 방향을 줄 수 있습니다.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“◯◯ 주제에 집중해줘”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“이미 아는 ◯◯는 건너뛰고”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81344" y="3520440"/>
            <a:ext cx="5458968" cy="2395728"/>
          </a:xfrm>
          <a:prstGeom prst="roundRect">
            <a:avLst>
              <a:gd name="adj" fmla="val 3435"/>
            </a:avLst>
          </a:prstGeom>
          <a:solidFill>
            <a:srgbClr val="0F2A43"/>
          </a:solidFill>
          <a:ln/>
        </p:spPr>
      </p:sp>
      <p:sp>
        <p:nvSpPr>
          <p:cNvPr id="15" name="Shape 11"/>
          <p:cNvSpPr/>
          <p:nvPr/>
        </p:nvSpPr>
        <p:spPr>
          <a:xfrm>
            <a:off x="6473952" y="3794760"/>
            <a:ext cx="640080" cy="64008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972" y="39547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32904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검증은 내 몫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73952" y="43708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7D6D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생성물이라 부정확·잡음이 있을 수 있습니다. 외부로 공유하기 전, 반드시 듣고 출처와 대조해 검증하세요.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</a:t>
            </a: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개요 · VIDEO OVERVIEW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 개요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영상처럼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만들어줌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99221" y="130759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741469" y="1594424"/>
            <a:ext cx="5933975" cy="1514535"/>
          </a:xfrm>
          <a:prstGeom prst="roundRect">
            <a:avLst>
              <a:gd name="adj" fmla="val 9000"/>
            </a:avLst>
          </a:prstGeom>
          <a:solidFill>
            <a:srgbClr val="EAF3F4"/>
          </a:solidFill>
          <a:ln/>
          <a:effectLst>
            <a:outerShdw blurRad="63500" dist="25400" dir="5400000" algn="bl" rotWithShape="0">
              <a:srgbClr val="1B2B3A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610150" y="1704153"/>
            <a:ext cx="4742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 용도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610150" y="1978473"/>
            <a:ext cx="4742964" cy="113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비전문가 대상으로 쉽게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</a:t>
            </a:r>
          </a:p>
          <a:p>
            <a:pPr marL="171450" marR="0" lvl="0" indent="-1714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차트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그래프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복잡한 내용을 시각자료와 함께 공부하고 싶을 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5741469" y="3315902"/>
            <a:ext cx="5933975" cy="1514535"/>
          </a:xfrm>
          <a:prstGeom prst="roundRect">
            <a:avLst>
              <a:gd name="adj" fmla="val 9000"/>
            </a:avLst>
          </a:prstGeom>
          <a:solidFill>
            <a:srgbClr val="FBF1E4"/>
          </a:solidFill>
          <a:ln/>
          <a:effectLst>
            <a:outerShdw blurRad="63500" dist="25400" dir="5400000" algn="bl" rotWithShape="0">
              <a:srgbClr val="1B2B3A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610150" y="3425631"/>
            <a:ext cx="4742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용도로 동영상 필요할 때 유용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610150" y="3807274"/>
            <a:ext cx="474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기반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‘시네마틱’ 고급형은 상위(Ultra) 등급 전용 · 무료 등급은 워터마크가 남습니다.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84447E7-043C-9B2A-BA12-8647F6BA4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20" y="1467630"/>
            <a:ext cx="4114800" cy="356502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</a:t>
            </a: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개요 — </a:t>
            </a:r>
            <a:r>
              <a:rPr kumimoji="0" lang="en-US" sz="1200" b="1" i="0" u="none" strike="noStrike" kern="0" cap="none" spc="200" normalizeH="0" baseline="0" noProof="0" dirty="0" err="1">
                <a:ln>
                  <a:noFill/>
                </a:ln>
                <a:solidFill>
                  <a:srgbClr val="C056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 개요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62817" y="1470853"/>
            <a:ext cx="6414757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+mn-lt"/>
                <a:ea typeface="+mn-ea"/>
                <a:cs typeface="Malgun Gothic" pitchFamily="34" charset="-120"/>
              </a:rPr>
              <a:t>생성이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+mn-lt"/>
                <a:ea typeface="+mn-ea"/>
                <a:cs typeface="Malgun Gothic" pitchFamily="34" charset="-12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+mn-lt"/>
                <a:ea typeface="+mn-ea"/>
                <a:cs typeface="Malgun Gothic" pitchFamily="34" charset="-120"/>
              </a:rPr>
              <a:t>오래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+mn-lt"/>
                <a:ea typeface="+mn-ea"/>
                <a:cs typeface="Malgun Gothic" pitchFamily="34" charset="-120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걸리고 오류도 자주 발생하는 점 유의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2A4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프롬프트 통해서 목적에 맞게 동영상 방향 설정 가능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2A4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(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오늘은 실습이라 빠르게 요약 기능으로만 만들었음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무료 사용자는 워터마크 남음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유료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(pro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이상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)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사용자는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시네마틱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영상도 생성 가능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2A4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0F2A43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340096"/>
            <a:ext cx="457200" cy="457200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44982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21208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897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비디오 개요를 재생 → “3분 비전문가용” 지시를 넣어 한 번 더 생성해 차이를 본다.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595E9DC-A8BB-90E8-6DD2-A34C2EC59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4254840" cy="3466907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Custom Instructions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643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설정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 노트북의 ‘모든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출력’에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우측 상단에 버튼 있음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7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</a:rPr>
              <a:t>적용 후 어떻게 프롬프트가 출력되는지 테스트하기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47088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98882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922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A5E5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81328" y="2103120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단위로 페르소나·맥락·출력 형식을 미리 지정(최대 약 1만 자). Chat 설정(Configure Chat) → ‘Custom’ 모드에서 입력.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999232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EAF3F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" y="3200400"/>
            <a:ext cx="566928" cy="566928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3421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1455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481328" y="345643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지시가 채팅뿐 아니라 오디오 개요 등 Studio 출력까지 모든 생성물에 적용 → 톤·관점·형식이 일관돼집니다.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4352543"/>
            <a:ext cx="5532120" cy="1831107"/>
          </a:xfrm>
          <a:prstGeom prst="roundRect">
            <a:avLst>
              <a:gd name="adj" fmla="val 7627"/>
            </a:avLst>
          </a:prstGeom>
          <a:solidFill>
            <a:srgbClr val="FBF1E4"/>
          </a:solidFill>
          <a:ln/>
          <a:effectLst>
            <a:outerShdw blurRad="76200" dist="2540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" y="4553712"/>
            <a:ext cx="566928" cy="566928"/>
          </a:xfrm>
          <a:prstGeom prst="ellipse">
            <a:avLst/>
          </a:prstGeom>
          <a:solidFill>
            <a:srgbClr val="E8973A"/>
          </a:solidFill>
          <a:ln/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69544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4988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C9742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481328" y="48097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“도움이 되게 해줘” 같은 막연한 지시는 효과 없음.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아래와 같이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역할·맥락·출력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페르소나를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적으세요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B3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B2B3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담당자에게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보고하는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분석가다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전문용어는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풀어서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결론을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3가지로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0F2A4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심화 활용 · KISTI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11430000" y="6464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E7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FED81FD0-D4C8-6238-F4A6-A63447C30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134085"/>
            <a:ext cx="5713119" cy="340618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18E9137-0242-9151-85AE-6173B7A4A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8047" y="1425126"/>
            <a:ext cx="2276793" cy="140037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10241280" y="5486400"/>
            <a:ext cx="310680" cy="1828440"/>
          </a:xfrm>
          <a:prstGeom prst="roundRect">
            <a:avLst>
              <a:gd name="adj" fmla="val 14706"/>
            </a:avLst>
          </a:prstGeom>
          <a:solidFill>
            <a:srgbClr val="14B8A6">
              <a:alpha val="28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2"/>
          <p:cNvSpPr/>
          <p:nvPr/>
        </p:nvSpPr>
        <p:spPr>
          <a:xfrm>
            <a:off x="11155680" y="5486400"/>
            <a:ext cx="310680" cy="2377080"/>
          </a:xfrm>
          <a:prstGeom prst="roundRect">
            <a:avLst>
              <a:gd name="adj" fmla="val 14706"/>
            </a:avLst>
          </a:prstGeom>
          <a:solidFill>
            <a:srgbClr val="14B8A6">
              <a:alpha val="28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4"/>
          <p:cNvSpPr/>
          <p:nvPr/>
        </p:nvSpPr>
        <p:spPr>
          <a:xfrm>
            <a:off x="822960" y="1371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KISTI </a:t>
            </a:r>
            <a:r>
              <a:rPr kumimoji="0" lang="zh-CN" altLang="en-US" sz="14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강의  </a:t>
            </a:r>
            <a:r>
              <a:rPr kumimoji="0" lang="en-US" sz="14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  2026.06 </a:t>
            </a:r>
            <a:r>
              <a:rPr kumimoji="0" lang="zh-CN" altLang="en-US" sz="14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기준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77240" y="1874520"/>
            <a:ext cx="104238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5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 시각화 자동화</a:t>
            </a:r>
            <a:endParaRPr kumimoji="0" lang="en-US" sz="54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95600" y="30632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300" b="1" i="0" u="none" strike="noStrike" kern="1200" cap="none" spc="-1" normalizeH="0" baseline="0" noProof="0">
                <a:ln>
                  <a:noFill/>
                </a:ln>
                <a:solidFill>
                  <a:srgbClr val="CFE6E4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차트가 아니라 </a:t>
            </a:r>
            <a:r>
              <a:rPr kumimoji="0" lang="en-US" sz="230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‘내가 쓸 차트 프로그램’</a:t>
            </a:r>
            <a:r>
              <a:rPr kumimoji="0" lang="zh-CN" altLang="en-US" sz="2300" b="1" i="0" u="none" strike="noStrike" kern="1200" cap="none" spc="-1" normalizeH="0" baseline="0" noProof="0">
                <a:ln>
                  <a:noFill/>
                </a:ln>
                <a:solidFill>
                  <a:srgbClr val="CFE6E4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을 만든다</a:t>
            </a:r>
            <a:endParaRPr kumimoji="0" lang="en-US" sz="23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22DAC-6ACE-1B61-0B3C-F0319BA7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>
            <a:extLst>
              <a:ext uri="{FF2B5EF4-FFF2-40B4-BE49-F238E27FC236}">
                <a16:creationId xmlns:a16="http://schemas.microsoft.com/office/drawing/2014/main" id="{8C3C8256-B1BE-61DF-F53C-D5B78B7976DC}"/>
              </a:ext>
            </a:extLst>
          </p:cNvPr>
          <p:cNvSpPr/>
          <p:nvPr/>
        </p:nvSpPr>
        <p:spPr>
          <a:xfrm>
            <a:off x="7589520" y="182880"/>
            <a:ext cx="4571640" cy="64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3000" b="1" i="0" u="none" strike="noStrike" kern="1200" cap="none" spc="-1" normalizeH="0" baseline="0" noProof="0">
                <a:ln>
                  <a:noFill/>
                </a:ln>
                <a:solidFill>
                  <a:srgbClr val="103948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endParaRPr kumimoji="0" lang="en-US" sz="43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9" name="Text 3">
            <a:extLst>
              <a:ext uri="{FF2B5EF4-FFF2-40B4-BE49-F238E27FC236}">
                <a16:creationId xmlns:a16="http://schemas.microsoft.com/office/drawing/2014/main" id="{C5E71965-DB75-7FA1-20DD-A8D4639D4C80}"/>
              </a:ext>
            </a:extLst>
          </p:cNvPr>
          <p:cNvSpPr/>
          <p:nvPr/>
        </p:nvSpPr>
        <p:spPr>
          <a:xfrm>
            <a:off x="841320" y="2194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NO-CODE CHART AUTOMATION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0" name="Text 4">
            <a:extLst>
              <a:ext uri="{FF2B5EF4-FFF2-40B4-BE49-F238E27FC236}">
                <a16:creationId xmlns:a16="http://schemas.microsoft.com/office/drawing/2014/main" id="{7E6590C6-7314-7744-8A47-D6F00F43FD6B}"/>
              </a:ext>
            </a:extLst>
          </p:cNvPr>
          <p:cNvSpPr/>
          <p:nvPr/>
        </p:nvSpPr>
        <p:spPr>
          <a:xfrm>
            <a:off x="804600" y="2560320"/>
            <a:ext cx="74977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노코딩</a:t>
            </a:r>
            <a:endParaRPr kumimoji="0" lang="en-US" sz="4000" b="0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</a:t>
            </a:r>
            <a:r>
              <a:rPr lang="ko-KR" altLang="en-US" sz="4000" b="1" spc="-1" dirty="0">
                <a:solidFill>
                  <a:srgbClr val="FFFFFF"/>
                </a:solidFill>
                <a:latin typeface="Malgun Gothic"/>
                <a:ea typeface="Malgun Gothic"/>
              </a:rPr>
              <a:t>그리기 및 </a:t>
            </a:r>
            <a:r>
              <a:rPr kumimoji="0" lang="zh-CN" alt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자동화</a:t>
            </a:r>
            <a:endParaRPr kumimoji="0" lang="en-US" sz="4000" b="0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1" name="Text 5">
            <a:extLst>
              <a:ext uri="{FF2B5EF4-FFF2-40B4-BE49-F238E27FC236}">
                <a16:creationId xmlns:a16="http://schemas.microsoft.com/office/drawing/2014/main" id="{547BDEEE-EB8B-8509-EC12-0F651E99B1CD}"/>
              </a:ext>
            </a:extLst>
          </p:cNvPr>
          <p:cNvSpPr/>
          <p:nvPr/>
        </p:nvSpPr>
        <p:spPr>
          <a:xfrm>
            <a:off x="841320" y="406908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도구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 Claude.ai (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파일 업로드 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아티팩트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 ·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트랙 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A(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행정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2" name="Shape 6">
            <a:extLst>
              <a:ext uri="{FF2B5EF4-FFF2-40B4-BE49-F238E27FC236}">
                <a16:creationId xmlns:a16="http://schemas.microsoft.com/office/drawing/2014/main" id="{13BA413F-F9C2-D561-5CFC-937E0BEE3046}"/>
              </a:ext>
            </a:extLst>
          </p:cNvPr>
          <p:cNvSpPr/>
          <p:nvPr/>
        </p:nvSpPr>
        <p:spPr>
          <a:xfrm>
            <a:off x="868680" y="4773240"/>
            <a:ext cx="145800" cy="145800"/>
          </a:xfrm>
          <a:prstGeom prst="ellipse">
            <a:avLst/>
          </a:prstGeom>
          <a:solidFill>
            <a:srgbClr val="6FA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3" name="Text 7">
            <a:extLst>
              <a:ext uri="{FF2B5EF4-FFF2-40B4-BE49-F238E27FC236}">
                <a16:creationId xmlns:a16="http://schemas.microsoft.com/office/drawing/2014/main" id="{2BD28959-C295-4D70-D10C-F720997C4F8E}"/>
              </a:ext>
            </a:extLst>
          </p:cNvPr>
          <p:cNvSpPr/>
          <p:nvPr/>
        </p:nvSpPr>
        <p:spPr>
          <a:xfrm>
            <a:off x="1170360" y="466344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CSV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올려 자연어만으로 보고서급 차트 만들기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4" name="Shape 8">
            <a:extLst>
              <a:ext uri="{FF2B5EF4-FFF2-40B4-BE49-F238E27FC236}">
                <a16:creationId xmlns:a16="http://schemas.microsoft.com/office/drawing/2014/main" id="{59D43600-653D-71F5-2BB3-D171EE088D0C}"/>
              </a:ext>
            </a:extLst>
          </p:cNvPr>
          <p:cNvSpPr/>
          <p:nvPr/>
        </p:nvSpPr>
        <p:spPr>
          <a:xfrm>
            <a:off x="868680" y="5248800"/>
            <a:ext cx="145800" cy="145800"/>
          </a:xfrm>
          <a:prstGeom prst="ellipse">
            <a:avLst/>
          </a:prstGeom>
          <a:solidFill>
            <a:srgbClr val="6FA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5" name="Text 9">
            <a:extLst>
              <a:ext uri="{FF2B5EF4-FFF2-40B4-BE49-F238E27FC236}">
                <a16:creationId xmlns:a16="http://schemas.microsoft.com/office/drawing/2014/main" id="{48D11B94-4CF1-C11C-6C4E-6B41FECB723A}"/>
              </a:ext>
            </a:extLst>
          </p:cNvPr>
          <p:cNvSpPr/>
          <p:nvPr/>
        </p:nvSpPr>
        <p:spPr>
          <a:xfrm>
            <a:off x="1170360" y="513900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재사용 워크플로우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프롬프트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‘차트 공장’ 세우기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6" name="Shape 10">
            <a:extLst>
              <a:ext uri="{FF2B5EF4-FFF2-40B4-BE49-F238E27FC236}">
                <a16:creationId xmlns:a16="http://schemas.microsoft.com/office/drawing/2014/main" id="{EEF46FAF-188A-3724-5816-BD85E4A87521}"/>
              </a:ext>
            </a:extLst>
          </p:cNvPr>
          <p:cNvSpPr/>
          <p:nvPr/>
        </p:nvSpPr>
        <p:spPr>
          <a:xfrm>
            <a:off x="868680" y="5724000"/>
            <a:ext cx="145800" cy="145800"/>
          </a:xfrm>
          <a:prstGeom prst="ellipse">
            <a:avLst/>
          </a:prstGeom>
          <a:solidFill>
            <a:srgbClr val="6FA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7" name="Text 11">
            <a:extLst>
              <a:ext uri="{FF2B5EF4-FFF2-40B4-BE49-F238E27FC236}">
                <a16:creationId xmlns:a16="http://schemas.microsoft.com/office/drawing/2014/main" id="{1E41E944-7B80-1EB3-3F9A-67CB45DFDCB4}"/>
              </a:ext>
            </a:extLst>
          </p:cNvPr>
          <p:cNvSpPr/>
          <p:nvPr/>
        </p:nvSpPr>
        <p:spPr>
          <a:xfrm>
            <a:off x="1170360" y="561456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노코딩의 한계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결정성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체감 → 왜 블록 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3·4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코드가 필요한지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171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D47AB-EFB5-A816-FC8C-E08E8725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0">
            <a:extLst>
              <a:ext uri="{FF2B5EF4-FFF2-40B4-BE49-F238E27FC236}">
                <a16:creationId xmlns:a16="http://schemas.microsoft.com/office/drawing/2014/main" id="{2234F76C-965B-E7FC-A22A-4331B10DEA37}"/>
              </a:ext>
            </a:extLst>
          </p:cNvPr>
          <p:cNvSpPr/>
          <p:nvPr/>
        </p:nvSpPr>
        <p:spPr>
          <a:xfrm>
            <a:off x="592372" y="40230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학습 목표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9" name="Text 1">
            <a:extLst>
              <a:ext uri="{FF2B5EF4-FFF2-40B4-BE49-F238E27FC236}">
                <a16:creationId xmlns:a16="http://schemas.microsoft.com/office/drawing/2014/main" id="{4CB4137B-63D3-76F8-176A-B1F72D853DD8}"/>
              </a:ext>
            </a:extLst>
          </p:cNvPr>
          <p:cNvSpPr/>
          <p:nvPr/>
        </p:nvSpPr>
        <p:spPr>
          <a:xfrm>
            <a:off x="511920" y="770553"/>
            <a:ext cx="10908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트랙 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A(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행정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데이터로 ‘코드 없이’ 보고서 차트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–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앞 수업보다 차트 더 구체적으로 그려보기 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2" name="Text 4">
            <a:extLst>
              <a:ext uri="{FF2B5EF4-FFF2-40B4-BE49-F238E27FC236}">
                <a16:creationId xmlns:a16="http://schemas.microsoft.com/office/drawing/2014/main" id="{03C001F2-E277-42B0-64D1-77D71FB56070}"/>
              </a:ext>
            </a:extLst>
          </p:cNvPr>
          <p:cNvSpPr/>
          <p:nvPr/>
        </p:nvSpPr>
        <p:spPr>
          <a:xfrm>
            <a:off x="539280" y="1867473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학습 목표</a:t>
            </a:r>
            <a:endParaRPr kumimoji="0" lang="en-US" sz="1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3" name="Shape 5">
            <a:extLst>
              <a:ext uri="{FF2B5EF4-FFF2-40B4-BE49-F238E27FC236}">
                <a16:creationId xmlns:a16="http://schemas.microsoft.com/office/drawing/2014/main" id="{83624342-C568-E67A-4FE1-4CBBB51E2841}"/>
              </a:ext>
            </a:extLst>
          </p:cNvPr>
          <p:cNvSpPr/>
          <p:nvPr/>
        </p:nvSpPr>
        <p:spPr>
          <a:xfrm>
            <a:off x="475560" y="2340720"/>
            <a:ext cx="5577480" cy="84096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4" name="Shape 6">
            <a:extLst>
              <a:ext uri="{FF2B5EF4-FFF2-40B4-BE49-F238E27FC236}">
                <a16:creationId xmlns:a16="http://schemas.microsoft.com/office/drawing/2014/main" id="{19320A06-4397-7626-FB31-E6F45C50F78E}"/>
              </a:ext>
            </a:extLst>
          </p:cNvPr>
          <p:cNvSpPr/>
          <p:nvPr/>
        </p:nvSpPr>
        <p:spPr>
          <a:xfrm>
            <a:off x="722520" y="2523600"/>
            <a:ext cx="475200" cy="47520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05" name="Image 0" descr="preencoded.png">
            <a:extLst>
              <a:ext uri="{FF2B5EF4-FFF2-40B4-BE49-F238E27FC236}">
                <a16:creationId xmlns:a16="http://schemas.microsoft.com/office/drawing/2014/main" id="{DDAB46E6-3B63-6053-D3AB-0380F387B13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46000" y="264708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406" name="Text 7">
            <a:extLst>
              <a:ext uri="{FF2B5EF4-FFF2-40B4-BE49-F238E27FC236}">
                <a16:creationId xmlns:a16="http://schemas.microsoft.com/office/drawing/2014/main" id="{CCFAB73A-2BAB-2866-0567-FD434D86123E}"/>
              </a:ext>
            </a:extLst>
          </p:cNvPr>
          <p:cNvSpPr/>
          <p:nvPr/>
        </p:nvSpPr>
        <p:spPr>
          <a:xfrm>
            <a:off x="1389960" y="2340720"/>
            <a:ext cx="45716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Claude.ai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CSV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올려 자연어만으로 보고서급 차트를 만든다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7" name="Shape 8">
            <a:extLst>
              <a:ext uri="{FF2B5EF4-FFF2-40B4-BE49-F238E27FC236}">
                <a16:creationId xmlns:a16="http://schemas.microsoft.com/office/drawing/2014/main" id="{F19E144E-B522-ADBA-764B-470BC62EBBF5}"/>
              </a:ext>
            </a:extLst>
          </p:cNvPr>
          <p:cNvSpPr/>
          <p:nvPr/>
        </p:nvSpPr>
        <p:spPr>
          <a:xfrm>
            <a:off x="475560" y="3300840"/>
            <a:ext cx="5577480" cy="84096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8" name="Shape 9">
            <a:extLst>
              <a:ext uri="{FF2B5EF4-FFF2-40B4-BE49-F238E27FC236}">
                <a16:creationId xmlns:a16="http://schemas.microsoft.com/office/drawing/2014/main" id="{EBF2C133-FAE6-0BA7-6A78-161FCF426B6F}"/>
              </a:ext>
            </a:extLst>
          </p:cNvPr>
          <p:cNvSpPr/>
          <p:nvPr/>
        </p:nvSpPr>
        <p:spPr>
          <a:xfrm>
            <a:off x="722520" y="3483720"/>
            <a:ext cx="475200" cy="47520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09" name="Image 1" descr="preencoded.png">
            <a:extLst>
              <a:ext uri="{FF2B5EF4-FFF2-40B4-BE49-F238E27FC236}">
                <a16:creationId xmlns:a16="http://schemas.microsoft.com/office/drawing/2014/main" id="{A5511BF7-46C9-FED3-1BCA-E23B281535A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46000" y="36072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410" name="Text 10">
            <a:extLst>
              <a:ext uri="{FF2B5EF4-FFF2-40B4-BE49-F238E27FC236}">
                <a16:creationId xmlns:a16="http://schemas.microsoft.com/office/drawing/2014/main" id="{76957E90-54B3-70DE-764A-86641211474A}"/>
              </a:ext>
            </a:extLst>
          </p:cNvPr>
          <p:cNvSpPr/>
          <p:nvPr/>
        </p:nvSpPr>
        <p:spPr>
          <a:xfrm>
            <a:off x="1389960" y="3300840"/>
            <a:ext cx="45716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재사용 워크플로우로 ‘차트 공장’을 세운다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프롬프트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1" name="Shape 11">
            <a:extLst>
              <a:ext uri="{FF2B5EF4-FFF2-40B4-BE49-F238E27FC236}">
                <a16:creationId xmlns:a16="http://schemas.microsoft.com/office/drawing/2014/main" id="{18C53095-86C7-1204-77EA-A76F71F23F6E}"/>
              </a:ext>
            </a:extLst>
          </p:cNvPr>
          <p:cNvSpPr/>
          <p:nvPr/>
        </p:nvSpPr>
        <p:spPr>
          <a:xfrm>
            <a:off x="475560" y="4260960"/>
            <a:ext cx="5577480" cy="84096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2" name="Shape 12">
            <a:extLst>
              <a:ext uri="{FF2B5EF4-FFF2-40B4-BE49-F238E27FC236}">
                <a16:creationId xmlns:a16="http://schemas.microsoft.com/office/drawing/2014/main" id="{E3E461C6-69A3-5F68-2651-22343759EDB5}"/>
              </a:ext>
            </a:extLst>
          </p:cNvPr>
          <p:cNvSpPr/>
          <p:nvPr/>
        </p:nvSpPr>
        <p:spPr>
          <a:xfrm>
            <a:off x="722520" y="4443840"/>
            <a:ext cx="475200" cy="47520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13" name="Image 2" descr="preencoded.png">
            <a:extLst>
              <a:ext uri="{FF2B5EF4-FFF2-40B4-BE49-F238E27FC236}">
                <a16:creationId xmlns:a16="http://schemas.microsoft.com/office/drawing/2014/main" id="{C1A459B2-C137-67C9-B076-CE6E63625502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46000" y="456732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414" name="Text 13">
            <a:extLst>
              <a:ext uri="{FF2B5EF4-FFF2-40B4-BE49-F238E27FC236}">
                <a16:creationId xmlns:a16="http://schemas.microsoft.com/office/drawing/2014/main" id="{B3E2A5D2-F292-CFBB-AED7-8C84F0E67CBC}"/>
              </a:ext>
            </a:extLst>
          </p:cNvPr>
          <p:cNvSpPr/>
          <p:nvPr/>
        </p:nvSpPr>
        <p:spPr>
          <a:xfrm>
            <a:off x="1389960" y="4260960"/>
            <a:ext cx="45716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노코딩의 한계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결정성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이해하고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왜 블록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3·4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코드가 필요한지 체감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5" name="Shape 14">
            <a:extLst>
              <a:ext uri="{FF2B5EF4-FFF2-40B4-BE49-F238E27FC236}">
                <a16:creationId xmlns:a16="http://schemas.microsoft.com/office/drawing/2014/main" id="{9C2C22FF-74B9-CAA2-DE21-F65800C17890}"/>
              </a:ext>
            </a:extLst>
          </p:cNvPr>
          <p:cNvSpPr/>
          <p:nvPr/>
        </p:nvSpPr>
        <p:spPr>
          <a:xfrm>
            <a:off x="475560" y="5285160"/>
            <a:ext cx="5577480" cy="959760"/>
          </a:xfrm>
          <a:prstGeom prst="roundRect">
            <a:avLst>
              <a:gd name="adj" fmla="val 8571"/>
            </a:avLst>
          </a:prstGeom>
          <a:solidFill>
            <a:srgbClr val="E5EDFB"/>
          </a:solidFill>
          <a:ln w="12700">
            <a:solidFill>
              <a:srgbClr val="BBCD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6" name="Text 15">
            <a:extLst>
              <a:ext uri="{FF2B5EF4-FFF2-40B4-BE49-F238E27FC236}">
                <a16:creationId xmlns:a16="http://schemas.microsoft.com/office/drawing/2014/main" id="{3149E954-73E5-BF47-05BA-93905EF2A611}"/>
              </a:ext>
            </a:extLst>
          </p:cNvPr>
          <p:cNvSpPr/>
          <p:nvPr/>
        </p:nvSpPr>
        <p:spPr>
          <a:xfrm>
            <a:off x="704160" y="54039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-1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⏱ </a:t>
            </a:r>
            <a:r>
              <a:rPr kumimoji="0" lang="ko-KR" altLang="en-US" sz="1300" b="1" i="0" u="none" strike="noStrike" kern="1200" cap="none" spc="-1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사용 파일 설명</a:t>
            </a:r>
            <a:endParaRPr kumimoji="0" lang="en-US" sz="13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7" name="Text 16">
            <a:extLst>
              <a:ext uri="{FF2B5EF4-FFF2-40B4-BE49-F238E27FC236}">
                <a16:creationId xmlns:a16="http://schemas.microsoft.com/office/drawing/2014/main" id="{770EAFE0-75DA-F7A3-D16E-49A1F5184069}"/>
              </a:ext>
            </a:extLst>
          </p:cNvPr>
          <p:cNvSpPr/>
          <p:nvPr/>
        </p:nvSpPr>
        <p:spPr>
          <a:xfrm>
            <a:off x="704160" y="5742360"/>
            <a:ext cx="5211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trackA_admin.csv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=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부서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×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월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× (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예산편성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예산집행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집행률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인력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과제건수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8" name="Shape 17">
            <a:extLst>
              <a:ext uri="{FF2B5EF4-FFF2-40B4-BE49-F238E27FC236}">
                <a16:creationId xmlns:a16="http://schemas.microsoft.com/office/drawing/2014/main" id="{609B3450-BDD8-C854-D1AC-86EA72966987}"/>
              </a:ext>
            </a:extLst>
          </p:cNvPr>
          <p:cNvSpPr/>
          <p:nvPr/>
        </p:nvSpPr>
        <p:spPr>
          <a:xfrm>
            <a:off x="6300000" y="1947600"/>
            <a:ext cx="5303160" cy="4297320"/>
          </a:xfrm>
          <a:prstGeom prst="roundRect">
            <a:avLst>
              <a:gd name="adj" fmla="val 1915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19" name="Image 3" descr="preencoded.png">
            <a:extLst>
              <a:ext uri="{FF2B5EF4-FFF2-40B4-BE49-F238E27FC236}">
                <a16:creationId xmlns:a16="http://schemas.microsoft.com/office/drawing/2014/main" id="{CB9439A8-200B-FA83-8D40-C8FCF97D78A0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4320" y="21945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20" name="Text 18">
            <a:extLst>
              <a:ext uri="{FF2B5EF4-FFF2-40B4-BE49-F238E27FC236}">
                <a16:creationId xmlns:a16="http://schemas.microsoft.com/office/drawing/2014/main" id="{12030483-4446-F188-646D-C4E8EA4351B1}"/>
              </a:ext>
            </a:extLst>
          </p:cNvPr>
          <p:cNvSpPr/>
          <p:nvPr/>
        </p:nvSpPr>
        <p:spPr>
          <a:xfrm>
            <a:off x="7077240" y="21945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trackA_admin.csv 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스키마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1" name="Shape 19">
            <a:extLst>
              <a:ext uri="{FF2B5EF4-FFF2-40B4-BE49-F238E27FC236}">
                <a16:creationId xmlns:a16="http://schemas.microsoft.com/office/drawing/2014/main" id="{62504750-BE65-EAA8-B65A-F7D7D6355E50}"/>
              </a:ext>
            </a:extLst>
          </p:cNvPr>
          <p:cNvSpPr/>
          <p:nvPr/>
        </p:nvSpPr>
        <p:spPr>
          <a:xfrm>
            <a:off x="6574320" y="2770560"/>
            <a:ext cx="4754520" cy="42012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2" name="Shape 20">
            <a:extLst>
              <a:ext uri="{FF2B5EF4-FFF2-40B4-BE49-F238E27FC236}">
                <a16:creationId xmlns:a16="http://schemas.microsoft.com/office/drawing/2014/main" id="{F1DCE68F-5224-E455-DB34-15BA3A267C32}"/>
              </a:ext>
            </a:extLst>
          </p:cNvPr>
          <p:cNvSpPr/>
          <p:nvPr/>
        </p:nvSpPr>
        <p:spPr>
          <a:xfrm>
            <a:off x="6729840" y="2907720"/>
            <a:ext cx="145800" cy="145800"/>
          </a:xfrm>
          <a:prstGeom prst="ellipse">
            <a:avLst/>
          </a:prstGeom>
          <a:solidFill>
            <a:srgbClr val="6366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3" name="Text 21">
            <a:extLst>
              <a:ext uri="{FF2B5EF4-FFF2-40B4-BE49-F238E27FC236}">
                <a16:creationId xmlns:a16="http://schemas.microsoft.com/office/drawing/2014/main" id="{ABBD4814-CBA4-DB3D-3C24-F951B265F662}"/>
              </a:ext>
            </a:extLst>
          </p:cNvPr>
          <p:cNvSpPr/>
          <p:nvPr/>
        </p:nvSpPr>
        <p:spPr>
          <a:xfrm>
            <a:off x="6985800" y="2770560"/>
            <a:ext cx="2102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department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4" name="Text 22">
            <a:extLst>
              <a:ext uri="{FF2B5EF4-FFF2-40B4-BE49-F238E27FC236}">
                <a16:creationId xmlns:a16="http://schemas.microsoft.com/office/drawing/2014/main" id="{5EADC02A-FE5E-3391-C8B1-D0A9C9B01F8F}"/>
              </a:ext>
            </a:extLst>
          </p:cNvPr>
          <p:cNvSpPr/>
          <p:nvPr/>
        </p:nvSpPr>
        <p:spPr>
          <a:xfrm>
            <a:off x="9043200" y="277056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부서 </a:t>
            </a: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그룹</a:t>
            </a: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</a:t>
            </a: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색 구분</a:t>
            </a: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5" name="Shape 23">
            <a:extLst>
              <a:ext uri="{FF2B5EF4-FFF2-40B4-BE49-F238E27FC236}">
                <a16:creationId xmlns:a16="http://schemas.microsoft.com/office/drawing/2014/main" id="{5F43A871-7510-2A4F-6FD2-FC35627DE718}"/>
              </a:ext>
            </a:extLst>
          </p:cNvPr>
          <p:cNvSpPr/>
          <p:nvPr/>
        </p:nvSpPr>
        <p:spPr>
          <a:xfrm>
            <a:off x="6574320" y="3255120"/>
            <a:ext cx="4754520" cy="42012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6" name="Shape 24">
            <a:extLst>
              <a:ext uri="{FF2B5EF4-FFF2-40B4-BE49-F238E27FC236}">
                <a16:creationId xmlns:a16="http://schemas.microsoft.com/office/drawing/2014/main" id="{420BC0F7-E9F4-6D0E-7137-195501EE5B8E}"/>
              </a:ext>
            </a:extLst>
          </p:cNvPr>
          <p:cNvSpPr/>
          <p:nvPr/>
        </p:nvSpPr>
        <p:spPr>
          <a:xfrm>
            <a:off x="6729840" y="3392280"/>
            <a:ext cx="145800" cy="145800"/>
          </a:xfrm>
          <a:prstGeom prst="ellipse">
            <a:avLst/>
          </a:prstGeom>
          <a:solidFill>
            <a:srgbClr val="6366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7" name="Text 25">
            <a:extLst>
              <a:ext uri="{FF2B5EF4-FFF2-40B4-BE49-F238E27FC236}">
                <a16:creationId xmlns:a16="http://schemas.microsoft.com/office/drawing/2014/main" id="{78FDA1C0-002A-42AE-AF12-642D3F78E4BC}"/>
              </a:ext>
            </a:extLst>
          </p:cNvPr>
          <p:cNvSpPr/>
          <p:nvPr/>
        </p:nvSpPr>
        <p:spPr>
          <a:xfrm>
            <a:off x="6985800" y="3255120"/>
            <a:ext cx="2102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month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8" name="Text 26">
            <a:extLst>
              <a:ext uri="{FF2B5EF4-FFF2-40B4-BE49-F238E27FC236}">
                <a16:creationId xmlns:a16="http://schemas.microsoft.com/office/drawing/2014/main" id="{784FBB9F-1EEF-E2FD-3136-30509C071A50}"/>
              </a:ext>
            </a:extLst>
          </p:cNvPr>
          <p:cNvSpPr/>
          <p:nvPr/>
        </p:nvSpPr>
        <p:spPr>
          <a:xfrm>
            <a:off x="9043200" y="32551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월 </a:t>
            </a: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(x</a:t>
            </a: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축</a:t>
            </a: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9" name="Shape 27">
            <a:extLst>
              <a:ext uri="{FF2B5EF4-FFF2-40B4-BE49-F238E27FC236}">
                <a16:creationId xmlns:a16="http://schemas.microsoft.com/office/drawing/2014/main" id="{1A769F20-02A6-DD24-E72E-E0AA2619DBCB}"/>
              </a:ext>
            </a:extLst>
          </p:cNvPr>
          <p:cNvSpPr/>
          <p:nvPr/>
        </p:nvSpPr>
        <p:spPr>
          <a:xfrm>
            <a:off x="6574320" y="3739680"/>
            <a:ext cx="4754520" cy="42012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Shape 28">
            <a:extLst>
              <a:ext uri="{FF2B5EF4-FFF2-40B4-BE49-F238E27FC236}">
                <a16:creationId xmlns:a16="http://schemas.microsoft.com/office/drawing/2014/main" id="{590FA164-7E78-836C-C252-262E53EF676D}"/>
              </a:ext>
            </a:extLst>
          </p:cNvPr>
          <p:cNvSpPr/>
          <p:nvPr/>
        </p:nvSpPr>
        <p:spPr>
          <a:xfrm>
            <a:off x="6729840" y="3876840"/>
            <a:ext cx="145800" cy="1458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1" name="Text 29">
            <a:extLst>
              <a:ext uri="{FF2B5EF4-FFF2-40B4-BE49-F238E27FC236}">
                <a16:creationId xmlns:a16="http://schemas.microsoft.com/office/drawing/2014/main" id="{87B31262-1825-F17E-4F69-C87665D66517}"/>
              </a:ext>
            </a:extLst>
          </p:cNvPr>
          <p:cNvSpPr/>
          <p:nvPr/>
        </p:nvSpPr>
        <p:spPr>
          <a:xfrm>
            <a:off x="6985800" y="3739680"/>
            <a:ext cx="2102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budget_plan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2" name="Text 30">
            <a:extLst>
              <a:ext uri="{FF2B5EF4-FFF2-40B4-BE49-F238E27FC236}">
                <a16:creationId xmlns:a16="http://schemas.microsoft.com/office/drawing/2014/main" id="{F55B0867-4D59-CFD2-ECFA-1ED2D2DED9FF}"/>
              </a:ext>
            </a:extLst>
          </p:cNvPr>
          <p:cNvSpPr/>
          <p:nvPr/>
        </p:nvSpPr>
        <p:spPr>
          <a:xfrm>
            <a:off x="9043200" y="373968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예산편성액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3" name="Shape 31">
            <a:extLst>
              <a:ext uri="{FF2B5EF4-FFF2-40B4-BE49-F238E27FC236}">
                <a16:creationId xmlns:a16="http://schemas.microsoft.com/office/drawing/2014/main" id="{B5132042-9F09-B317-7506-DC10A0A58271}"/>
              </a:ext>
            </a:extLst>
          </p:cNvPr>
          <p:cNvSpPr/>
          <p:nvPr/>
        </p:nvSpPr>
        <p:spPr>
          <a:xfrm>
            <a:off x="6574320" y="4224600"/>
            <a:ext cx="4754520" cy="42012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4" name="Shape 32">
            <a:extLst>
              <a:ext uri="{FF2B5EF4-FFF2-40B4-BE49-F238E27FC236}">
                <a16:creationId xmlns:a16="http://schemas.microsoft.com/office/drawing/2014/main" id="{D72CF81C-BE63-82C8-414C-2295A99F9DDE}"/>
              </a:ext>
            </a:extLst>
          </p:cNvPr>
          <p:cNvSpPr/>
          <p:nvPr/>
        </p:nvSpPr>
        <p:spPr>
          <a:xfrm>
            <a:off x="6729840" y="4361760"/>
            <a:ext cx="145800" cy="1458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5" name="Text 33">
            <a:extLst>
              <a:ext uri="{FF2B5EF4-FFF2-40B4-BE49-F238E27FC236}">
                <a16:creationId xmlns:a16="http://schemas.microsoft.com/office/drawing/2014/main" id="{2E834DCB-0F87-4190-BC0C-6454DAAEE33A}"/>
              </a:ext>
            </a:extLst>
          </p:cNvPr>
          <p:cNvSpPr/>
          <p:nvPr/>
        </p:nvSpPr>
        <p:spPr>
          <a:xfrm>
            <a:off x="6985800" y="4224600"/>
            <a:ext cx="2102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budget_exec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6" name="Text 34">
            <a:extLst>
              <a:ext uri="{FF2B5EF4-FFF2-40B4-BE49-F238E27FC236}">
                <a16:creationId xmlns:a16="http://schemas.microsoft.com/office/drawing/2014/main" id="{F3EA776E-6880-8315-08A7-B3E1932AFB75}"/>
              </a:ext>
            </a:extLst>
          </p:cNvPr>
          <p:cNvSpPr/>
          <p:nvPr/>
        </p:nvSpPr>
        <p:spPr>
          <a:xfrm>
            <a:off x="9043200" y="422460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예산집행액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7" name="Shape 35">
            <a:extLst>
              <a:ext uri="{FF2B5EF4-FFF2-40B4-BE49-F238E27FC236}">
                <a16:creationId xmlns:a16="http://schemas.microsoft.com/office/drawing/2014/main" id="{5459D66F-26A1-DD22-D42A-0FD2F6C5BA2E}"/>
              </a:ext>
            </a:extLst>
          </p:cNvPr>
          <p:cNvSpPr/>
          <p:nvPr/>
        </p:nvSpPr>
        <p:spPr>
          <a:xfrm>
            <a:off x="6574320" y="4709160"/>
            <a:ext cx="4754520" cy="42012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8" name="Shape 36">
            <a:extLst>
              <a:ext uri="{FF2B5EF4-FFF2-40B4-BE49-F238E27FC236}">
                <a16:creationId xmlns:a16="http://schemas.microsoft.com/office/drawing/2014/main" id="{A1875685-8452-B898-3707-13A9E23E32CF}"/>
              </a:ext>
            </a:extLst>
          </p:cNvPr>
          <p:cNvSpPr/>
          <p:nvPr/>
        </p:nvSpPr>
        <p:spPr>
          <a:xfrm>
            <a:off x="6729840" y="484632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9" name="Text 37">
            <a:extLst>
              <a:ext uri="{FF2B5EF4-FFF2-40B4-BE49-F238E27FC236}">
                <a16:creationId xmlns:a16="http://schemas.microsoft.com/office/drawing/2014/main" id="{C54F8C07-A14F-166B-32FE-AFB00470B30B}"/>
              </a:ext>
            </a:extLst>
          </p:cNvPr>
          <p:cNvSpPr/>
          <p:nvPr/>
        </p:nvSpPr>
        <p:spPr>
          <a:xfrm>
            <a:off x="6985800" y="4709160"/>
            <a:ext cx="2102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exec_rate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0" name="Text 38">
            <a:extLst>
              <a:ext uri="{FF2B5EF4-FFF2-40B4-BE49-F238E27FC236}">
                <a16:creationId xmlns:a16="http://schemas.microsoft.com/office/drawing/2014/main" id="{C42331F0-E8AE-D830-F3A9-FA91A1457C80}"/>
              </a:ext>
            </a:extLst>
          </p:cNvPr>
          <p:cNvSpPr/>
          <p:nvPr/>
        </p:nvSpPr>
        <p:spPr>
          <a:xfrm>
            <a:off x="9043200" y="470916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집행률</a:t>
            </a: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(%)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1" name="Shape 39">
            <a:extLst>
              <a:ext uri="{FF2B5EF4-FFF2-40B4-BE49-F238E27FC236}">
                <a16:creationId xmlns:a16="http://schemas.microsoft.com/office/drawing/2014/main" id="{D9CB1818-2348-3877-B3A6-CB39E79981C6}"/>
              </a:ext>
            </a:extLst>
          </p:cNvPr>
          <p:cNvSpPr/>
          <p:nvPr/>
        </p:nvSpPr>
        <p:spPr>
          <a:xfrm>
            <a:off x="6574320" y="5193720"/>
            <a:ext cx="4754520" cy="42012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2" name="Shape 40">
            <a:extLst>
              <a:ext uri="{FF2B5EF4-FFF2-40B4-BE49-F238E27FC236}">
                <a16:creationId xmlns:a16="http://schemas.microsoft.com/office/drawing/2014/main" id="{9669F0D6-1886-52EB-5BEF-28CA180E3BA4}"/>
              </a:ext>
            </a:extLst>
          </p:cNvPr>
          <p:cNvSpPr/>
          <p:nvPr/>
        </p:nvSpPr>
        <p:spPr>
          <a:xfrm>
            <a:off x="6729840" y="5330880"/>
            <a:ext cx="145800" cy="14580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3" name="Text 41">
            <a:extLst>
              <a:ext uri="{FF2B5EF4-FFF2-40B4-BE49-F238E27FC236}">
                <a16:creationId xmlns:a16="http://schemas.microsoft.com/office/drawing/2014/main" id="{D157E0D7-4269-6472-2ED2-F8ABE1923B57}"/>
              </a:ext>
            </a:extLst>
          </p:cNvPr>
          <p:cNvSpPr/>
          <p:nvPr/>
        </p:nvSpPr>
        <p:spPr>
          <a:xfrm>
            <a:off x="6985800" y="5193720"/>
            <a:ext cx="2102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headcount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4" name="Text 42">
            <a:extLst>
              <a:ext uri="{FF2B5EF4-FFF2-40B4-BE49-F238E27FC236}">
                <a16:creationId xmlns:a16="http://schemas.microsoft.com/office/drawing/2014/main" id="{572E9D0C-F5DB-B276-DB88-E2938E6BD9C9}"/>
              </a:ext>
            </a:extLst>
          </p:cNvPr>
          <p:cNvSpPr/>
          <p:nvPr/>
        </p:nvSpPr>
        <p:spPr>
          <a:xfrm>
            <a:off x="9043200" y="51937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인력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5" name="Shape 43">
            <a:extLst>
              <a:ext uri="{FF2B5EF4-FFF2-40B4-BE49-F238E27FC236}">
                <a16:creationId xmlns:a16="http://schemas.microsoft.com/office/drawing/2014/main" id="{A2C5282E-0EDC-4589-7992-1978AFC7D323}"/>
              </a:ext>
            </a:extLst>
          </p:cNvPr>
          <p:cNvSpPr/>
          <p:nvPr/>
        </p:nvSpPr>
        <p:spPr>
          <a:xfrm>
            <a:off x="6574320" y="5678280"/>
            <a:ext cx="4754520" cy="42012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6" name="Shape 44">
            <a:extLst>
              <a:ext uri="{FF2B5EF4-FFF2-40B4-BE49-F238E27FC236}">
                <a16:creationId xmlns:a16="http://schemas.microsoft.com/office/drawing/2014/main" id="{E6B4EF51-F450-EFCA-29B8-895617CC8A2F}"/>
              </a:ext>
            </a:extLst>
          </p:cNvPr>
          <p:cNvSpPr/>
          <p:nvPr/>
        </p:nvSpPr>
        <p:spPr>
          <a:xfrm>
            <a:off x="6729840" y="5815440"/>
            <a:ext cx="145800" cy="14580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7" name="Text 45">
            <a:extLst>
              <a:ext uri="{FF2B5EF4-FFF2-40B4-BE49-F238E27FC236}">
                <a16:creationId xmlns:a16="http://schemas.microsoft.com/office/drawing/2014/main" id="{6F805428-59A7-0745-AA0C-96DB91FA0171}"/>
              </a:ext>
            </a:extLst>
          </p:cNvPr>
          <p:cNvSpPr/>
          <p:nvPr/>
        </p:nvSpPr>
        <p:spPr>
          <a:xfrm>
            <a:off x="6985800" y="5678280"/>
            <a:ext cx="2102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projects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8" name="Text 46">
            <a:extLst>
              <a:ext uri="{FF2B5EF4-FFF2-40B4-BE49-F238E27FC236}">
                <a16:creationId xmlns:a16="http://schemas.microsoft.com/office/drawing/2014/main" id="{0918EB54-F2F0-1F47-2098-4FB529660AE7}"/>
              </a:ext>
            </a:extLst>
          </p:cNvPr>
          <p:cNvSpPr/>
          <p:nvPr/>
        </p:nvSpPr>
        <p:spPr>
          <a:xfrm>
            <a:off x="9043200" y="567828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과제건수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9" name="Text 47">
            <a:extLst>
              <a:ext uri="{FF2B5EF4-FFF2-40B4-BE49-F238E27FC236}">
                <a16:creationId xmlns:a16="http://schemas.microsoft.com/office/drawing/2014/main" id="{61F5C704-EA0D-5778-BD65-01C2E52281D6}"/>
              </a:ext>
            </a:extLst>
          </p:cNvPr>
          <p:cNvSpPr/>
          <p:nvPr/>
        </p:nvSpPr>
        <p:spPr>
          <a:xfrm>
            <a:off x="6574320" y="59068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1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목표 </a:t>
            </a: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= ‘</a:t>
            </a:r>
            <a:r>
              <a:rPr kumimoji="0" lang="zh-CN" altLang="en-US" sz="1100" b="0" i="1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 한 줄 없이’ 차트를 자동 생산하고</a:t>
            </a: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100" b="0" i="1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매 호 데이터만 갈아 끼우기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1166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CCF9E-F673-BE3F-12FC-D5DEDE46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>
            <a:extLst>
              <a:ext uri="{FF2B5EF4-FFF2-40B4-BE49-F238E27FC236}">
                <a16:creationId xmlns:a16="http://schemas.microsoft.com/office/drawing/2014/main" id="{A49CFA9C-AE72-3A51-EE6F-0F94BEC573E9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(1~3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1" name="Text 1">
            <a:extLst>
              <a:ext uri="{FF2B5EF4-FFF2-40B4-BE49-F238E27FC236}">
                <a16:creationId xmlns:a16="http://schemas.microsoft.com/office/drawing/2014/main" id="{C0DA6338-8CD8-D84F-97DB-4B01C0DF4E97}"/>
              </a:ext>
            </a:extLst>
          </p:cNvPr>
          <p:cNvSpPr/>
          <p:nvPr/>
        </p:nvSpPr>
        <p:spPr>
          <a:xfrm>
            <a:off x="475560" y="548640"/>
            <a:ext cx="112135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만들기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차트 지정 프롬프트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vs </a:t>
            </a:r>
            <a:r>
              <a:rPr 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ai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추천</a:t>
            </a: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으로 차트 그리는 프롬프트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4" name="Text 4">
            <a:extLst>
              <a:ext uri="{FF2B5EF4-FFF2-40B4-BE49-F238E27FC236}">
                <a16:creationId xmlns:a16="http://schemas.microsoft.com/office/drawing/2014/main" id="{A52233B7-65C0-724C-7392-FCED117E7AC2}"/>
              </a:ext>
            </a:extLst>
          </p:cNvPr>
          <p:cNvSpPr/>
          <p:nvPr/>
        </p:nvSpPr>
        <p:spPr>
          <a:xfrm>
            <a:off x="502920" y="1325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① </a:t>
            </a:r>
            <a:r>
              <a:rPr kumimoji="0" lang="en-US" sz="14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kisti</a:t>
            </a:r>
            <a:r>
              <a:rPr kumimoji="0" 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-charts-lecture </a:t>
            </a:r>
            <a:r>
              <a:rPr kumimoji="0" lang="ko-KR" alt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폴더 안에 </a:t>
            </a:r>
            <a:r>
              <a:rPr kumimoji="0" lang="en-US" altLang="ko-KR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data </a:t>
            </a:r>
            <a:r>
              <a:rPr kumimoji="0" lang="ko-KR" alt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폴더 </a:t>
            </a:r>
            <a:r>
              <a:rPr kumimoji="0" lang="zh-CN" alt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trackA_admin.csv </a:t>
            </a:r>
            <a:r>
              <a:rPr kumimoji="0" lang="zh-CN" alt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업로드</a:t>
            </a: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5" name="Shape 5">
            <a:extLst>
              <a:ext uri="{FF2B5EF4-FFF2-40B4-BE49-F238E27FC236}">
                <a16:creationId xmlns:a16="http://schemas.microsoft.com/office/drawing/2014/main" id="{57F6871F-A698-40D1-59ED-47F14F30C1E5}"/>
              </a:ext>
            </a:extLst>
          </p:cNvPr>
          <p:cNvSpPr/>
          <p:nvPr/>
        </p:nvSpPr>
        <p:spPr>
          <a:xfrm>
            <a:off x="502920" y="1783080"/>
            <a:ext cx="5531760" cy="35658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6" name="Shape 6">
            <a:extLst>
              <a:ext uri="{FF2B5EF4-FFF2-40B4-BE49-F238E27FC236}">
                <a16:creationId xmlns:a16="http://schemas.microsoft.com/office/drawing/2014/main" id="{73247A14-2D0F-805A-D3AA-7A09570D3CE4}"/>
              </a:ext>
            </a:extLst>
          </p:cNvPr>
          <p:cNvSpPr/>
          <p:nvPr/>
        </p:nvSpPr>
        <p:spPr>
          <a:xfrm>
            <a:off x="777240" y="2011680"/>
            <a:ext cx="1691280" cy="3286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7" name="Text 7">
            <a:extLst>
              <a:ext uri="{FF2B5EF4-FFF2-40B4-BE49-F238E27FC236}">
                <a16:creationId xmlns:a16="http://schemas.microsoft.com/office/drawing/2014/main" id="{8B338DD6-6231-5E99-B34E-66D738302295}"/>
              </a:ext>
            </a:extLst>
          </p:cNvPr>
          <p:cNvSpPr/>
          <p:nvPr/>
        </p:nvSpPr>
        <p:spPr>
          <a:xfrm>
            <a:off x="777240" y="2011680"/>
            <a:ext cx="1691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②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지정 모드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8" name="Text 8">
            <a:extLst>
              <a:ext uri="{FF2B5EF4-FFF2-40B4-BE49-F238E27FC236}">
                <a16:creationId xmlns:a16="http://schemas.microsoft.com/office/drawing/2014/main" id="{CED01E8D-4B9E-25E9-D15D-462C2062D33C}"/>
              </a:ext>
            </a:extLst>
          </p:cNvPr>
          <p:cNvSpPr/>
          <p:nvPr/>
        </p:nvSpPr>
        <p:spPr>
          <a:xfrm>
            <a:off x="2606040" y="201168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내가 차트 종류를 콕 집음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9" name="Shape 9">
            <a:extLst>
              <a:ext uri="{FF2B5EF4-FFF2-40B4-BE49-F238E27FC236}">
                <a16:creationId xmlns:a16="http://schemas.microsoft.com/office/drawing/2014/main" id="{8FAF857E-C826-6693-1549-492E1BEF7509}"/>
              </a:ext>
            </a:extLst>
          </p:cNvPr>
          <p:cNvSpPr/>
          <p:nvPr/>
        </p:nvSpPr>
        <p:spPr>
          <a:xfrm>
            <a:off x="777240" y="2514600"/>
            <a:ext cx="4983120" cy="2239920"/>
          </a:xfrm>
          <a:prstGeom prst="roundRect">
            <a:avLst>
              <a:gd name="adj" fmla="val 285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0" name="Text 10">
            <a:extLst>
              <a:ext uri="{FF2B5EF4-FFF2-40B4-BE49-F238E27FC236}">
                <a16:creationId xmlns:a16="http://schemas.microsoft.com/office/drawing/2014/main" id="{E329F208-E0CC-AACD-153D-18E3AD581CA8}"/>
              </a:ext>
            </a:extLst>
          </p:cNvPr>
          <p:cNvSpPr/>
          <p:nvPr/>
        </p:nvSpPr>
        <p:spPr>
          <a:xfrm>
            <a:off x="978480" y="2624400"/>
            <a:ext cx="4580640" cy="202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1" u="none" strike="noStrike" kern="1200" cap="none" spc="-1" normalizeH="0" baseline="0" noProof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프롬프트 </a:t>
            </a:r>
            <a:r>
              <a:rPr kumimoji="0" lang="en-US" sz="1150" b="0" i="1" u="none" strike="noStrike" kern="1200" cap="none" spc="-1" normalizeH="0" baseline="0" noProof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150" b="0" i="1" u="none" strike="noStrike" kern="1200" cap="none" spc="-1" normalizeH="0" baseline="0" noProof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그대로 붙여넣기</a:t>
            </a:r>
            <a:r>
              <a:rPr kumimoji="0" lang="en-US" sz="1150" b="0" i="1" u="none" strike="noStrike" kern="1200" cap="none" spc="-1" normalizeH="0" baseline="0" noProof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›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부서별 월간 예산집행액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(budget_exec)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을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묶음 막대그래프로 그려줘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 x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축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=month,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색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=department.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제목 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"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부서별 월 예산집행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",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한글 폰트 안 깨지게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,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범례는 위쪽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,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깔끔한 흰 배경 스타일로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1" name="Text 11">
            <a:extLst>
              <a:ext uri="{FF2B5EF4-FFF2-40B4-BE49-F238E27FC236}">
                <a16:creationId xmlns:a16="http://schemas.microsoft.com/office/drawing/2014/main" id="{50D1AB33-398F-D0E6-5444-95B243C74770}"/>
              </a:ext>
            </a:extLst>
          </p:cNvPr>
          <p:cNvSpPr/>
          <p:nvPr/>
        </p:nvSpPr>
        <p:spPr>
          <a:xfrm>
            <a:off x="777240" y="48646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부서별 색이 구분된 묶음 막대 차트가 대화 안에 나타난다</a:t>
            </a: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2" name="Shape 12">
            <a:extLst>
              <a:ext uri="{FF2B5EF4-FFF2-40B4-BE49-F238E27FC236}">
                <a16:creationId xmlns:a16="http://schemas.microsoft.com/office/drawing/2014/main" id="{55DEFFF8-AAEB-1791-EC91-528FBC8602E7}"/>
              </a:ext>
            </a:extLst>
          </p:cNvPr>
          <p:cNvSpPr/>
          <p:nvPr/>
        </p:nvSpPr>
        <p:spPr>
          <a:xfrm>
            <a:off x="6126480" y="1783080"/>
            <a:ext cx="5531760" cy="35658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3" name="Shape 13">
            <a:extLst>
              <a:ext uri="{FF2B5EF4-FFF2-40B4-BE49-F238E27FC236}">
                <a16:creationId xmlns:a16="http://schemas.microsoft.com/office/drawing/2014/main" id="{C3429B67-DCE8-5F43-0807-A133D7DF561B}"/>
              </a:ext>
            </a:extLst>
          </p:cNvPr>
          <p:cNvSpPr/>
          <p:nvPr/>
        </p:nvSpPr>
        <p:spPr>
          <a:xfrm>
            <a:off x="6400800" y="2011680"/>
            <a:ext cx="1691280" cy="3286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4" name="Text 14">
            <a:extLst>
              <a:ext uri="{FF2B5EF4-FFF2-40B4-BE49-F238E27FC236}">
                <a16:creationId xmlns:a16="http://schemas.microsoft.com/office/drawing/2014/main" id="{5B14C55D-CB0D-2985-3370-FDB18EFADDF7}"/>
              </a:ext>
            </a:extLst>
          </p:cNvPr>
          <p:cNvSpPr/>
          <p:nvPr/>
        </p:nvSpPr>
        <p:spPr>
          <a:xfrm>
            <a:off x="6400800" y="2011680"/>
            <a:ext cx="1691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③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추천 모드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5" name="Text 15">
            <a:extLst>
              <a:ext uri="{FF2B5EF4-FFF2-40B4-BE49-F238E27FC236}">
                <a16:creationId xmlns:a16="http://schemas.microsoft.com/office/drawing/2014/main" id="{569AB02E-FAD9-5662-9C33-B2CBD0BFD76A}"/>
              </a:ext>
            </a:extLst>
          </p:cNvPr>
          <p:cNvSpPr/>
          <p:nvPr/>
        </p:nvSpPr>
        <p:spPr>
          <a:xfrm>
            <a:off x="8229600" y="201168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AI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알아서 고름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6" name="Shape 16">
            <a:extLst>
              <a:ext uri="{FF2B5EF4-FFF2-40B4-BE49-F238E27FC236}">
                <a16:creationId xmlns:a16="http://schemas.microsoft.com/office/drawing/2014/main" id="{953749DB-DEB6-7B80-AAFF-97CB0A7D482A}"/>
              </a:ext>
            </a:extLst>
          </p:cNvPr>
          <p:cNvSpPr/>
          <p:nvPr/>
        </p:nvSpPr>
        <p:spPr>
          <a:xfrm>
            <a:off x="6400800" y="2514600"/>
            <a:ext cx="4983120" cy="2239920"/>
          </a:xfrm>
          <a:prstGeom prst="roundRect">
            <a:avLst>
              <a:gd name="adj" fmla="val 285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7" name="Text 17">
            <a:extLst>
              <a:ext uri="{FF2B5EF4-FFF2-40B4-BE49-F238E27FC236}">
                <a16:creationId xmlns:a16="http://schemas.microsoft.com/office/drawing/2014/main" id="{562FEE17-C973-F1DE-C266-E938BC032ACF}"/>
              </a:ext>
            </a:extLst>
          </p:cNvPr>
          <p:cNvSpPr/>
          <p:nvPr/>
        </p:nvSpPr>
        <p:spPr>
          <a:xfrm>
            <a:off x="6602040" y="2624400"/>
            <a:ext cx="4580640" cy="202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프롬프트 </a:t>
            </a:r>
            <a:r>
              <a:rPr kumimoji="0" lang="en-US" sz="115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15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그대로 붙여넣기</a:t>
            </a:r>
            <a:r>
              <a:rPr kumimoji="0" lang="en-US" sz="115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› </a:t>
            </a:r>
            <a:r>
              <a:rPr kumimoji="0" lang="zh-CN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이 데이터에서 경영진 보고에 가장 용한 차트 </a:t>
            </a: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3</a:t>
            </a:r>
            <a:r>
              <a:rPr kumimoji="0" lang="zh-CN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개를 네가 골라서 그려줘</a:t>
            </a: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각 차트마다 왜 골랐는지 한 줄</a:t>
            </a:r>
            <a:r>
              <a:rPr kumimoji="0" lang="en-US" sz="105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zh-CN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설명도 붙여줘</a:t>
            </a: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8" name="Text 18">
            <a:extLst>
              <a:ext uri="{FF2B5EF4-FFF2-40B4-BE49-F238E27FC236}">
                <a16:creationId xmlns:a16="http://schemas.microsoft.com/office/drawing/2014/main" id="{1F7F37D6-CB8A-FEB2-F612-5C7CB787903B}"/>
              </a:ext>
            </a:extLst>
          </p:cNvPr>
          <p:cNvSpPr/>
          <p:nvPr/>
        </p:nvSpPr>
        <p:spPr>
          <a:xfrm>
            <a:off x="6400800" y="48646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추천 차트 </a:t>
            </a: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r>
              <a:rPr kumimoji="0" lang="zh-CN" alt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종 </a:t>
            </a: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zh-CN" alt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선택 이유가 함께 제시된다</a:t>
            </a:r>
            <a:r>
              <a:rPr kumimoji="0" lang="en-US" sz="1100" b="0" i="1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7632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4AD6B-E803-8C39-F86F-B26CE362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 0">
            <a:extLst>
              <a:ext uri="{FF2B5EF4-FFF2-40B4-BE49-F238E27FC236}">
                <a16:creationId xmlns:a16="http://schemas.microsoft.com/office/drawing/2014/main" id="{708CAF25-EB42-93A3-6753-DBC171E426CE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(4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0" name="Text 1">
            <a:extLst>
              <a:ext uri="{FF2B5EF4-FFF2-40B4-BE49-F238E27FC236}">
                <a16:creationId xmlns:a16="http://schemas.microsoft.com/office/drawing/2014/main" id="{83729A48-CBF6-4D23-83B4-796F42C1BE1D}"/>
              </a:ext>
            </a:extLst>
          </p:cNvPr>
          <p:cNvSpPr/>
          <p:nvPr/>
        </p:nvSpPr>
        <p:spPr>
          <a:xfrm>
            <a:off x="475560" y="548640"/>
            <a:ext cx="11380904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인터랙티브 </a:t>
            </a:r>
            <a:r>
              <a:rPr kumimoji="0" lang="en-US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Plotly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대시보드 만들기 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아티팩트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0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plotly</a:t>
            </a:r>
            <a:r>
              <a:rPr kumimoji="0" lang="en-US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lang="ko-KR" altLang="en-US" sz="2000" b="1" spc="-1" dirty="0">
                <a:solidFill>
                  <a:srgbClr val="1E293B"/>
                </a:solidFill>
                <a:latin typeface="Malgun Gothic"/>
                <a:ea typeface="Malgun Gothic"/>
              </a:rPr>
              <a:t>라는 라이브러리 사용하라고 직접 지정해주면 인터랙티브 대시보드로 </a:t>
            </a:r>
            <a:r>
              <a:rPr lang="ko-KR" altLang="en-US" sz="2000" b="1" spc="-1" dirty="0" err="1">
                <a:solidFill>
                  <a:srgbClr val="1E293B"/>
                </a:solidFill>
                <a:latin typeface="Malgun Gothic"/>
                <a:ea typeface="Malgun Gothic"/>
              </a:rPr>
              <a:t>만듬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3" name="Shape 4">
            <a:extLst>
              <a:ext uri="{FF2B5EF4-FFF2-40B4-BE49-F238E27FC236}">
                <a16:creationId xmlns:a16="http://schemas.microsoft.com/office/drawing/2014/main" id="{0BEA2045-DC29-2F74-A22E-9C1F224C6938}"/>
              </a:ext>
            </a:extLst>
          </p:cNvPr>
          <p:cNvSpPr/>
          <p:nvPr/>
        </p:nvSpPr>
        <p:spPr>
          <a:xfrm>
            <a:off x="502920" y="1700640"/>
            <a:ext cx="5577480" cy="2422800"/>
          </a:xfrm>
          <a:prstGeom prst="roundRect">
            <a:avLst>
              <a:gd name="adj" fmla="val 2642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4" name="Shape 5">
            <a:extLst>
              <a:ext uri="{FF2B5EF4-FFF2-40B4-BE49-F238E27FC236}">
                <a16:creationId xmlns:a16="http://schemas.microsoft.com/office/drawing/2014/main" id="{154B7ADC-87E1-B3D2-5253-ABF82FEB1F3F}"/>
              </a:ext>
            </a:extLst>
          </p:cNvPr>
          <p:cNvSpPr/>
          <p:nvPr/>
        </p:nvSpPr>
        <p:spPr>
          <a:xfrm>
            <a:off x="667440" y="1846800"/>
            <a:ext cx="91080" cy="91080"/>
          </a:xfrm>
          <a:prstGeom prst="ellipse">
            <a:avLst/>
          </a:prstGeom>
          <a:solidFill>
            <a:srgbClr val="EF6F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5" name="Shape 6">
            <a:extLst>
              <a:ext uri="{FF2B5EF4-FFF2-40B4-BE49-F238E27FC236}">
                <a16:creationId xmlns:a16="http://schemas.microsoft.com/office/drawing/2014/main" id="{1D31D136-C618-F80B-AA7A-F89F6DC44E83}"/>
              </a:ext>
            </a:extLst>
          </p:cNvPr>
          <p:cNvSpPr/>
          <p:nvPr/>
        </p:nvSpPr>
        <p:spPr>
          <a:xfrm>
            <a:off x="822960" y="1846800"/>
            <a:ext cx="91080" cy="91080"/>
          </a:xfrm>
          <a:prstGeom prst="ellipse">
            <a:avLst/>
          </a:prstGeom>
          <a:solidFill>
            <a:srgbClr val="F5B8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6" name="Shape 7">
            <a:extLst>
              <a:ext uri="{FF2B5EF4-FFF2-40B4-BE49-F238E27FC236}">
                <a16:creationId xmlns:a16="http://schemas.microsoft.com/office/drawing/2014/main" id="{31C87E21-4362-917D-E59D-E4FC4E0718D5}"/>
              </a:ext>
            </a:extLst>
          </p:cNvPr>
          <p:cNvSpPr/>
          <p:nvPr/>
        </p:nvSpPr>
        <p:spPr>
          <a:xfrm>
            <a:off x="978480" y="1846800"/>
            <a:ext cx="91080" cy="91080"/>
          </a:xfrm>
          <a:prstGeom prst="ellipse">
            <a:avLst/>
          </a:prstGeom>
          <a:solidFill>
            <a:srgbClr val="2DD4A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7" name="Text 8">
            <a:extLst>
              <a:ext uri="{FF2B5EF4-FFF2-40B4-BE49-F238E27FC236}">
                <a16:creationId xmlns:a16="http://schemas.microsoft.com/office/drawing/2014/main" id="{7DF1ACB8-B5B4-553E-E37A-A431356AC4EB}"/>
              </a:ext>
            </a:extLst>
          </p:cNvPr>
          <p:cNvSpPr/>
          <p:nvPr/>
        </p:nvSpPr>
        <p:spPr>
          <a:xfrm>
            <a:off x="1234440" y="17463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Claude.ai — </a:t>
            </a:r>
            <a:r>
              <a:rPr kumimoji="0" lang="zh-CN" altLang="en-US" sz="9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아티팩트 요청</a:t>
            </a:r>
            <a:endParaRPr kumimoji="0" lang="en-US" sz="9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8" name="Text 9">
            <a:extLst>
              <a:ext uri="{FF2B5EF4-FFF2-40B4-BE49-F238E27FC236}">
                <a16:creationId xmlns:a16="http://schemas.microsoft.com/office/drawing/2014/main" id="{1E51C4A4-28CC-CCEC-7BFA-F2BCDC8BCD7A}"/>
              </a:ext>
            </a:extLst>
          </p:cNvPr>
          <p:cNvSpPr/>
          <p:nvPr/>
        </p:nvSpPr>
        <p:spPr>
          <a:xfrm>
            <a:off x="704160" y="2066400"/>
            <a:ext cx="5175000" cy="19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프롬프트 </a:t>
            </a:r>
            <a:r>
              <a:rPr kumimoji="0" lang="en-US" altLang="zh-CN" sz="11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— </a:t>
            </a:r>
            <a:r>
              <a:rPr kumimoji="0" lang="en-US" sz="11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Plotly </a:t>
            </a:r>
            <a:r>
              <a:rPr kumimoji="0" lang="zh-CN" altLang="en-US" sz="11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인터랙티브 대시보드</a:t>
            </a:r>
            <a:r>
              <a:rPr kumimoji="0" lang="en-US" sz="11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1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아티팩트</a:t>
            </a:r>
            <a:r>
              <a:rPr kumimoji="0" lang="en-US" sz="11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› 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방금 데이터를 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Plotly 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인터랙티브</a:t>
            </a:r>
            <a:endParaRPr kumimoji="0" lang="en-US" sz="11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대시보드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아티팩트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로 만들어줘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</a:t>
            </a:r>
            <a:endParaRPr kumimoji="0" lang="en-US" sz="11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흰 배경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en-US" sz="11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plotly_white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), 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마우스 호버 값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,</a:t>
            </a:r>
            <a:endParaRPr kumimoji="0" lang="en-US" sz="11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부서별 색 고정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 </a:t>
            </a:r>
            <a:r>
              <a:rPr kumimoji="0" lang="zh-CN" alt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한글 폰트 안 깨지게</a:t>
            </a:r>
            <a:r>
              <a:rPr kumimoji="0" lang="en-US" sz="11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</a:t>
            </a:r>
            <a:endParaRPr kumimoji="0" lang="en-US" sz="11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9" name="Text 10">
            <a:extLst>
              <a:ext uri="{FF2B5EF4-FFF2-40B4-BE49-F238E27FC236}">
                <a16:creationId xmlns:a16="http://schemas.microsoft.com/office/drawing/2014/main" id="{14F0B227-BC0E-4B0E-C1B7-D7F571522E31}"/>
              </a:ext>
            </a:extLst>
          </p:cNvPr>
          <p:cNvSpPr/>
          <p:nvPr/>
        </p:nvSpPr>
        <p:spPr>
          <a:xfrm>
            <a:off x="502920" y="43524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대시보드 구성 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(3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종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0" name="Shape 11">
            <a:extLst>
              <a:ext uri="{FF2B5EF4-FFF2-40B4-BE49-F238E27FC236}">
                <a16:creationId xmlns:a16="http://schemas.microsoft.com/office/drawing/2014/main" id="{C8399B30-B85A-8D72-A5B1-B0B185793253}"/>
              </a:ext>
            </a:extLst>
          </p:cNvPr>
          <p:cNvSpPr/>
          <p:nvPr/>
        </p:nvSpPr>
        <p:spPr>
          <a:xfrm>
            <a:off x="502920" y="4718160"/>
            <a:ext cx="1782720" cy="1142640"/>
          </a:xfrm>
          <a:prstGeom prst="roundRect">
            <a:avLst>
              <a:gd name="adj" fmla="val 72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1" name="Shape 12">
            <a:extLst>
              <a:ext uri="{FF2B5EF4-FFF2-40B4-BE49-F238E27FC236}">
                <a16:creationId xmlns:a16="http://schemas.microsoft.com/office/drawing/2014/main" id="{08A9F6B8-DA25-6088-C917-093302FDE414}"/>
              </a:ext>
            </a:extLst>
          </p:cNvPr>
          <p:cNvSpPr/>
          <p:nvPr/>
        </p:nvSpPr>
        <p:spPr>
          <a:xfrm>
            <a:off x="1161360" y="4836960"/>
            <a:ext cx="456840" cy="456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82" name="Image 0" descr="preencoded.png">
            <a:extLst>
              <a:ext uri="{FF2B5EF4-FFF2-40B4-BE49-F238E27FC236}">
                <a16:creationId xmlns:a16="http://schemas.microsoft.com/office/drawing/2014/main" id="{AC88D8D7-7A95-B6E0-586E-056392528BA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80160" y="49557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83" name="Text 13">
            <a:extLst>
              <a:ext uri="{FF2B5EF4-FFF2-40B4-BE49-F238E27FC236}">
                <a16:creationId xmlns:a16="http://schemas.microsoft.com/office/drawing/2014/main" id="{1052E3D2-4F97-DF71-1942-50448673E440}"/>
              </a:ext>
            </a:extLst>
          </p:cNvPr>
          <p:cNvSpPr/>
          <p:nvPr/>
        </p:nvSpPr>
        <p:spPr>
          <a:xfrm>
            <a:off x="594360" y="531252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①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부서별 월 예산집행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묶음막대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4" name="Shape 14">
            <a:extLst>
              <a:ext uri="{FF2B5EF4-FFF2-40B4-BE49-F238E27FC236}">
                <a16:creationId xmlns:a16="http://schemas.microsoft.com/office/drawing/2014/main" id="{CD0668FC-7A28-FB25-4465-8A98A6E1CDEF}"/>
              </a:ext>
            </a:extLst>
          </p:cNvPr>
          <p:cNvSpPr/>
          <p:nvPr/>
        </p:nvSpPr>
        <p:spPr>
          <a:xfrm>
            <a:off x="2395800" y="4718160"/>
            <a:ext cx="1782720" cy="1142640"/>
          </a:xfrm>
          <a:prstGeom prst="roundRect">
            <a:avLst>
              <a:gd name="adj" fmla="val 72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5" name="Shape 15">
            <a:extLst>
              <a:ext uri="{FF2B5EF4-FFF2-40B4-BE49-F238E27FC236}">
                <a16:creationId xmlns:a16="http://schemas.microsoft.com/office/drawing/2014/main" id="{33D408DF-7E15-4391-D1C3-446B90BAD7D8}"/>
              </a:ext>
            </a:extLst>
          </p:cNvPr>
          <p:cNvSpPr/>
          <p:nvPr/>
        </p:nvSpPr>
        <p:spPr>
          <a:xfrm>
            <a:off x="3054240" y="4836960"/>
            <a:ext cx="456840" cy="456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86" name="Image 1" descr="preencoded.png">
            <a:extLst>
              <a:ext uri="{FF2B5EF4-FFF2-40B4-BE49-F238E27FC236}">
                <a16:creationId xmlns:a16="http://schemas.microsoft.com/office/drawing/2014/main" id="{9B0EC2E3-25CD-8003-6570-34FCA494911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3173040" y="49557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87" name="Text 16">
            <a:extLst>
              <a:ext uri="{FF2B5EF4-FFF2-40B4-BE49-F238E27FC236}">
                <a16:creationId xmlns:a16="http://schemas.microsoft.com/office/drawing/2014/main" id="{E722A9B3-A1CB-9A49-90AE-DEE3DEA579AB}"/>
              </a:ext>
            </a:extLst>
          </p:cNvPr>
          <p:cNvSpPr/>
          <p:nvPr/>
        </p:nvSpPr>
        <p:spPr>
          <a:xfrm>
            <a:off x="2487240" y="531252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②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부서별 집행률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(exec_rate)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추이 선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8" name="Shape 17">
            <a:extLst>
              <a:ext uri="{FF2B5EF4-FFF2-40B4-BE49-F238E27FC236}">
                <a16:creationId xmlns:a16="http://schemas.microsoft.com/office/drawing/2014/main" id="{00BF3C67-8134-6627-6CB8-920F4C8FE7FF}"/>
              </a:ext>
            </a:extLst>
          </p:cNvPr>
          <p:cNvSpPr/>
          <p:nvPr/>
        </p:nvSpPr>
        <p:spPr>
          <a:xfrm>
            <a:off x="4288680" y="4718160"/>
            <a:ext cx="1782720" cy="1142640"/>
          </a:xfrm>
          <a:prstGeom prst="roundRect">
            <a:avLst>
              <a:gd name="adj" fmla="val 72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9" name="Shape 18">
            <a:extLst>
              <a:ext uri="{FF2B5EF4-FFF2-40B4-BE49-F238E27FC236}">
                <a16:creationId xmlns:a16="http://schemas.microsoft.com/office/drawing/2014/main" id="{A1239067-6D23-593F-CC91-97014B90CB2A}"/>
              </a:ext>
            </a:extLst>
          </p:cNvPr>
          <p:cNvSpPr/>
          <p:nvPr/>
        </p:nvSpPr>
        <p:spPr>
          <a:xfrm>
            <a:off x="4946760" y="4836960"/>
            <a:ext cx="456840" cy="456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90" name="Image 2" descr="preencoded.png">
            <a:extLst>
              <a:ext uri="{FF2B5EF4-FFF2-40B4-BE49-F238E27FC236}">
                <a16:creationId xmlns:a16="http://schemas.microsoft.com/office/drawing/2014/main" id="{B99EF0F5-2FBB-DD70-0322-5A42838FF55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5065920" y="49557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91" name="Text 19">
            <a:extLst>
              <a:ext uri="{FF2B5EF4-FFF2-40B4-BE49-F238E27FC236}">
                <a16:creationId xmlns:a16="http://schemas.microsoft.com/office/drawing/2014/main" id="{333658A6-B121-4104-E889-300440ADE03A}"/>
              </a:ext>
            </a:extLst>
          </p:cNvPr>
          <p:cNvSpPr/>
          <p:nvPr/>
        </p:nvSpPr>
        <p:spPr>
          <a:xfrm>
            <a:off x="4380120" y="531252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③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부서별 연간 집행액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비중 도넛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9" name="Shape 47">
            <a:extLst>
              <a:ext uri="{FF2B5EF4-FFF2-40B4-BE49-F238E27FC236}">
                <a16:creationId xmlns:a16="http://schemas.microsoft.com/office/drawing/2014/main" id="{E647E677-F897-915A-356F-17CFBB95DE3F}"/>
              </a:ext>
            </a:extLst>
          </p:cNvPr>
          <p:cNvSpPr/>
          <p:nvPr/>
        </p:nvSpPr>
        <p:spPr>
          <a:xfrm>
            <a:off x="502920" y="6089760"/>
            <a:ext cx="11155320" cy="566640"/>
          </a:xfrm>
          <a:prstGeom prst="roundRect">
            <a:avLst>
              <a:gd name="adj" fmla="val 14516"/>
            </a:avLst>
          </a:prstGeom>
          <a:solidFill>
            <a:srgbClr val="E5EDFB"/>
          </a:solidFill>
          <a:ln w="12700">
            <a:solidFill>
              <a:srgbClr val="BBCD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20" name="Image 3" descr="preencoded.png">
            <a:extLst>
              <a:ext uri="{FF2B5EF4-FFF2-40B4-BE49-F238E27FC236}">
                <a16:creationId xmlns:a16="http://schemas.microsoft.com/office/drawing/2014/main" id="{6B0165D0-897A-47C7-1EEB-63D2C4D0EB63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731520" y="60987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21" name="Text 48">
            <a:extLst>
              <a:ext uri="{FF2B5EF4-FFF2-40B4-BE49-F238E27FC236}">
                <a16:creationId xmlns:a16="http://schemas.microsoft.com/office/drawing/2014/main" id="{731E45AC-BD9F-4BB6-DF5E-B2FD3484DC2C}"/>
              </a:ext>
            </a:extLst>
          </p:cNvPr>
          <p:cNvSpPr/>
          <p:nvPr/>
        </p:nvSpPr>
        <p:spPr>
          <a:xfrm>
            <a:off x="1188720" y="6089760"/>
            <a:ext cx="10332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배포 폴더 </a:t>
            </a:r>
            <a:r>
              <a:rPr kumimoji="0" lang="en-US" sz="11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templates/admin_report_template.html</a:t>
            </a: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바로 이 결과물의 예시</a:t>
            </a:r>
            <a:r>
              <a:rPr kumimoji="0" lang="ko-KR" alt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인데</a:t>
            </a:r>
            <a:r>
              <a:rPr kumimoji="0" lang="en-US" altLang="ko-KR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opus</a:t>
            </a:r>
            <a:r>
              <a:rPr kumimoji="0" lang="ko-KR" alt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 직접 시키면 더 잘 </a:t>
            </a:r>
            <a:r>
              <a:rPr kumimoji="0" lang="ko-KR" altLang="en-US" sz="1200" b="0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만들어줌</a:t>
            </a:r>
            <a:r>
              <a:rPr kumimoji="0" lang="zh-CN" alt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en-US" altLang="zh-CN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더블클릭하면 브라우저에서 인터랙티브로 열립니다</a:t>
            </a: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E2C45E-94F8-097E-3E8F-B0102B3E5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600" y="1700640"/>
            <a:ext cx="4966502" cy="398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087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A357-8FE4-D10F-C526-6422B713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>
            <a:extLst>
              <a:ext uri="{FF2B5EF4-FFF2-40B4-BE49-F238E27FC236}">
                <a16:creationId xmlns:a16="http://schemas.microsoft.com/office/drawing/2014/main" id="{86645F83-0E6A-918F-665B-9E63C59C7800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(5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3" name="Text 1">
            <a:extLst>
              <a:ext uri="{FF2B5EF4-FFF2-40B4-BE49-F238E27FC236}">
                <a16:creationId xmlns:a16="http://schemas.microsoft.com/office/drawing/2014/main" id="{EA1216E4-27DA-DB8B-434A-02A83EAA620B}"/>
              </a:ext>
            </a:extLst>
          </p:cNvPr>
          <p:cNvSpPr/>
          <p:nvPr/>
        </p:nvSpPr>
        <p:spPr>
          <a:xfrm>
            <a:off x="475559" y="548640"/>
            <a:ext cx="11371883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워크플로우화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‘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보고서 차트 공장’ 만들기</a:t>
            </a:r>
            <a:endParaRPr kumimoji="0" lang="en-US" altLang="zh-CN" sz="2500" b="1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ko-KR" sz="1600" b="1" spc="-1" dirty="0">
                <a:solidFill>
                  <a:srgbClr val="1E293B"/>
                </a:solidFill>
                <a:latin typeface="Malgun Gothic"/>
                <a:ea typeface="Malgun Gothic"/>
              </a:rPr>
              <a:t>Claude</a:t>
            </a:r>
            <a:r>
              <a:rPr lang="ko-KR" altLang="en-US" sz="1600" b="1" spc="-1" dirty="0">
                <a:solidFill>
                  <a:srgbClr val="1E293B"/>
                </a:solidFill>
                <a:latin typeface="Malgun Gothic"/>
                <a:ea typeface="Malgun Gothic"/>
              </a:rPr>
              <a:t>의 프로젝트 사용하면 지침과 프로젝트의 대화를 계속 기억해서 일관성 있는 그래프</a:t>
            </a:r>
            <a:r>
              <a:rPr lang="en-US" altLang="ko-KR" sz="1600" b="1" spc="-1" dirty="0">
                <a:solidFill>
                  <a:srgbClr val="1E293B"/>
                </a:solidFill>
                <a:latin typeface="Malgun Gothic"/>
                <a:ea typeface="Malgun Gothic"/>
              </a:rPr>
              <a:t>/</a:t>
            </a:r>
            <a:r>
              <a:rPr lang="ko-KR" altLang="en-US" sz="1600" b="1" spc="-1" dirty="0">
                <a:solidFill>
                  <a:srgbClr val="1E293B"/>
                </a:solidFill>
                <a:latin typeface="Malgun Gothic"/>
                <a:ea typeface="Malgun Gothic"/>
              </a:rPr>
              <a:t>차트를 계속 생성 가능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6" name="Shape 4">
            <a:extLst>
              <a:ext uri="{FF2B5EF4-FFF2-40B4-BE49-F238E27FC236}">
                <a16:creationId xmlns:a16="http://schemas.microsoft.com/office/drawing/2014/main" id="{02946609-C5F9-1653-639D-38ABDA570530}"/>
              </a:ext>
            </a:extLst>
          </p:cNvPr>
          <p:cNvSpPr/>
          <p:nvPr/>
        </p:nvSpPr>
        <p:spPr>
          <a:xfrm>
            <a:off x="502920" y="1417320"/>
            <a:ext cx="3657240" cy="146268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7" name="Shape 5">
            <a:extLst>
              <a:ext uri="{FF2B5EF4-FFF2-40B4-BE49-F238E27FC236}">
                <a16:creationId xmlns:a16="http://schemas.microsoft.com/office/drawing/2014/main" id="{AD57B93B-CCEC-EEFE-D5D6-CA1098B2502D}"/>
              </a:ext>
            </a:extLst>
          </p:cNvPr>
          <p:cNvSpPr/>
          <p:nvPr/>
        </p:nvSpPr>
        <p:spPr>
          <a:xfrm>
            <a:off x="758880" y="1664280"/>
            <a:ext cx="420120" cy="42012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8" name="Text 6">
            <a:extLst>
              <a:ext uri="{FF2B5EF4-FFF2-40B4-BE49-F238E27FC236}">
                <a16:creationId xmlns:a16="http://schemas.microsoft.com/office/drawing/2014/main" id="{BAEF5B33-6BAD-7483-FD72-671E1D3AEC53}"/>
              </a:ext>
            </a:extLst>
          </p:cNvPr>
          <p:cNvSpPr/>
          <p:nvPr/>
        </p:nvSpPr>
        <p:spPr>
          <a:xfrm>
            <a:off x="758880" y="16642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0" name="Text 7">
            <a:extLst>
              <a:ext uri="{FF2B5EF4-FFF2-40B4-BE49-F238E27FC236}">
                <a16:creationId xmlns:a16="http://schemas.microsoft.com/office/drawing/2014/main" id="{22DC74FA-459F-1B69-9FA6-8CD2BF2DD3D1}"/>
              </a:ext>
            </a:extLst>
          </p:cNvPr>
          <p:cNvSpPr/>
          <p:nvPr/>
        </p:nvSpPr>
        <p:spPr>
          <a:xfrm>
            <a:off x="758880" y="21945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새 프로젝트 생성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1" name="Text 8">
            <a:extLst>
              <a:ext uri="{FF2B5EF4-FFF2-40B4-BE49-F238E27FC236}">
                <a16:creationId xmlns:a16="http://schemas.microsoft.com/office/drawing/2014/main" id="{E1E879EF-E27D-2A46-DAA8-3F2699C465AC}"/>
              </a:ext>
            </a:extLst>
          </p:cNvPr>
          <p:cNvSpPr/>
          <p:nvPr/>
        </p:nvSpPr>
        <p:spPr>
          <a:xfrm>
            <a:off x="758880" y="2505600"/>
            <a:ext cx="3181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Claude.ai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좌측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Projects →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새 프로젝트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이름 ‘보고서 차트 공장’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32" name="Image 1" descr="preencoded.png">
            <a:extLst>
              <a:ext uri="{FF2B5EF4-FFF2-40B4-BE49-F238E27FC236}">
                <a16:creationId xmlns:a16="http://schemas.microsoft.com/office/drawing/2014/main" id="{AC0B3D50-587F-B1BA-1114-63BFC87BE0F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178880" y="20574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33" name="Shape 9">
            <a:extLst>
              <a:ext uri="{FF2B5EF4-FFF2-40B4-BE49-F238E27FC236}">
                <a16:creationId xmlns:a16="http://schemas.microsoft.com/office/drawing/2014/main" id="{7A40E5F9-DDB1-8D42-151D-8BA52E87D2AB}"/>
              </a:ext>
            </a:extLst>
          </p:cNvPr>
          <p:cNvSpPr/>
          <p:nvPr/>
        </p:nvSpPr>
        <p:spPr>
          <a:xfrm>
            <a:off x="4407480" y="1417320"/>
            <a:ext cx="6813798" cy="146268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4" name="Shape 10">
            <a:extLst>
              <a:ext uri="{FF2B5EF4-FFF2-40B4-BE49-F238E27FC236}">
                <a16:creationId xmlns:a16="http://schemas.microsoft.com/office/drawing/2014/main" id="{BD739AF3-2E6A-A1A4-977C-66B0B95D11BA}"/>
              </a:ext>
            </a:extLst>
          </p:cNvPr>
          <p:cNvSpPr/>
          <p:nvPr/>
        </p:nvSpPr>
        <p:spPr>
          <a:xfrm>
            <a:off x="4663440" y="1664280"/>
            <a:ext cx="420120" cy="42012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5" name="Text 11">
            <a:extLst>
              <a:ext uri="{FF2B5EF4-FFF2-40B4-BE49-F238E27FC236}">
                <a16:creationId xmlns:a16="http://schemas.microsoft.com/office/drawing/2014/main" id="{46BF2DCF-60F1-D27C-150F-DE9EE5913D9B}"/>
              </a:ext>
            </a:extLst>
          </p:cNvPr>
          <p:cNvSpPr/>
          <p:nvPr/>
        </p:nvSpPr>
        <p:spPr>
          <a:xfrm>
            <a:off x="4663440" y="16642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7" name="Text 12">
            <a:extLst>
              <a:ext uri="{FF2B5EF4-FFF2-40B4-BE49-F238E27FC236}">
                <a16:creationId xmlns:a16="http://schemas.microsoft.com/office/drawing/2014/main" id="{66DE1682-BD03-865D-4716-4423D39D17C2}"/>
              </a:ext>
            </a:extLst>
          </p:cNvPr>
          <p:cNvSpPr/>
          <p:nvPr/>
        </p:nvSpPr>
        <p:spPr>
          <a:xfrm>
            <a:off x="4663440" y="21945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지침 등록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8" name="Text 13">
            <a:extLst>
              <a:ext uri="{FF2B5EF4-FFF2-40B4-BE49-F238E27FC236}">
                <a16:creationId xmlns:a16="http://schemas.microsoft.com/office/drawing/2014/main" id="{0FF582EC-668A-49A9-02C4-67766C9EEE5D}"/>
              </a:ext>
            </a:extLst>
          </p:cNvPr>
          <p:cNvSpPr/>
          <p:nvPr/>
        </p:nvSpPr>
        <p:spPr>
          <a:xfrm>
            <a:off x="4663440" y="2505600"/>
            <a:ext cx="641869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중간에 있는 지침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 </a:t>
            </a:r>
            <a:r>
              <a:rPr kumimoji="0" lang="en-US" altLang="zh-CN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버튼 누르고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하단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‘하우스 스타일’ 규칙을 붙여넣어 </a:t>
            </a:r>
            <a:r>
              <a:rPr lang="ko-KR" altLang="en-US" sz="1150" spc="-1" dirty="0">
                <a:solidFill>
                  <a:srgbClr val="475569"/>
                </a:solidFill>
                <a:latin typeface="Malgun Gothic"/>
                <a:ea typeface="Malgun Gothic"/>
              </a:rPr>
              <a:t>저장</a:t>
            </a:r>
            <a:endParaRPr lang="en-US" altLang="ko-KR" sz="1150" spc="-1" dirty="0">
              <a:solidFill>
                <a:srgbClr val="475569"/>
              </a:solidFill>
              <a:latin typeface="Malgun Gothic"/>
              <a:ea typeface="Malgun Gothic"/>
            </a:endParaRPr>
          </a:p>
          <a:p>
            <a:pPr latinLnBrk="1">
              <a:lnSpc>
                <a:spcPct val="105000"/>
              </a:lnSpc>
              <a:tabLst>
                <a:tab pos="0" algn="l"/>
              </a:tabLst>
              <a:defRPr/>
            </a:pP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상단에 </a:t>
            </a:r>
            <a:r>
              <a:rPr lang="en-US" altLang="ko-KR" sz="1200" spc="-1" dirty="0">
                <a:solidFill>
                  <a:srgbClr val="1E293B"/>
                </a:solidFill>
                <a:latin typeface="Malgun Gothic"/>
                <a:ea typeface="Malgun Gothic"/>
              </a:rPr>
              <a:t>[</a:t>
            </a:r>
            <a:r>
              <a:rPr lang="ko-KR" altLang="en-US" sz="1200" spc="-1" dirty="0">
                <a:solidFill>
                  <a:srgbClr val="1E293B"/>
                </a:solidFill>
                <a:latin typeface="Malgun Gothic"/>
                <a:ea typeface="Malgun Gothic"/>
              </a:rPr>
              <a:t>차트 생성 표준 지침</a:t>
            </a:r>
            <a:r>
              <a:rPr lang="en-US" altLang="ko-KR" sz="1200" spc="-1" dirty="0">
                <a:solidFill>
                  <a:srgbClr val="1E293B"/>
                </a:solidFill>
                <a:latin typeface="Malgun Gothic"/>
                <a:ea typeface="Malgun Gothic"/>
              </a:rPr>
              <a:t>] </a:t>
            </a:r>
            <a:r>
              <a:rPr lang="ko-KR" altLang="en-US" sz="1200" spc="-1" dirty="0">
                <a:solidFill>
                  <a:srgbClr val="1E293B"/>
                </a:solidFill>
                <a:latin typeface="Malgun Gothic"/>
                <a:ea typeface="Malgun Gothic"/>
              </a:rPr>
              <a:t>이라고 하면 프롬프트 </a:t>
            </a:r>
            <a:r>
              <a:rPr lang="ko-KR" altLang="en-US" sz="1200" spc="-1" dirty="0" err="1">
                <a:solidFill>
                  <a:srgbClr val="1E293B"/>
                </a:solidFill>
                <a:latin typeface="Malgun Gothic"/>
                <a:ea typeface="Malgun Gothic"/>
              </a:rPr>
              <a:t>입력시</a:t>
            </a:r>
            <a:r>
              <a:rPr lang="ko-KR" altLang="en-US" sz="1200" spc="-1" dirty="0">
                <a:solidFill>
                  <a:srgbClr val="1E293B"/>
                </a:solidFill>
                <a:latin typeface="Malgun Gothic"/>
                <a:ea typeface="Malgun Gothic"/>
              </a:rPr>
              <a:t> 해당 지침을 따르게 됨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6" name="Shape 19">
            <a:extLst>
              <a:ext uri="{FF2B5EF4-FFF2-40B4-BE49-F238E27FC236}">
                <a16:creationId xmlns:a16="http://schemas.microsoft.com/office/drawing/2014/main" id="{740D23CA-30D7-116A-32A9-85AC3B76946C}"/>
              </a:ext>
            </a:extLst>
          </p:cNvPr>
          <p:cNvSpPr/>
          <p:nvPr/>
        </p:nvSpPr>
        <p:spPr>
          <a:xfrm>
            <a:off x="502920" y="3108960"/>
            <a:ext cx="7166716" cy="3066968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47" name="Image 5" descr="preencoded.png">
            <a:extLst>
              <a:ext uri="{FF2B5EF4-FFF2-40B4-BE49-F238E27FC236}">
                <a16:creationId xmlns:a16="http://schemas.microsoft.com/office/drawing/2014/main" id="{13A598F7-16B4-E3F1-4E2E-87D15DE98B7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9880" y="33375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548" name="Text 20">
            <a:extLst>
              <a:ext uri="{FF2B5EF4-FFF2-40B4-BE49-F238E27FC236}">
                <a16:creationId xmlns:a16="http://schemas.microsoft.com/office/drawing/2014/main" id="{7440B5D2-2047-2215-1943-BC4A9805ACB3}"/>
              </a:ext>
            </a:extLst>
          </p:cNvPr>
          <p:cNvSpPr/>
          <p:nvPr/>
        </p:nvSpPr>
        <p:spPr>
          <a:xfrm>
            <a:off x="1234440" y="33375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지침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= ‘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하우스 스타일’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0" name="Text 22">
            <a:extLst>
              <a:ext uri="{FF2B5EF4-FFF2-40B4-BE49-F238E27FC236}">
                <a16:creationId xmlns:a16="http://schemas.microsoft.com/office/drawing/2014/main" id="{F482DEFD-50F7-AE2D-B443-6703AFDF21AC}"/>
              </a:ext>
            </a:extLst>
          </p:cNvPr>
          <p:cNvSpPr/>
          <p:nvPr/>
        </p:nvSpPr>
        <p:spPr>
          <a:xfrm>
            <a:off x="625562" y="3715446"/>
            <a:ext cx="7166716" cy="22707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[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차트 생성 표준 지침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]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너는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KISTI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보고서 차트 담당이다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. 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CSV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를 업로드하면 항상 아래와 같은 하우스 스타일로차트를 만든다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흰 배경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위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오른쪽 </a:t>
            </a:r>
            <a:r>
              <a:rPr lang="ko-KR" altLang="en-US" sz="1600" spc="-1" dirty="0" err="1">
                <a:solidFill>
                  <a:srgbClr val="1E293B"/>
                </a:solidFill>
                <a:latin typeface="Malgun Gothic"/>
                <a:ea typeface="Malgun Gothic"/>
              </a:rPr>
              <a:t>축선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 제거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가로 그리드만 옅게 </a:t>
            </a:r>
            <a:endParaRPr lang="en-US" altLang="ko-KR" sz="1600" spc="-1" dirty="0">
              <a:solidFill>
                <a:srgbClr val="1E293B"/>
              </a:solidFill>
              <a:latin typeface="Malgun Gothic"/>
              <a:ea typeface="Malgun Gothic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하단에 항상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KISTI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라고 적기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제목 좌측 정렬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+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회색 부제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범례 위쪽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한글 폰트 깨짐 방지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하단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"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출처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:"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라인 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부서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국가 색은 한 번 정하면 호마다 동일하게 유지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.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요청이 없으면 보고서에 유용한  차트를 추천하고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,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지정하면 그대로 그린다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.</a:t>
            </a:r>
            <a:endParaRPr lang="en-US" altLang="ko-KR" sz="16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1B3CB-FD40-9BB3-EB02-B43018C4E427}"/>
              </a:ext>
            </a:extLst>
          </p:cNvPr>
          <p:cNvSpPr txBox="1"/>
          <p:nvPr/>
        </p:nvSpPr>
        <p:spPr>
          <a:xfrm>
            <a:off x="924848" y="6349808"/>
            <a:ext cx="11267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일반 채팅이 "매번 새로운 대화를 시작하는 </a:t>
            </a:r>
            <a:r>
              <a:rPr lang="ko-KR" altLang="ko-KR" dirty="0" err="1"/>
              <a:t>일회성"이라면</a:t>
            </a:r>
            <a:r>
              <a:rPr lang="ko-KR" altLang="ko-KR" dirty="0"/>
              <a:t>, 프로젝트는 "</a:t>
            </a:r>
            <a:r>
              <a:rPr lang="ko-KR" altLang="en-US" dirty="0"/>
              <a:t>기억력과 맥락</a:t>
            </a:r>
            <a:r>
              <a:rPr lang="en-US" altLang="ko-KR" dirty="0"/>
              <a:t>＇</a:t>
            </a:r>
            <a:r>
              <a:rPr lang="ko-KR" altLang="en-US" dirty="0"/>
              <a:t>을 기억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99E9E2-C78E-74C5-6338-58F655A22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399" y="3784351"/>
            <a:ext cx="4396468" cy="174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816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1C14B-392F-5756-122A-FC46EF530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>
            <a:extLst>
              <a:ext uri="{FF2B5EF4-FFF2-40B4-BE49-F238E27FC236}">
                <a16:creationId xmlns:a16="http://schemas.microsoft.com/office/drawing/2014/main" id="{946127FA-04BB-9839-CE52-D4443C0A0E93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(5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3" name="Text 1">
            <a:extLst>
              <a:ext uri="{FF2B5EF4-FFF2-40B4-BE49-F238E27FC236}">
                <a16:creationId xmlns:a16="http://schemas.microsoft.com/office/drawing/2014/main" id="{1FE074C2-B40D-8737-1F3C-FF5B68B7C0D8}"/>
              </a:ext>
            </a:extLst>
          </p:cNvPr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워크플로우화 </a:t>
            </a:r>
            <a:r>
              <a:rPr kumimoji="0" lang="en-US" altLang="zh-CN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‘</a:t>
            </a: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보고서 차트 공장’ 만들기</a:t>
            </a:r>
            <a:endParaRPr kumimoji="0" lang="en-US" sz="2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4" name="Shape 2">
            <a:extLst>
              <a:ext uri="{FF2B5EF4-FFF2-40B4-BE49-F238E27FC236}">
                <a16:creationId xmlns:a16="http://schemas.microsoft.com/office/drawing/2014/main" id="{889717DC-E585-9D63-84D7-B48161F8E416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5" name="Text 3">
            <a:extLst>
              <a:ext uri="{FF2B5EF4-FFF2-40B4-BE49-F238E27FC236}">
                <a16:creationId xmlns:a16="http://schemas.microsoft.com/office/drawing/2014/main" id="{C995DD82-635A-6F91-C30C-695D8E2DEA99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02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0" name="Shape 14">
            <a:extLst>
              <a:ext uri="{FF2B5EF4-FFF2-40B4-BE49-F238E27FC236}">
                <a16:creationId xmlns:a16="http://schemas.microsoft.com/office/drawing/2014/main" id="{2E7BBA7A-B6B7-E85B-14F9-7533845AAB5C}"/>
              </a:ext>
            </a:extLst>
          </p:cNvPr>
          <p:cNvSpPr/>
          <p:nvPr/>
        </p:nvSpPr>
        <p:spPr>
          <a:xfrm>
            <a:off x="502919" y="1239464"/>
            <a:ext cx="8651019" cy="146268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1" name="Shape 15">
            <a:extLst>
              <a:ext uri="{FF2B5EF4-FFF2-40B4-BE49-F238E27FC236}">
                <a16:creationId xmlns:a16="http://schemas.microsoft.com/office/drawing/2014/main" id="{C229AF23-3DBC-7A56-41E7-4A64BB6072C4}"/>
              </a:ext>
            </a:extLst>
          </p:cNvPr>
          <p:cNvSpPr/>
          <p:nvPr/>
        </p:nvSpPr>
        <p:spPr>
          <a:xfrm>
            <a:off x="758880" y="1486424"/>
            <a:ext cx="420120" cy="4201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2" name="Text 16">
            <a:extLst>
              <a:ext uri="{FF2B5EF4-FFF2-40B4-BE49-F238E27FC236}">
                <a16:creationId xmlns:a16="http://schemas.microsoft.com/office/drawing/2014/main" id="{41FD7C60-618A-05E9-C3A8-7E75CFC22580}"/>
              </a:ext>
            </a:extLst>
          </p:cNvPr>
          <p:cNvSpPr/>
          <p:nvPr/>
        </p:nvSpPr>
        <p:spPr>
          <a:xfrm>
            <a:off x="758880" y="1486424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43" name="Image 4" descr="preencoded.png">
            <a:extLst>
              <a:ext uri="{FF2B5EF4-FFF2-40B4-BE49-F238E27FC236}">
                <a16:creationId xmlns:a16="http://schemas.microsoft.com/office/drawing/2014/main" id="{0108DDE3-B280-0D96-0BDA-A2AE0AEE4E7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429000" y="1486424"/>
            <a:ext cx="420120" cy="420120"/>
          </a:xfrm>
          <a:prstGeom prst="rect">
            <a:avLst/>
          </a:prstGeom>
          <a:ln w="0">
            <a:noFill/>
          </a:ln>
        </p:spPr>
      </p:pic>
      <p:sp>
        <p:nvSpPr>
          <p:cNvPr id="544" name="Text 17">
            <a:extLst>
              <a:ext uri="{FF2B5EF4-FFF2-40B4-BE49-F238E27FC236}">
                <a16:creationId xmlns:a16="http://schemas.microsoft.com/office/drawing/2014/main" id="{73E1B575-3499-51D4-8C74-FCF8CCB39243}"/>
              </a:ext>
            </a:extLst>
          </p:cNvPr>
          <p:cNvSpPr/>
          <p:nvPr/>
        </p:nvSpPr>
        <p:spPr>
          <a:xfrm>
            <a:off x="758880" y="2016704"/>
            <a:ext cx="7927560" cy="6436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atinLnBrk="1">
              <a:tabLst>
                <a:tab pos="0" algn="l"/>
              </a:tabLst>
              <a:defRPr/>
            </a:pPr>
            <a:r>
              <a:rPr lang="en-US" altLang="ko-KR" sz="1400" spc="-1" dirty="0">
                <a:solidFill>
                  <a:srgbClr val="1E293B"/>
                </a:solidFill>
                <a:latin typeface="Malgun Gothic"/>
                <a:ea typeface="Malgun Gothic"/>
              </a:rPr>
              <a:t>[</a:t>
            </a:r>
            <a:r>
              <a:rPr lang="ko-KR" altLang="en-US" sz="1400" spc="-1" dirty="0">
                <a:solidFill>
                  <a:srgbClr val="1E293B"/>
                </a:solidFill>
                <a:latin typeface="Malgun Gothic"/>
                <a:ea typeface="Malgun Gothic"/>
              </a:rPr>
              <a:t>차트 생성 표준 지침</a:t>
            </a:r>
            <a:r>
              <a:rPr lang="en-US" altLang="ko-KR" sz="1400" spc="-1" dirty="0">
                <a:solidFill>
                  <a:srgbClr val="1E293B"/>
                </a:solidFill>
                <a:latin typeface="Malgun Gothic"/>
                <a:ea typeface="Malgun Gothic"/>
              </a:rPr>
              <a:t>]</a:t>
            </a:r>
            <a:r>
              <a:rPr lang="en-US" altLang="ko-KR" sz="14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Arial"/>
              </a:rPr>
              <a:t>이라 적힌 프롬프트 실행 후 지침이 반영되었는지 확인</a:t>
            </a:r>
            <a:r>
              <a:rPr lang="en-US" altLang="ko-KR" sz="1400" spc="-1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latinLnBrk="1">
              <a:tabLst>
                <a:tab pos="0" algn="l"/>
              </a:tabLst>
              <a:defRPr/>
            </a:pPr>
            <a:r>
              <a:rPr lang="ko-KR" altLang="en-US" sz="1400" spc="-1" dirty="0">
                <a:solidFill>
                  <a:srgbClr val="000000"/>
                </a:solidFill>
                <a:latin typeface="Arial"/>
                <a:ea typeface="Malgun Gothic"/>
              </a:rPr>
              <a:t>가장 쉬운 확인 방법은 하단에 </a:t>
            </a:r>
            <a:r>
              <a:rPr lang="en-US" altLang="ko-KR" sz="1400" spc="-1" dirty="0" err="1">
                <a:solidFill>
                  <a:srgbClr val="000000"/>
                </a:solidFill>
                <a:latin typeface="Arial"/>
                <a:ea typeface="Malgun Gothic"/>
              </a:rPr>
              <a:t>kisti</a:t>
            </a:r>
            <a:r>
              <a:rPr lang="en-US" altLang="ko-KR" sz="1400" spc="-1" dirty="0">
                <a:solidFill>
                  <a:srgbClr val="000000"/>
                </a:solidFill>
                <a:latin typeface="Arial"/>
                <a:ea typeface="Malgun Gothic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Arial"/>
                <a:ea typeface="Malgun Gothic"/>
              </a:rPr>
              <a:t>라고 적힌 글씨가 있는지 보기</a:t>
            </a:r>
            <a:r>
              <a:rPr lang="en-US" altLang="ko-KR" sz="1400" spc="-1" dirty="0">
                <a:solidFill>
                  <a:srgbClr val="000000"/>
                </a:solidFill>
                <a:latin typeface="Arial"/>
                <a:ea typeface="Malgun Gothic"/>
              </a:rPr>
              <a:t>(</a:t>
            </a:r>
            <a:r>
              <a:rPr lang="ko-KR" altLang="en-US" sz="1400" spc="-1" dirty="0">
                <a:solidFill>
                  <a:srgbClr val="000000"/>
                </a:solidFill>
                <a:latin typeface="Arial"/>
                <a:ea typeface="Malgun Gothic"/>
              </a:rPr>
              <a:t>지침 내용에 있음</a:t>
            </a:r>
            <a:r>
              <a:rPr lang="en-US" altLang="ko-KR" sz="1400" spc="-1" dirty="0">
                <a:solidFill>
                  <a:srgbClr val="000000"/>
                </a:solidFill>
                <a:latin typeface="Arial"/>
                <a:ea typeface="Malgun Gothic"/>
              </a:rPr>
              <a:t>)</a:t>
            </a:r>
            <a:endParaRPr lang="en-US" altLang="ko-KR" sz="1400" spc="-1" dirty="0">
              <a:solidFill>
                <a:srgbClr val="1E293B"/>
              </a:solidFill>
              <a:latin typeface="Malgun Gothic"/>
              <a:ea typeface="Malgun Gothic"/>
            </a:endParaRPr>
          </a:p>
        </p:txBody>
      </p:sp>
      <p:sp>
        <p:nvSpPr>
          <p:cNvPr id="545" name="Text 18">
            <a:extLst>
              <a:ext uri="{FF2B5EF4-FFF2-40B4-BE49-F238E27FC236}">
                <a16:creationId xmlns:a16="http://schemas.microsoft.com/office/drawing/2014/main" id="{B435DD28-DD49-CCA7-84D0-D667B6D777A4}"/>
              </a:ext>
            </a:extLst>
          </p:cNvPr>
          <p:cNvSpPr/>
          <p:nvPr/>
        </p:nvSpPr>
        <p:spPr>
          <a:xfrm>
            <a:off x="758880" y="2327744"/>
            <a:ext cx="3181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1" name="Shape 33">
            <a:extLst>
              <a:ext uri="{FF2B5EF4-FFF2-40B4-BE49-F238E27FC236}">
                <a16:creationId xmlns:a16="http://schemas.microsoft.com/office/drawing/2014/main" id="{D7536FDB-7DBD-5B06-50CB-6C74EBD15B29}"/>
              </a:ext>
            </a:extLst>
          </p:cNvPr>
          <p:cNvSpPr/>
          <p:nvPr/>
        </p:nvSpPr>
        <p:spPr>
          <a:xfrm>
            <a:off x="348809" y="3332639"/>
            <a:ext cx="6273110" cy="2514240"/>
          </a:xfrm>
          <a:prstGeom prst="roundRect">
            <a:avLst>
              <a:gd name="adj" fmla="val 3273"/>
            </a:avLst>
          </a:prstGeom>
          <a:solidFill>
            <a:srgbClr val="0B2F3A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2" name="Text 34">
            <a:extLst>
              <a:ext uri="{FF2B5EF4-FFF2-40B4-BE49-F238E27FC236}">
                <a16:creationId xmlns:a16="http://schemas.microsoft.com/office/drawing/2014/main" id="{338A2C1B-34EA-EA2F-690E-343CCDF50BE6}"/>
              </a:ext>
            </a:extLst>
          </p:cNvPr>
          <p:cNvSpPr/>
          <p:nvPr/>
        </p:nvSpPr>
        <p:spPr>
          <a:xfrm>
            <a:off x="623129" y="3533879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[</a:t>
            </a:r>
            <a:r>
              <a:rPr kumimoji="0" lang="ko-KR" altLang="en-US" sz="1350" b="1" i="0" u="none" strike="noStrike" kern="1200" cap="none" spc="-1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생성 표준 지침</a:t>
            </a:r>
            <a:r>
              <a:rPr kumimoji="0" lang="en-US" sz="1350" b="1" i="0" u="none" strike="noStrike" kern="1200" cap="none" spc="-1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] </a:t>
            </a:r>
            <a:r>
              <a:rPr kumimoji="0" lang="zh-CN" altLang="en-US" sz="1350" b="1" i="0" u="none" strike="noStrike" kern="1200" cap="none" spc="-1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프롬프트</a:t>
            </a:r>
            <a:endParaRPr kumimoji="0" lang="en-US" sz="13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3" name="Text 35">
            <a:extLst>
              <a:ext uri="{FF2B5EF4-FFF2-40B4-BE49-F238E27FC236}">
                <a16:creationId xmlns:a16="http://schemas.microsoft.com/office/drawing/2014/main" id="{01EE3D1E-6570-07AB-F963-265D95EBC998}"/>
              </a:ext>
            </a:extLst>
          </p:cNvPr>
          <p:cNvSpPr/>
          <p:nvPr/>
        </p:nvSpPr>
        <p:spPr>
          <a:xfrm>
            <a:off x="623129" y="3972719"/>
            <a:ext cx="50288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차트 생성 표준 지침</a:t>
            </a:r>
            <a:r>
              <a:rPr kumimoji="0" lang="en-US" altLang="ko-KR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첨부 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CSV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로 우리 하우스 스타일 차트 세트를 만들어줘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: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묶음막대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부서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×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월 예산집행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),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집행률 추이 선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,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연간 집행액 도넛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각 차트 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PNG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로도 받게 해줘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4" name="Shape 36">
            <a:extLst>
              <a:ext uri="{FF2B5EF4-FFF2-40B4-BE49-F238E27FC236}">
                <a16:creationId xmlns:a16="http://schemas.microsoft.com/office/drawing/2014/main" id="{825EC4AE-AA80-D11F-1602-1EB34A76E3ED}"/>
              </a:ext>
            </a:extLst>
          </p:cNvPr>
          <p:cNvSpPr/>
          <p:nvPr/>
        </p:nvSpPr>
        <p:spPr>
          <a:xfrm>
            <a:off x="623129" y="5207159"/>
            <a:ext cx="5872038" cy="502560"/>
          </a:xfrm>
          <a:prstGeom prst="roundRect">
            <a:avLst>
              <a:gd name="adj" fmla="val 16364"/>
            </a:avLst>
          </a:prstGeom>
          <a:solidFill>
            <a:srgbClr val="143C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5" name="Text 37">
            <a:extLst>
              <a:ext uri="{FF2B5EF4-FFF2-40B4-BE49-F238E27FC236}">
                <a16:creationId xmlns:a16="http://schemas.microsoft.com/office/drawing/2014/main" id="{8DEF63A0-89BB-456A-1B4C-D1683E18866E}"/>
              </a:ext>
            </a:extLst>
          </p:cNvPr>
          <p:cNvSpPr/>
          <p:nvPr/>
        </p:nvSpPr>
        <p:spPr>
          <a:xfrm>
            <a:off x="760289" y="5207159"/>
            <a:ext cx="5645426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데이터만 올리고 ‘</a:t>
            </a: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[</a:t>
            </a:r>
            <a:r>
              <a:rPr lang="ko-KR" altLang="en-US" sz="1050" spc="-1" dirty="0">
                <a:solidFill>
                  <a:srgbClr val="AFCBD0"/>
                </a:solidFill>
                <a:latin typeface="Malgun Gothic"/>
                <a:ea typeface="Malgun Gothic"/>
              </a:rPr>
              <a:t>차트 생성 표준 지침</a:t>
            </a: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]’</a:t>
            </a:r>
            <a:r>
              <a:rPr kumimoji="0" lang="zh-CN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만 보내</a:t>
            </a:r>
            <a:r>
              <a:rPr kumimoji="0" lang="ko-KR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면 지침대로</a:t>
            </a:r>
            <a:r>
              <a:rPr kumimoji="0" lang="zh-CN" alt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1050" b="1" i="0" u="none" strike="noStrike" kern="1200" cap="none" spc="-1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같은 스타일로 재생산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D931E1-B2E9-7DAA-9F9A-E4FC178AB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366" y="3716579"/>
            <a:ext cx="5028841" cy="152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392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77320-E1B3-BF47-7055-3BFF560D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>
            <a:extLst>
              <a:ext uri="{FF2B5EF4-FFF2-40B4-BE49-F238E27FC236}">
                <a16:creationId xmlns:a16="http://schemas.microsoft.com/office/drawing/2014/main" id="{C9346CA9-81D0-460C-B5C5-F0F502C25466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(5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3" name="Text 1">
            <a:extLst>
              <a:ext uri="{FF2B5EF4-FFF2-40B4-BE49-F238E27FC236}">
                <a16:creationId xmlns:a16="http://schemas.microsoft.com/office/drawing/2014/main" id="{064DFE6A-2142-EAA1-0F3D-F5D4EDDC3F39}"/>
              </a:ext>
            </a:extLst>
          </p:cNvPr>
          <p:cNvSpPr/>
          <p:nvPr/>
        </p:nvSpPr>
        <p:spPr>
          <a:xfrm>
            <a:off x="475559" y="548639"/>
            <a:ext cx="11371883" cy="15598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워크플로우화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지침이 여러 개일 때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[  ]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태그를 이용하면 </a:t>
            </a:r>
            <a:r>
              <a:rPr kumimoji="0" lang="en-US" altLang="ko-KR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</a:t>
            </a: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프롬프트가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어느 지침을 따르도록 할지 명확해짐</a:t>
            </a: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endParaRPr lang="en-US" altLang="ko-KR" sz="2500" b="1" spc="-1" dirty="0">
              <a:solidFill>
                <a:srgbClr val="1E293B"/>
              </a:solidFill>
              <a:latin typeface="Malgun Gothic"/>
              <a:ea typeface="Malgun Gothic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ko-KR" sz="2000" b="1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대괄호가 표준 문법은 아니고</a:t>
            </a:r>
            <a:r>
              <a:rPr kumimoji="0" lang="en-US" altLang="ko-KR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ko-KR" altLang="en-US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대괄호로 안 해도 </a:t>
            </a:r>
            <a:r>
              <a:rPr kumimoji="0" lang="en-US" altLang="ko-KR" sz="20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</a:t>
            </a:r>
            <a:r>
              <a:rPr kumimoji="0" lang="ko-KR" altLang="en-US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해당 지침을 따라야 한다고 판단하면 알아서 따르지만</a:t>
            </a:r>
            <a:r>
              <a:rPr kumimoji="0" lang="en-US" altLang="ko-KR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ko-KR" altLang="en-US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대괄호로 표시해주는 것이 더 예상 가능한 결과를 얻을 수 있음 </a:t>
            </a:r>
            <a:endParaRPr kumimoji="0" lang="en-US" sz="2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623E25FD-6733-4676-A891-19BFCEF7DC59}"/>
              </a:ext>
            </a:extLst>
          </p:cNvPr>
          <p:cNvSpPr/>
          <p:nvPr/>
        </p:nvSpPr>
        <p:spPr>
          <a:xfrm>
            <a:off x="475559" y="2298256"/>
            <a:ext cx="10487302" cy="4384568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60CA7104-46FF-C824-EF2C-59C0CD04AE7E}"/>
              </a:ext>
            </a:extLst>
          </p:cNvPr>
          <p:cNvSpPr/>
          <p:nvPr/>
        </p:nvSpPr>
        <p:spPr>
          <a:xfrm>
            <a:off x="598201" y="23029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지침</a:t>
            </a:r>
            <a:endParaRPr kumimoji="0" lang="en-US" sz="13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BFC3CC35-B521-157F-AD5F-4A366AE4B6D3}"/>
              </a:ext>
            </a:extLst>
          </p:cNvPr>
          <p:cNvSpPr/>
          <p:nvPr/>
        </p:nvSpPr>
        <p:spPr>
          <a:xfrm>
            <a:off x="598201" y="2298256"/>
            <a:ext cx="10275208" cy="41948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[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차트 생성 표준 지침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]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너는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KISTI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보고서 차트 담당이다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. 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CSV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를 업로드하면 항상 아래와 같은 하우스 스타일로차트를 만든다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흰 배경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위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오른쪽 </a:t>
            </a:r>
            <a:r>
              <a:rPr lang="ko-KR" altLang="en-US" sz="1600" spc="-1" dirty="0" err="1">
                <a:solidFill>
                  <a:srgbClr val="1E293B"/>
                </a:solidFill>
                <a:latin typeface="Malgun Gothic"/>
                <a:ea typeface="Malgun Gothic"/>
              </a:rPr>
              <a:t>축선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 제거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가로 그리드만 옅게 </a:t>
            </a:r>
            <a:endParaRPr lang="en-US" altLang="ko-KR" sz="1600" spc="-1" dirty="0">
              <a:solidFill>
                <a:srgbClr val="1E293B"/>
              </a:solidFill>
              <a:latin typeface="Malgun Gothic"/>
              <a:ea typeface="Malgun Gothic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하단에 항상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KISTI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라고 적기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제목 좌측 정렬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+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회색 부제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범례 위쪽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한글 폰트 깨짐 방지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하단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"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출처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:"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라인 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-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부서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국가 색은 한 번 정하면 호마다 동일하게 유지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.</a:t>
            </a:r>
          </a:p>
          <a:p>
            <a:pPr marL="285750" lvl="0" indent="-285750" latinLnBrk="1">
              <a:buFontTx/>
              <a:buChar char="-"/>
              <a:tabLst>
                <a:tab pos="0" algn="l"/>
              </a:tabLst>
              <a:defRPr/>
            </a:pP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요청이 없으면 보고서에 유용한  차트를 추천하고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,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지정하면 그대로 그린다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.</a:t>
            </a:r>
          </a:p>
          <a:p>
            <a:pPr marL="285750" lvl="0" indent="-285750" latinLnBrk="1">
              <a:buFontTx/>
              <a:buChar char="-"/>
              <a:tabLst>
                <a:tab pos="0" algn="l"/>
              </a:tabLst>
              <a:defRPr/>
            </a:pPr>
            <a:endParaRPr lang="en-US" altLang="ko-KR" sz="1600" spc="-1" dirty="0">
              <a:solidFill>
                <a:srgbClr val="1E293B"/>
              </a:solidFill>
              <a:latin typeface="Malgun Gothic"/>
              <a:ea typeface="Malgun Gothic"/>
            </a:endParaRPr>
          </a:p>
          <a:p>
            <a:pPr marL="285750" lvl="0" indent="-285750" latinLnBrk="1">
              <a:buFontTx/>
              <a:buChar char="-"/>
              <a:tabLst>
                <a:tab pos="0" algn="l"/>
              </a:tabLst>
              <a:defRPr/>
            </a:pPr>
            <a:endParaRPr lang="en-US" altLang="ko-KR" sz="1600" spc="-1" dirty="0">
              <a:solidFill>
                <a:srgbClr val="1E293B"/>
              </a:solidFill>
              <a:latin typeface="Malgun Gothic"/>
              <a:ea typeface="Malgun Gothic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[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국방부 공고 차트 그리기 지침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]</a:t>
            </a:r>
          </a:p>
          <a:p>
            <a:pPr marL="285750" lvl="0" indent="-285750" latinLnBrk="1">
              <a:buFontTx/>
              <a:buChar char="-"/>
              <a:tabLst>
                <a:tab pos="0" algn="l"/>
              </a:tabLst>
              <a:defRPr/>
            </a:pP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별도 지시가 없으면 하단에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‘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국방부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ax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프로젝트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‘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라고 적기</a:t>
            </a:r>
            <a:endParaRPr lang="en-US" altLang="ko-KR" sz="1600" spc="-1" dirty="0">
              <a:solidFill>
                <a:srgbClr val="1E293B"/>
              </a:solidFill>
              <a:latin typeface="Malgun Gothic"/>
              <a:ea typeface="Malgun Gothic"/>
            </a:endParaRPr>
          </a:p>
          <a:p>
            <a:pPr marL="285750" lvl="0" indent="-285750" latinLnBrk="1">
              <a:buFontTx/>
              <a:buChar char="-"/>
              <a:tabLst>
                <a:tab pos="0" algn="l"/>
              </a:tabLst>
              <a:defRPr/>
            </a:pP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폰트는 고딕체 </a:t>
            </a:r>
            <a:r>
              <a:rPr lang="en-US" altLang="ko-KR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/ </a:t>
            </a:r>
            <a:r>
              <a:rPr lang="ko-KR" altLang="en-US" sz="1600" spc="-1" dirty="0">
                <a:solidFill>
                  <a:srgbClr val="1E293B"/>
                </a:solidFill>
                <a:latin typeface="Malgun Gothic"/>
                <a:ea typeface="Malgun Gothic"/>
              </a:rPr>
              <a:t>한글 폰트 깨짐 방지 확인</a:t>
            </a:r>
            <a:endParaRPr lang="en-US" altLang="ko-KR" sz="16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6586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62151-F55E-0937-9306-94DC3A3B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>
            <a:extLst>
              <a:ext uri="{FF2B5EF4-FFF2-40B4-BE49-F238E27FC236}">
                <a16:creationId xmlns:a16="http://schemas.microsoft.com/office/drawing/2014/main" id="{AD156E2D-0E1D-6221-E1F3-8DAA97ABCFDB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(5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3" name="Text 1">
            <a:extLst>
              <a:ext uri="{FF2B5EF4-FFF2-40B4-BE49-F238E27FC236}">
                <a16:creationId xmlns:a16="http://schemas.microsoft.com/office/drawing/2014/main" id="{68B2392C-4C43-E0F8-0C2E-0544233391AF}"/>
              </a:ext>
            </a:extLst>
          </p:cNvPr>
          <p:cNvSpPr/>
          <p:nvPr/>
        </p:nvSpPr>
        <p:spPr>
          <a:xfrm>
            <a:off x="475559" y="548639"/>
            <a:ext cx="11371883" cy="15598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워크플로우화</a:t>
            </a:r>
            <a:endParaRPr kumimoji="0" lang="en-US" altLang="ko-KR" sz="2000" b="1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ko-KR" sz="2000" b="1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0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본인이 원하는 스타일대로 프로젝트 지침 변경 후 데이터 샘플 파일 올려서 그래프가 어떻게 바뀌는지 확인해보기</a:t>
            </a:r>
            <a:endParaRPr kumimoji="0" lang="en-US" sz="2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4D6543C3-C460-82D9-BCFB-6E2EF6B5712D}"/>
              </a:ext>
            </a:extLst>
          </p:cNvPr>
          <p:cNvSpPr/>
          <p:nvPr/>
        </p:nvSpPr>
        <p:spPr>
          <a:xfrm>
            <a:off x="475559" y="2298256"/>
            <a:ext cx="10487302" cy="4384568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8D2F4AFF-05DB-5976-AF07-E6E0AEAE2378}"/>
              </a:ext>
            </a:extLst>
          </p:cNvPr>
          <p:cNvSpPr/>
          <p:nvPr/>
        </p:nvSpPr>
        <p:spPr>
          <a:xfrm>
            <a:off x="598201" y="23029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지침</a:t>
            </a:r>
            <a:endParaRPr kumimoji="0" lang="en-US" sz="13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00F9DB0E-5688-60BC-7037-7E9AFC1174B2}"/>
              </a:ext>
            </a:extLst>
          </p:cNvPr>
          <p:cNvSpPr/>
          <p:nvPr/>
        </p:nvSpPr>
        <p:spPr>
          <a:xfrm>
            <a:off x="598201" y="2298256"/>
            <a:ext cx="10275208" cy="41948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[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생성 표준 지침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너는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KISTI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보고서 차트 담당이다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CSV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업로드하면 항상 아래와 같은 하우스 스타일로차트를 만든다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-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흰 배경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위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오른쪽 </a:t>
            </a:r>
            <a:r>
              <a:rPr kumimoji="0" lang="ko-KR" alt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축선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제거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가로 그리드만 옅게 </a:t>
            </a:r>
            <a:endParaRPr kumimoji="0" lang="en-US" altLang="ko-KR" sz="1600" b="0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-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하단에 항상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KISTI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라고 적기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-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제목 좌측 정렬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회색 부제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범례 위쪽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한글 폰트 깨짐 방지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하단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"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출처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:"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라인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-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부서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국가 색은 한 번 정하면 호마다 동일하게 유지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0" algn="l"/>
              </a:tabLst>
              <a:defRPr/>
            </a:pP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요청이 없으면 보고서에 유용한  차트를 추천하고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지정하면 그대로 그린다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0" algn="l"/>
              </a:tabLst>
              <a:defRPr/>
            </a:pPr>
            <a:endParaRPr kumimoji="0" lang="en-US" altLang="ko-KR" sz="1600" b="0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0" algn="l"/>
              </a:tabLst>
              <a:defRPr/>
            </a:pPr>
            <a:endParaRPr kumimoji="0" lang="en-US" altLang="ko-KR" sz="1600" b="0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[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국방부 공고 차트 그리기 지침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]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0" algn="l"/>
              </a:tabLst>
              <a:defRPr/>
            </a:pP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별도 지시가 없으면 하단에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국방부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ax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라고 적기</a:t>
            </a:r>
            <a:endParaRPr kumimoji="0" lang="en-US" altLang="ko-KR" sz="1600" b="0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0" algn="l"/>
              </a:tabLst>
              <a:defRPr/>
            </a:pP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폰트는 고딕체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한글 폰트 깨짐 방지 확인</a:t>
            </a:r>
            <a:endParaRPr kumimoji="0" lang="en-US" altLang="ko-KR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0548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5DAF5-F40F-6D6E-D618-DC827F66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 0">
            <a:extLst>
              <a:ext uri="{FF2B5EF4-FFF2-40B4-BE49-F238E27FC236}">
                <a16:creationId xmlns:a16="http://schemas.microsoft.com/office/drawing/2014/main" id="{1032D37C-7642-5925-62C0-8F592F89F2FA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(6~8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7" name="Text 1">
            <a:extLst>
              <a:ext uri="{FF2B5EF4-FFF2-40B4-BE49-F238E27FC236}">
                <a16:creationId xmlns:a16="http://schemas.microsoft.com/office/drawing/2014/main" id="{C3DAA04F-512C-9166-E9E5-EF3ED32E8DC7}"/>
              </a:ext>
            </a:extLst>
          </p:cNvPr>
          <p:cNvSpPr/>
          <p:nvPr/>
        </p:nvSpPr>
        <p:spPr>
          <a:xfrm>
            <a:off x="475560" y="548639"/>
            <a:ext cx="11213520" cy="1703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 교체 </a:t>
            </a: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후 다시 실시해도 유사한 양식으로 그래프 생성됨</a:t>
            </a:r>
            <a:endParaRPr lang="en-US" altLang="ko-KR" sz="2500" b="1" spc="-1" dirty="0">
              <a:solidFill>
                <a:srgbClr val="1E293B"/>
              </a:solidFill>
              <a:latin typeface="Malgun Gothic"/>
              <a:ea typeface="Malgun Gothic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데이터 스키마가 동일할수록 비슷한 포맷의 그래프를 만들어줄 것이고</a:t>
            </a:r>
            <a:endParaRPr kumimoji="0" lang="en-US" altLang="ko-KR" sz="2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스키마가 다르더라도 설정한 지침에 </a:t>
            </a:r>
            <a:r>
              <a:rPr lang="ko-KR" altLang="en-US" sz="2000" spc="-1" dirty="0">
                <a:solidFill>
                  <a:srgbClr val="000000"/>
                </a:solidFill>
                <a:latin typeface="Arial"/>
              </a:rPr>
              <a:t>최대한 맞춰 그래프를 만들어 주기에 통일성 있음</a:t>
            </a:r>
            <a:endParaRPr lang="en-US" altLang="ko-KR" sz="2000" spc="-1" dirty="0">
              <a:solidFill>
                <a:srgbClr val="000000"/>
              </a:solidFill>
              <a:latin typeface="Arial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2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trackB_aging.csv </a:t>
            </a:r>
            <a:r>
              <a:rPr lang="ko-KR" altLang="en-US" spc="-1" dirty="0">
                <a:solidFill>
                  <a:srgbClr val="000000"/>
                </a:solidFill>
                <a:latin typeface="Arial"/>
              </a:rPr>
              <a:t>파일을 올리고 </a:t>
            </a:r>
            <a:r>
              <a:rPr lang="en-US" altLang="ko-KR" spc="-1" dirty="0">
                <a:solidFill>
                  <a:srgbClr val="000000"/>
                </a:solidFill>
                <a:latin typeface="Arial"/>
              </a:rPr>
              <a:t>[</a:t>
            </a:r>
            <a:r>
              <a:rPr lang="ko-KR" altLang="en-US" spc="-1" dirty="0">
                <a:solidFill>
                  <a:srgbClr val="000000"/>
                </a:solidFill>
                <a:latin typeface="Arial"/>
              </a:rPr>
              <a:t>차트 생성 표준 지침</a:t>
            </a:r>
            <a:r>
              <a:rPr lang="en-US" altLang="ko-KR" spc="-1" dirty="0">
                <a:solidFill>
                  <a:srgbClr val="000000"/>
                </a:solidFill>
                <a:latin typeface="Arial"/>
              </a:rPr>
              <a:t>] </a:t>
            </a:r>
            <a:r>
              <a:rPr lang="ko-KR" altLang="en-US" spc="-1" dirty="0">
                <a:solidFill>
                  <a:srgbClr val="000000"/>
                </a:solidFill>
                <a:latin typeface="Arial"/>
              </a:rPr>
              <a:t>을 따라 그래프 생성되도록 해보기</a:t>
            </a:r>
            <a:endParaRPr kumimoji="0" lang="en-US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1" name="Shape 5">
            <a:extLst>
              <a:ext uri="{FF2B5EF4-FFF2-40B4-BE49-F238E27FC236}">
                <a16:creationId xmlns:a16="http://schemas.microsoft.com/office/drawing/2014/main" id="{79EC6415-357A-8F7C-ADEF-8E79B7D44DFE}"/>
              </a:ext>
            </a:extLst>
          </p:cNvPr>
          <p:cNvSpPr/>
          <p:nvPr/>
        </p:nvSpPr>
        <p:spPr>
          <a:xfrm>
            <a:off x="375355" y="3211248"/>
            <a:ext cx="2605680" cy="15541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2" name="Shape 6">
            <a:extLst>
              <a:ext uri="{FF2B5EF4-FFF2-40B4-BE49-F238E27FC236}">
                <a16:creationId xmlns:a16="http://schemas.microsoft.com/office/drawing/2014/main" id="{74A72985-2BE1-8000-E7B3-6264375BDA92}"/>
              </a:ext>
            </a:extLst>
          </p:cNvPr>
          <p:cNvSpPr/>
          <p:nvPr/>
        </p:nvSpPr>
        <p:spPr>
          <a:xfrm>
            <a:off x="1376515" y="3394128"/>
            <a:ext cx="603000" cy="60300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73" name="Image 0" descr="preencoded.png">
            <a:extLst>
              <a:ext uri="{FF2B5EF4-FFF2-40B4-BE49-F238E27FC236}">
                <a16:creationId xmlns:a16="http://schemas.microsoft.com/office/drawing/2014/main" id="{6C14F7EA-9398-B5FD-96D8-985FBB92E87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533475" y="3551088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74" name="Text 7">
            <a:extLst>
              <a:ext uri="{FF2B5EF4-FFF2-40B4-BE49-F238E27FC236}">
                <a16:creationId xmlns:a16="http://schemas.microsoft.com/office/drawing/2014/main" id="{522402A0-F2B1-B1E7-C464-C27462F8B554}"/>
              </a:ext>
            </a:extLst>
          </p:cNvPr>
          <p:cNvSpPr/>
          <p:nvPr/>
        </p:nvSpPr>
        <p:spPr>
          <a:xfrm>
            <a:off x="512515" y="4079928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다음 호 데이터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업로드 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같은 양식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75" name="Image 1" descr="preencoded.png">
            <a:extLst>
              <a:ext uri="{FF2B5EF4-FFF2-40B4-BE49-F238E27FC236}">
                <a16:creationId xmlns:a16="http://schemas.microsoft.com/office/drawing/2014/main" id="{9F4B5A29-F13D-5E19-9323-C846622C00E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990395" y="3805608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76" name="Shape 8">
            <a:extLst>
              <a:ext uri="{FF2B5EF4-FFF2-40B4-BE49-F238E27FC236}">
                <a16:creationId xmlns:a16="http://schemas.microsoft.com/office/drawing/2014/main" id="{56A8097E-CA98-C3B5-86C4-A36A39E7B5A5}"/>
              </a:ext>
            </a:extLst>
          </p:cNvPr>
          <p:cNvSpPr/>
          <p:nvPr/>
        </p:nvSpPr>
        <p:spPr>
          <a:xfrm>
            <a:off x="3145915" y="3211248"/>
            <a:ext cx="2605680" cy="15541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7" name="Shape 9">
            <a:extLst>
              <a:ext uri="{FF2B5EF4-FFF2-40B4-BE49-F238E27FC236}">
                <a16:creationId xmlns:a16="http://schemas.microsoft.com/office/drawing/2014/main" id="{51482BA4-AC57-4D33-19B1-EEB340E0528A}"/>
              </a:ext>
            </a:extLst>
          </p:cNvPr>
          <p:cNvSpPr/>
          <p:nvPr/>
        </p:nvSpPr>
        <p:spPr>
          <a:xfrm>
            <a:off x="4147435" y="3394128"/>
            <a:ext cx="603000" cy="60300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78" name="Image 2" descr="preencoded.png">
            <a:extLst>
              <a:ext uri="{FF2B5EF4-FFF2-40B4-BE49-F238E27FC236}">
                <a16:creationId xmlns:a16="http://schemas.microsoft.com/office/drawing/2014/main" id="{F6EC30C7-6BF3-0B6D-53C4-A79BD731E4C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304035" y="3551088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79" name="Text 10">
            <a:extLst>
              <a:ext uri="{FF2B5EF4-FFF2-40B4-BE49-F238E27FC236}">
                <a16:creationId xmlns:a16="http://schemas.microsoft.com/office/drawing/2014/main" id="{0C53ABD7-34B9-C93E-05E4-A87BD98DBD4A}"/>
              </a:ext>
            </a:extLst>
          </p:cNvPr>
          <p:cNvSpPr/>
          <p:nvPr/>
        </p:nvSpPr>
        <p:spPr>
          <a:xfrm>
            <a:off x="3283075" y="4079928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ko-KR" altLang="en-US" sz="1200" b="1" spc="-1" dirty="0">
                <a:solidFill>
                  <a:srgbClr val="1E293B"/>
                </a:solidFill>
                <a:latin typeface="Malgun Gothic"/>
                <a:ea typeface="Malgun Gothic"/>
              </a:rPr>
              <a:t>프롬프트에</a:t>
            </a:r>
            <a:r>
              <a:rPr kumimoji="0" lang="zh-CN" alt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[</a:t>
            </a:r>
            <a:r>
              <a:rPr kumimoji="0" lang="ko-KR" alt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생성 표준 지침</a:t>
            </a:r>
            <a:r>
              <a:rPr kumimoji="0" 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]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ko-KR" altLang="en-US" sz="1200" b="1" spc="-1" dirty="0">
                <a:solidFill>
                  <a:srgbClr val="1E293B"/>
                </a:solidFill>
                <a:latin typeface="Malgun Gothic"/>
                <a:ea typeface="Malgun Gothic"/>
              </a:rPr>
              <a:t>명시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80" name="Image 3" descr="preencoded.png">
            <a:extLst>
              <a:ext uri="{FF2B5EF4-FFF2-40B4-BE49-F238E27FC236}">
                <a16:creationId xmlns:a16="http://schemas.microsoft.com/office/drawing/2014/main" id="{C2AA922B-67D7-13D8-A37B-7F0484A86ED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761315" y="3805608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81" name="Shape 11">
            <a:extLst>
              <a:ext uri="{FF2B5EF4-FFF2-40B4-BE49-F238E27FC236}">
                <a16:creationId xmlns:a16="http://schemas.microsoft.com/office/drawing/2014/main" id="{F013C6F4-690E-79CC-AE4B-8C773B598484}"/>
              </a:ext>
            </a:extLst>
          </p:cNvPr>
          <p:cNvSpPr/>
          <p:nvPr/>
        </p:nvSpPr>
        <p:spPr>
          <a:xfrm>
            <a:off x="5916475" y="3211248"/>
            <a:ext cx="2605680" cy="15541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2" name="Shape 12">
            <a:extLst>
              <a:ext uri="{FF2B5EF4-FFF2-40B4-BE49-F238E27FC236}">
                <a16:creationId xmlns:a16="http://schemas.microsoft.com/office/drawing/2014/main" id="{14B41869-D8D2-2878-21E7-CEA6D39ED88B}"/>
              </a:ext>
            </a:extLst>
          </p:cNvPr>
          <p:cNvSpPr/>
          <p:nvPr/>
        </p:nvSpPr>
        <p:spPr>
          <a:xfrm>
            <a:off x="6917995" y="3394128"/>
            <a:ext cx="603000" cy="603000"/>
          </a:xfrm>
          <a:prstGeom prst="ellipse">
            <a:avLst/>
          </a:prstGeom>
          <a:solidFill>
            <a:srgbClr val="FDF1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83" name="Image 4" descr="preencoded.png">
            <a:extLst>
              <a:ext uri="{FF2B5EF4-FFF2-40B4-BE49-F238E27FC236}">
                <a16:creationId xmlns:a16="http://schemas.microsoft.com/office/drawing/2014/main" id="{DAED9D6E-1151-48A1-BD90-EE38C5F392F4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7074955" y="3551088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84" name="Text 13">
            <a:extLst>
              <a:ext uri="{FF2B5EF4-FFF2-40B4-BE49-F238E27FC236}">
                <a16:creationId xmlns:a16="http://schemas.microsoft.com/office/drawing/2014/main" id="{AC7FFE57-31A5-3D6E-F930-38699A37E562}"/>
              </a:ext>
            </a:extLst>
          </p:cNvPr>
          <p:cNvSpPr/>
          <p:nvPr/>
        </p:nvSpPr>
        <p:spPr>
          <a:xfrm>
            <a:off x="6053635" y="4079928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숫자만 바뀐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같은 모양 대시보드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85" name="Image 5" descr="preencoded.png">
            <a:extLst>
              <a:ext uri="{FF2B5EF4-FFF2-40B4-BE49-F238E27FC236}">
                <a16:creationId xmlns:a16="http://schemas.microsoft.com/office/drawing/2014/main" id="{633EC8E9-9231-3A9C-0051-CC36B9B58F1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531875" y="3805608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86" name="Shape 14">
            <a:extLst>
              <a:ext uri="{FF2B5EF4-FFF2-40B4-BE49-F238E27FC236}">
                <a16:creationId xmlns:a16="http://schemas.microsoft.com/office/drawing/2014/main" id="{E3F350EA-E0F7-9126-6037-1BE4D6150E58}"/>
              </a:ext>
            </a:extLst>
          </p:cNvPr>
          <p:cNvSpPr/>
          <p:nvPr/>
        </p:nvSpPr>
        <p:spPr>
          <a:xfrm>
            <a:off x="8687395" y="3211248"/>
            <a:ext cx="2605680" cy="15541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7" name="Shape 15">
            <a:extLst>
              <a:ext uri="{FF2B5EF4-FFF2-40B4-BE49-F238E27FC236}">
                <a16:creationId xmlns:a16="http://schemas.microsoft.com/office/drawing/2014/main" id="{AC660ADD-930E-BD13-093C-C7E4DBEF8C37}"/>
              </a:ext>
            </a:extLst>
          </p:cNvPr>
          <p:cNvSpPr/>
          <p:nvPr/>
        </p:nvSpPr>
        <p:spPr>
          <a:xfrm>
            <a:off x="9688555" y="3394128"/>
            <a:ext cx="603000" cy="603000"/>
          </a:xfrm>
          <a:prstGeom prst="ellipse">
            <a:avLst/>
          </a:prstGeom>
          <a:solidFill>
            <a:srgbClr val="FCE9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88" name="Image 6" descr="preencoded.png">
            <a:extLst>
              <a:ext uri="{FF2B5EF4-FFF2-40B4-BE49-F238E27FC236}">
                <a16:creationId xmlns:a16="http://schemas.microsoft.com/office/drawing/2014/main" id="{42303473-B30A-1917-57BF-07FB63A02637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9845515" y="3551088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89" name="Text 16">
            <a:extLst>
              <a:ext uri="{FF2B5EF4-FFF2-40B4-BE49-F238E27FC236}">
                <a16:creationId xmlns:a16="http://schemas.microsoft.com/office/drawing/2014/main" id="{83C153C5-A89D-D224-F316-F1B835CF00C5}"/>
              </a:ext>
            </a:extLst>
          </p:cNvPr>
          <p:cNvSpPr/>
          <p:nvPr/>
        </p:nvSpPr>
        <p:spPr>
          <a:xfrm>
            <a:off x="8824555" y="4079928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r>
              <a:rPr kumimoji="0" lang="zh-CN" alt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회 연속 교체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스타일 유지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0" name="Shape 17">
            <a:extLst>
              <a:ext uri="{FF2B5EF4-FFF2-40B4-BE49-F238E27FC236}">
                <a16:creationId xmlns:a16="http://schemas.microsoft.com/office/drawing/2014/main" id="{367D74B9-EF64-67B4-CCF1-B433AF69D58D}"/>
              </a:ext>
            </a:extLst>
          </p:cNvPr>
          <p:cNvSpPr/>
          <p:nvPr/>
        </p:nvSpPr>
        <p:spPr>
          <a:xfrm>
            <a:off x="375355" y="5040048"/>
            <a:ext cx="11155320" cy="822600"/>
          </a:xfrm>
          <a:prstGeom prst="roundRect">
            <a:avLst>
              <a:gd name="adj" fmla="val 10000"/>
            </a:avLst>
          </a:prstGeom>
          <a:solidFill>
            <a:srgbClr val="E1F2F0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91" name="Image 7" descr="preencoded.png">
            <a:extLst>
              <a:ext uri="{FF2B5EF4-FFF2-40B4-BE49-F238E27FC236}">
                <a16:creationId xmlns:a16="http://schemas.microsoft.com/office/drawing/2014/main" id="{D1FB0A86-C25F-95C0-A921-6D19F86562E9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649675" y="5250288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592" name="Text 18">
            <a:extLst>
              <a:ext uri="{FF2B5EF4-FFF2-40B4-BE49-F238E27FC236}">
                <a16:creationId xmlns:a16="http://schemas.microsoft.com/office/drawing/2014/main" id="{41AC2FC3-BF72-EF4A-F5EA-9B92F096B3CE}"/>
              </a:ext>
            </a:extLst>
          </p:cNvPr>
          <p:cNvSpPr/>
          <p:nvPr/>
        </p:nvSpPr>
        <p:spPr>
          <a:xfrm>
            <a:off x="1426915" y="5040048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예상 결과 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두 번 모두 동일 스타일로 재생산됩니다 </a:t>
            </a:r>
            <a:r>
              <a:rPr kumimoji="0" lang="en-US" altLang="zh-CN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스키마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열 구성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같으면 데이터만 올려 그대로 재생산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된다는 것을 눈으로 확인.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1291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37306-4DAB-C60D-9416-2BEC514B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Text 0">
            <a:extLst>
              <a:ext uri="{FF2B5EF4-FFF2-40B4-BE49-F238E27FC236}">
                <a16:creationId xmlns:a16="http://schemas.microsoft.com/office/drawing/2014/main" id="{48D8F441-539B-0AAF-F8E3-C1FF3EABF694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꼭 알아둘 개념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4" name="Text 1">
            <a:extLst>
              <a:ext uri="{FF2B5EF4-FFF2-40B4-BE49-F238E27FC236}">
                <a16:creationId xmlns:a16="http://schemas.microsoft.com/office/drawing/2014/main" id="{3F320B55-B1D1-7B92-189A-068A5E129C82}"/>
              </a:ext>
            </a:extLst>
          </p:cNvPr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언제 템플릿이 먹히</a:t>
            </a:r>
            <a:r>
              <a:rPr kumimoji="0" lang="ko-KR" altLang="en-US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는지와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노코딩의 한계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5" name="Shape 2">
            <a:extLst>
              <a:ext uri="{FF2B5EF4-FFF2-40B4-BE49-F238E27FC236}">
                <a16:creationId xmlns:a16="http://schemas.microsoft.com/office/drawing/2014/main" id="{718FA066-0086-27CA-3BA3-13215CDFDFA9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6" name="Text 3">
            <a:extLst>
              <a:ext uri="{FF2B5EF4-FFF2-40B4-BE49-F238E27FC236}">
                <a16:creationId xmlns:a16="http://schemas.microsoft.com/office/drawing/2014/main" id="{C6DE27AB-26BE-8184-0A68-5AD4B898FB89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02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7" name="Shape 4">
            <a:extLst>
              <a:ext uri="{FF2B5EF4-FFF2-40B4-BE49-F238E27FC236}">
                <a16:creationId xmlns:a16="http://schemas.microsoft.com/office/drawing/2014/main" id="{73360888-92D1-B3EE-E7A3-546B2FD09F00}"/>
              </a:ext>
            </a:extLst>
          </p:cNvPr>
          <p:cNvSpPr/>
          <p:nvPr/>
        </p:nvSpPr>
        <p:spPr>
          <a:xfrm>
            <a:off x="502920" y="1417320"/>
            <a:ext cx="5531760" cy="1782720"/>
          </a:xfrm>
          <a:prstGeom prst="roundRect">
            <a:avLst>
              <a:gd name="adj" fmla="val 4615"/>
            </a:avLst>
          </a:prstGeom>
          <a:solidFill>
            <a:srgbClr val="E1F2F0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08" name="Image 0" descr="preencoded.png">
            <a:extLst>
              <a:ext uri="{FF2B5EF4-FFF2-40B4-BE49-F238E27FC236}">
                <a16:creationId xmlns:a16="http://schemas.microsoft.com/office/drawing/2014/main" id="{11F30F25-B5BD-41F2-564F-109E71A4071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77240" y="16642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609" name="Text 5">
            <a:extLst>
              <a:ext uri="{FF2B5EF4-FFF2-40B4-BE49-F238E27FC236}">
                <a16:creationId xmlns:a16="http://schemas.microsoft.com/office/drawing/2014/main" id="{ACE16539-2EC4-3C3A-0A63-FEDEB7B30526}"/>
              </a:ext>
            </a:extLst>
          </p:cNvPr>
          <p:cNvSpPr/>
          <p:nvPr/>
        </p:nvSpPr>
        <p:spPr>
          <a:xfrm>
            <a:off x="1325880" y="16642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 간에 </a:t>
            </a:r>
            <a:r>
              <a:rPr kumimoji="0" lang="zh-CN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스키마</a:t>
            </a:r>
            <a:r>
              <a:rPr kumimoji="0" 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열 구성</a:t>
            </a:r>
            <a:r>
              <a:rPr kumimoji="0" 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같으면</a:t>
            </a:r>
            <a:endParaRPr kumimoji="0" lang="en-US" sz="1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0" name="Text 6">
            <a:extLst>
              <a:ext uri="{FF2B5EF4-FFF2-40B4-BE49-F238E27FC236}">
                <a16:creationId xmlns:a16="http://schemas.microsoft.com/office/drawing/2014/main" id="{8FF9B013-0D53-3CC7-BD53-C7C57C55D1D2}"/>
              </a:ext>
            </a:extLst>
          </p:cNvPr>
          <p:cNvSpPr/>
          <p:nvPr/>
        </p:nvSpPr>
        <p:spPr>
          <a:xfrm>
            <a:off x="777240" y="22402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데이터만 올려 그대로 재생산</a:t>
            </a: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1" name="Text 7">
            <a:extLst>
              <a:ext uri="{FF2B5EF4-FFF2-40B4-BE49-F238E27FC236}">
                <a16:creationId xmlns:a16="http://schemas.microsoft.com/office/drawing/2014/main" id="{1D605AE0-BD5D-8807-497A-162D9791389E}"/>
              </a:ext>
            </a:extLst>
          </p:cNvPr>
          <p:cNvSpPr/>
          <p:nvPr/>
        </p:nvSpPr>
        <p:spPr>
          <a:xfrm>
            <a:off x="777240" y="26334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색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스타일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구성 전부 유지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손댈 것이 없습니다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2" name="Shape 8">
            <a:extLst>
              <a:ext uri="{FF2B5EF4-FFF2-40B4-BE49-F238E27FC236}">
                <a16:creationId xmlns:a16="http://schemas.microsoft.com/office/drawing/2014/main" id="{DF4EF80B-FAFD-835D-6809-02A873853184}"/>
              </a:ext>
            </a:extLst>
          </p:cNvPr>
          <p:cNvSpPr/>
          <p:nvPr/>
        </p:nvSpPr>
        <p:spPr>
          <a:xfrm>
            <a:off x="6126480" y="1417320"/>
            <a:ext cx="5531760" cy="1782720"/>
          </a:xfrm>
          <a:prstGeom prst="roundRect">
            <a:avLst>
              <a:gd name="adj" fmla="val 4615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13" name="Image 1" descr="preencoded.png">
            <a:extLst>
              <a:ext uri="{FF2B5EF4-FFF2-40B4-BE49-F238E27FC236}">
                <a16:creationId xmlns:a16="http://schemas.microsoft.com/office/drawing/2014/main" id="{4C86FFC6-F570-3A12-F4A7-A2EB92C5DFD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0" y="16642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614" name="Text 9">
            <a:extLst>
              <a:ext uri="{FF2B5EF4-FFF2-40B4-BE49-F238E27FC236}">
                <a16:creationId xmlns:a16="http://schemas.microsoft.com/office/drawing/2014/main" id="{6A9552CF-91A9-D917-B34F-03DB3C6705DF}"/>
              </a:ext>
            </a:extLst>
          </p:cNvPr>
          <p:cNvSpPr/>
          <p:nvPr/>
        </p:nvSpPr>
        <p:spPr>
          <a:xfrm>
            <a:off x="6949440" y="16642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 간에 </a:t>
            </a:r>
            <a:r>
              <a:rPr kumimoji="0" lang="zh-CN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스키마가 다르면</a:t>
            </a:r>
            <a:endParaRPr kumimoji="0" lang="en-US" sz="1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5" name="Text 10">
            <a:extLst>
              <a:ext uri="{FF2B5EF4-FFF2-40B4-BE49-F238E27FC236}">
                <a16:creationId xmlns:a16="http://schemas.microsoft.com/office/drawing/2014/main" id="{310E3EFC-82D7-B493-B3BB-C86391E92DCB}"/>
              </a:ext>
            </a:extLst>
          </p:cNvPr>
          <p:cNvSpPr/>
          <p:nvPr/>
        </p:nvSpPr>
        <p:spPr>
          <a:xfrm>
            <a:off x="6400800" y="22402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ko-KR" alt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포맷이 달라질 수 있어서 지침을 수정</a:t>
            </a:r>
            <a:r>
              <a:rPr kumimoji="0" lang="zh-CN" alt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해야 </a:t>
            </a:r>
            <a:r>
              <a:rPr lang="ko-KR" altLang="en-US" sz="1400" b="1" spc="-1" dirty="0">
                <a:solidFill>
                  <a:srgbClr val="1E293B"/>
                </a:solidFill>
                <a:latin typeface="Malgun Gothic"/>
                <a:ea typeface="Malgun Gothic"/>
              </a:rPr>
              <a:t>할 수 있음</a:t>
            </a: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6" name="Text 11">
            <a:extLst>
              <a:ext uri="{FF2B5EF4-FFF2-40B4-BE49-F238E27FC236}">
                <a16:creationId xmlns:a16="http://schemas.microsoft.com/office/drawing/2014/main" id="{E3CE9BCD-9CD8-575D-2F01-443E5359CE06}"/>
              </a:ext>
            </a:extLst>
          </p:cNvPr>
          <p:cNvSpPr/>
          <p:nvPr/>
        </p:nvSpPr>
        <p:spPr>
          <a:xfrm>
            <a:off x="6400800" y="26334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스타일은 유지되지만 매핑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어떤 열을 쓸지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은 다시 지정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7" name="Shape 12">
            <a:extLst>
              <a:ext uri="{FF2B5EF4-FFF2-40B4-BE49-F238E27FC236}">
                <a16:creationId xmlns:a16="http://schemas.microsoft.com/office/drawing/2014/main" id="{954D620B-DE06-82E3-97B5-7A9393D498AE}"/>
              </a:ext>
            </a:extLst>
          </p:cNvPr>
          <p:cNvSpPr/>
          <p:nvPr/>
        </p:nvSpPr>
        <p:spPr>
          <a:xfrm>
            <a:off x="502920" y="3429000"/>
            <a:ext cx="5531760" cy="86832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8" name="Text 13">
            <a:extLst>
              <a:ext uri="{FF2B5EF4-FFF2-40B4-BE49-F238E27FC236}">
                <a16:creationId xmlns:a16="http://schemas.microsoft.com/office/drawing/2014/main" id="{CC6027C9-D271-F0AA-B936-CDACEE5AE446}"/>
              </a:ext>
            </a:extLst>
          </p:cNvPr>
          <p:cNvSpPr/>
          <p:nvPr/>
        </p:nvSpPr>
        <p:spPr>
          <a:xfrm>
            <a:off x="777240" y="342900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지정 모드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(</a:t>
            </a: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종류를 내가 지정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   vs   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추천 모드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(AI</a:t>
            </a: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선택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9" name="Text 14">
            <a:extLst>
              <a:ext uri="{FF2B5EF4-FFF2-40B4-BE49-F238E27FC236}">
                <a16:creationId xmlns:a16="http://schemas.microsoft.com/office/drawing/2014/main" id="{9C7A62F8-863A-DC59-145A-F827386FF6DF}"/>
              </a:ext>
            </a:extLst>
          </p:cNvPr>
          <p:cNvSpPr/>
          <p:nvPr/>
        </p:nvSpPr>
        <p:spPr>
          <a:xfrm>
            <a:off x="777240" y="38221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상황에 맞게 골라 쓴다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0" name="Shape 15">
            <a:extLst>
              <a:ext uri="{FF2B5EF4-FFF2-40B4-BE49-F238E27FC236}">
                <a16:creationId xmlns:a16="http://schemas.microsoft.com/office/drawing/2014/main" id="{A93847DB-35C0-9BA5-9B87-C35E73769AF6}"/>
              </a:ext>
            </a:extLst>
          </p:cNvPr>
          <p:cNvSpPr/>
          <p:nvPr/>
        </p:nvSpPr>
        <p:spPr>
          <a:xfrm>
            <a:off x="6126480" y="3429000"/>
            <a:ext cx="5531760" cy="2239920"/>
          </a:xfrm>
          <a:prstGeom prst="roundRect">
            <a:avLst>
              <a:gd name="adj" fmla="val 3673"/>
            </a:avLst>
          </a:prstGeom>
          <a:solidFill>
            <a:srgbClr val="0B2F3A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1" name="Shape 16">
            <a:extLst>
              <a:ext uri="{FF2B5EF4-FFF2-40B4-BE49-F238E27FC236}">
                <a16:creationId xmlns:a16="http://schemas.microsoft.com/office/drawing/2014/main" id="{BAF70947-A224-B396-0351-9448563E31FF}"/>
              </a:ext>
            </a:extLst>
          </p:cNvPr>
          <p:cNvSpPr/>
          <p:nvPr/>
        </p:nvSpPr>
        <p:spPr>
          <a:xfrm>
            <a:off x="6400800" y="3703320"/>
            <a:ext cx="603000" cy="603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22" name="Image 2" descr="preencoded.png">
            <a:extLst>
              <a:ext uri="{FF2B5EF4-FFF2-40B4-BE49-F238E27FC236}">
                <a16:creationId xmlns:a16="http://schemas.microsoft.com/office/drawing/2014/main" id="{6FB837A3-AC4D-6724-F886-EC385EF1ED66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557760" y="38602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623" name="Text 17">
            <a:extLst>
              <a:ext uri="{FF2B5EF4-FFF2-40B4-BE49-F238E27FC236}">
                <a16:creationId xmlns:a16="http://schemas.microsoft.com/office/drawing/2014/main" id="{3EEE9AD5-3BBA-5F7C-3123-F575FCC993D3}"/>
              </a:ext>
            </a:extLst>
          </p:cNvPr>
          <p:cNvSpPr/>
          <p:nvPr/>
        </p:nvSpPr>
        <p:spPr>
          <a:xfrm>
            <a:off x="7178040" y="374904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5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노코딩의 한계 </a:t>
            </a:r>
            <a:r>
              <a:rPr kumimoji="0" lang="en-US" altLang="zh-CN" sz="15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5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결정성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4" name="Text 18">
            <a:extLst>
              <a:ext uri="{FF2B5EF4-FFF2-40B4-BE49-F238E27FC236}">
                <a16:creationId xmlns:a16="http://schemas.microsoft.com/office/drawing/2014/main" id="{8D7EE3BB-4B81-0155-F0FD-5F73AB56ECBE}"/>
              </a:ext>
            </a:extLst>
          </p:cNvPr>
          <p:cNvSpPr/>
          <p:nvPr/>
        </p:nvSpPr>
        <p:spPr>
          <a:xfrm>
            <a:off x="6400800" y="443484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노코딩은 일관적이지만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100%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결정적이지는 않습니다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(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같은 요청도 미세하게 달라질 수 있음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).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5" name="Text 19">
            <a:extLst>
              <a:ext uri="{FF2B5EF4-FFF2-40B4-BE49-F238E27FC236}">
                <a16:creationId xmlns:a16="http://schemas.microsoft.com/office/drawing/2014/main" id="{6394BA2A-F4E9-ADDF-97A4-71AE9342ED07}"/>
              </a:ext>
            </a:extLst>
          </p:cNvPr>
          <p:cNvSpPr/>
          <p:nvPr/>
        </p:nvSpPr>
        <p:spPr>
          <a:xfrm>
            <a:off x="6400800" y="507492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‘</a:t>
            </a:r>
            <a:r>
              <a:rPr kumimoji="0" lang="zh-CN" alt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항상 똑같이’가 필요한 보고서엔 </a:t>
            </a:r>
            <a:r>
              <a:rPr kumimoji="0" lang="zh-CN" altLang="en-US" sz="1250" b="1" i="0" u="none" strike="noStrike" kern="1200" cap="none" spc="-1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코드가 답</a:t>
            </a:r>
            <a:r>
              <a:rPr kumimoji="0" 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endParaRPr kumimoji="0" lang="en-US" sz="12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7452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95EC4-A163-CEF6-5A67-7D405944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Text 3">
            <a:extLst>
              <a:ext uri="{FF2B5EF4-FFF2-40B4-BE49-F238E27FC236}">
                <a16:creationId xmlns:a16="http://schemas.microsoft.com/office/drawing/2014/main" id="{F96FE2F3-96FA-952F-5FCF-7CEE0A9053AE}"/>
              </a:ext>
            </a:extLst>
          </p:cNvPr>
          <p:cNvSpPr/>
          <p:nvPr/>
        </p:nvSpPr>
        <p:spPr>
          <a:xfrm>
            <a:off x="841320" y="2194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BUILD A CHART PROGRAM WITH CLAUDE CODE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0" name="Text 4">
            <a:extLst>
              <a:ext uri="{FF2B5EF4-FFF2-40B4-BE49-F238E27FC236}">
                <a16:creationId xmlns:a16="http://schemas.microsoft.com/office/drawing/2014/main" id="{5D4ED2B4-E26E-D6FF-D3C8-08FC37D58376}"/>
              </a:ext>
            </a:extLst>
          </p:cNvPr>
          <p:cNvSpPr/>
          <p:nvPr/>
        </p:nvSpPr>
        <p:spPr>
          <a:xfrm>
            <a:off x="804600" y="2560320"/>
            <a:ext cx="80752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4000" b="1" i="0" u="none" strike="noStrike" kern="120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바이브</a:t>
            </a:r>
            <a:r>
              <a:rPr kumimoji="0" lang="ko-KR" alt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코딩 이용한 </a:t>
            </a:r>
            <a:r>
              <a:rPr kumimoji="0" 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</a:t>
            </a:r>
            <a:r>
              <a:rPr kumimoji="0" lang="zh-CN" alt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</a:t>
            </a:r>
            <a:r>
              <a:rPr kumimoji="0" lang="ko-KR" alt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그리기 </a:t>
            </a:r>
            <a:r>
              <a:rPr kumimoji="0" lang="zh-CN" altLang="en-US" sz="4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프로그램’ 만들기</a:t>
            </a:r>
            <a:endParaRPr kumimoji="0" lang="en-US" sz="4000" b="0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1" name="Text 5">
            <a:extLst>
              <a:ext uri="{FF2B5EF4-FFF2-40B4-BE49-F238E27FC236}">
                <a16:creationId xmlns:a16="http://schemas.microsoft.com/office/drawing/2014/main" id="{09190EE3-D4A3-860F-CE58-37710B63C042}"/>
              </a:ext>
            </a:extLst>
          </p:cNvPr>
          <p:cNvSpPr/>
          <p:nvPr/>
        </p:nvSpPr>
        <p:spPr>
          <a:xfrm>
            <a:off x="841319" y="4069079"/>
            <a:ext cx="10350142" cy="2341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en-US" altLang="ko-KR" sz="2000" spc="-1" dirty="0">
                <a:solidFill>
                  <a:srgbClr val="FFFFFF"/>
                </a:solidFill>
                <a:latin typeface="Arial"/>
              </a:rPr>
              <a:t>Claude code</a:t>
            </a:r>
            <a:r>
              <a:rPr lang="ko-KR" altLang="en-US" sz="2000" spc="-1" dirty="0">
                <a:solidFill>
                  <a:srgbClr val="FFFFFF"/>
                </a:solidFill>
                <a:latin typeface="Arial"/>
              </a:rPr>
              <a:t> 기본을 다뤄보고 </a:t>
            </a: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다음에</a:t>
            </a:r>
            <a:r>
              <a:rPr lang="ko-KR" altLang="en-US" sz="2000" spc="-1" dirty="0">
                <a:solidFill>
                  <a:srgbClr val="FFFFFF"/>
                </a:solidFill>
                <a:latin typeface="Arial"/>
              </a:rPr>
              <a:t> 나에게 맞는 차트</a:t>
            </a:r>
            <a:r>
              <a:rPr lang="en-US" altLang="ko-KR" sz="2000" spc="-1" dirty="0">
                <a:solidFill>
                  <a:srgbClr val="FFFFFF"/>
                </a:solidFill>
                <a:latin typeface="Arial"/>
              </a:rPr>
              <a:t>/</a:t>
            </a:r>
            <a:r>
              <a:rPr lang="ko-KR" altLang="en-US" sz="2000" spc="-1" dirty="0">
                <a:solidFill>
                  <a:srgbClr val="FFFFFF"/>
                </a:solidFill>
                <a:latin typeface="Arial"/>
              </a:rPr>
              <a:t>그래프 프로그램을 만들 수 있도록 실습해 보는 것이 주 목표</a:t>
            </a:r>
            <a:endParaRPr lang="en-US" altLang="ko-KR" sz="2000" spc="-1" dirty="0">
              <a:solidFill>
                <a:srgbClr val="FFFFFF"/>
              </a:solidFill>
              <a:latin typeface="Arial"/>
            </a:endParaRPr>
          </a:p>
          <a:p>
            <a:pPr lvl="0" latinLnBrk="1">
              <a:tabLst>
                <a:tab pos="0" algn="l"/>
              </a:tabLst>
              <a:defRPr/>
            </a:pPr>
            <a:endParaRPr kumimoji="0" lang="en-US" sz="2000" b="0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2000" spc="-1" dirty="0">
                <a:solidFill>
                  <a:srgbClr val="FFFFFF"/>
                </a:solidFill>
                <a:latin typeface="Arial"/>
              </a:rPr>
              <a:t>그래서 사실상 </a:t>
            </a:r>
            <a:r>
              <a:rPr lang="en-US" altLang="ko-KR" sz="2000" spc="-1" dirty="0" err="1">
                <a:solidFill>
                  <a:srgbClr val="FFFFFF"/>
                </a:solidFill>
                <a:latin typeface="Arial"/>
              </a:rPr>
              <a:t>claude</a:t>
            </a:r>
            <a:r>
              <a:rPr lang="en-US" altLang="ko-KR" sz="2000" spc="-1" dirty="0">
                <a:solidFill>
                  <a:srgbClr val="FFFFFF"/>
                </a:solidFill>
                <a:latin typeface="Arial"/>
              </a:rPr>
              <a:t> code </a:t>
            </a:r>
            <a:r>
              <a:rPr lang="ko-KR" altLang="en-US" sz="2000" spc="-1" dirty="0">
                <a:solidFill>
                  <a:srgbClr val="FFFFFF"/>
                </a:solidFill>
                <a:latin typeface="Arial"/>
              </a:rPr>
              <a:t>이용법에 대해서 전체적으로 살펴볼 예정</a:t>
            </a:r>
            <a:endParaRPr kumimoji="0" lang="en-US" sz="2000" b="0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6998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7589520" y="182880"/>
            <a:ext cx="4571640" cy="64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3000" b="1" i="0" u="none" strike="noStrike" kern="1200" cap="none" spc="-1" normalizeH="0" baseline="0" noProof="0">
                <a:ln>
                  <a:noFill/>
                </a:ln>
                <a:solidFill>
                  <a:srgbClr val="103948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endParaRPr kumimoji="0" lang="en-US" sz="43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841320" y="2194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SETUP &amp; TRENDS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804600" y="2560320"/>
            <a:ext cx="74977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환경 세팅 </a:t>
            </a:r>
            <a:r>
              <a:rPr kumimoji="0" 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</a:t>
            </a:r>
            <a:endParaRPr kumimoji="0" lang="en-US" sz="4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최신 트렌드</a:t>
            </a:r>
            <a:endParaRPr kumimoji="0" lang="en-US" sz="4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841320" y="406908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Windows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 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uv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5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분 만에 시작하고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자동화 트렌드를 잡는다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868680" y="4773240"/>
            <a:ext cx="145800" cy="1458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1170360" y="466344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uv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Python 3.13 +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라이브러리 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5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분 세팅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868680" y="5248800"/>
            <a:ext cx="145800" cy="1458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1170360" y="513900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2026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년 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6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월 기준 데이터 시각화 자동화 트렌드 이해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868680" y="5724000"/>
            <a:ext cx="145800" cy="1458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1170360" y="561456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제공된 샘플 데이터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코드 폴더 구조 파악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OVERVIEW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 수업의 목표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강의 내용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502920" y="1371600"/>
            <a:ext cx="5440320" cy="1599840"/>
          </a:xfrm>
          <a:prstGeom prst="roundRect">
            <a:avLst>
              <a:gd name="adj" fmla="val 5143"/>
            </a:avLst>
          </a:prstGeom>
          <a:solidFill>
            <a:srgbClr val="FDECEA"/>
          </a:solidFill>
          <a:ln w="12700">
            <a:solidFill>
              <a:srgbClr val="F6C9C2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6" name="Image 0" descr="preencoded.png"/>
          <p:cNvPicPr/>
          <p:nvPr/>
        </p:nvPicPr>
        <p:blipFill>
          <a:blip r:embed="rId3"/>
          <a:stretch/>
        </p:blipFill>
        <p:spPr>
          <a:xfrm>
            <a:off x="777240" y="16275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7" name="Text 3"/>
          <p:cNvSpPr/>
          <p:nvPr/>
        </p:nvSpPr>
        <p:spPr>
          <a:xfrm>
            <a:off x="1371600" y="15728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 수업이 아닌 것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371600" y="193860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1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“</a:t>
            </a:r>
            <a:r>
              <a:rPr kumimoji="0" lang="ko-KR" altLang="en-US" sz="21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단순히 </a:t>
            </a:r>
            <a:r>
              <a:rPr kumimoji="0" lang="zh-CN" altLang="en-US" sz="21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그리는 법”</a:t>
            </a:r>
            <a:endParaRPr kumimoji="0" lang="en-US" sz="21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6217920" y="1371600"/>
            <a:ext cx="5440320" cy="1599840"/>
          </a:xfrm>
          <a:prstGeom prst="roundRect">
            <a:avLst>
              <a:gd name="adj" fmla="val 5143"/>
            </a:avLst>
          </a:prstGeom>
          <a:solidFill>
            <a:srgbClr val="E8F6F4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1" name="Image 1" descr="preencoded.png"/>
          <p:cNvPicPr/>
          <p:nvPr/>
        </p:nvPicPr>
        <p:blipFill>
          <a:blip r:embed="rId4"/>
          <a:stretch/>
        </p:blipFill>
        <p:spPr>
          <a:xfrm>
            <a:off x="6492240" y="1490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2" name="Text 7"/>
          <p:cNvSpPr/>
          <p:nvPr/>
        </p:nvSpPr>
        <p:spPr>
          <a:xfrm>
            <a:off x="7004160" y="15087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 수업이 가르치는 것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492240" y="1993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</a:t>
            </a:r>
            <a:r>
              <a:rPr kumimoji="0" lang="zh-CN" altLang="en-US" sz="17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</a:t>
            </a:r>
            <a:r>
              <a:rPr kumimoji="0" lang="en-US" sz="17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‘내가 쓸 차트 프로그램’</a:t>
            </a:r>
            <a:r>
              <a:rPr kumimoji="0" lang="zh-CN" altLang="en-US" sz="17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을 만들고</a:t>
            </a:r>
            <a:r>
              <a:rPr kumimoji="0" lang="en-US" sz="17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</a:t>
            </a:r>
            <a:endParaRPr kumimoji="0" lang="en-US" sz="17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9"/>
          <p:cNvSpPr/>
          <p:nvPr/>
        </p:nvSpPr>
        <p:spPr>
          <a:xfrm>
            <a:off x="6492240" y="23774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7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어떤 데이터가 와도 적응시키는 법</a:t>
            </a:r>
            <a:endParaRPr kumimoji="0" lang="en-US" sz="17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6492240" y="27432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데이터만 갈아 끼우면 같은 보고서가 나오게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4432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핵심 사고방식 ①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75559" y="548640"/>
            <a:ext cx="9905569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실습 코드로 운영해보고 실습 후 응용할 수 있도록 하기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502920" y="1417320"/>
            <a:ext cx="5440320" cy="1919880"/>
          </a:xfrm>
          <a:prstGeom prst="roundRect">
            <a:avLst>
              <a:gd name="adj" fmla="val 4286"/>
            </a:avLst>
          </a:prstGeom>
          <a:solidFill>
            <a:srgbClr val="E1F2F0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777240" y="1691640"/>
            <a:ext cx="639720" cy="639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9" name="Image 0" descr="preencoded.png"/>
          <p:cNvPicPr/>
          <p:nvPr/>
        </p:nvPicPr>
        <p:blipFill>
          <a:blip r:embed="rId3"/>
          <a:stretch/>
        </p:blipFill>
        <p:spPr>
          <a:xfrm>
            <a:off x="943560" y="18579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50" name="Text 4"/>
          <p:cNvSpPr/>
          <p:nvPr/>
        </p:nvSpPr>
        <p:spPr>
          <a:xfrm>
            <a:off x="1554480" y="17373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운영형 </a:t>
            </a: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기본</a:t>
            </a: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77240" y="24231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코드에 데이터만 갈아 끼워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 6"/>
          <p:cNvSpPr/>
          <p:nvPr/>
        </p:nvSpPr>
        <p:spPr>
          <a:xfrm>
            <a:off x="777240" y="27432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매번 같은 보고서를 찍어낸다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7"/>
          <p:cNvSpPr/>
          <p:nvPr/>
        </p:nvSpPr>
        <p:spPr>
          <a:xfrm>
            <a:off x="777240" y="30358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안정적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재현 가능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일상 업무의 기본값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6217920" y="1417320"/>
            <a:ext cx="5440320" cy="1919880"/>
          </a:xfrm>
          <a:prstGeom prst="roundRect">
            <a:avLst>
              <a:gd name="adj" fmla="val 4286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6492240" y="1691640"/>
            <a:ext cx="639720" cy="639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6" name="Image 1" descr="preencoded.png"/>
          <p:cNvPicPr/>
          <p:nvPr/>
        </p:nvPicPr>
        <p:blipFill>
          <a:blip r:embed="rId4"/>
          <a:stretch/>
        </p:blipFill>
        <p:spPr>
          <a:xfrm>
            <a:off x="6658560" y="18579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57" name="Text 10"/>
          <p:cNvSpPr/>
          <p:nvPr/>
        </p:nvSpPr>
        <p:spPr>
          <a:xfrm>
            <a:off x="7269480" y="17373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800" b="1" i="0" u="none" strike="noStrike" kern="1200" cap="none" spc="-1" normalizeH="0" baseline="0" noProof="0" dirty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응용 </a:t>
            </a:r>
            <a:r>
              <a:rPr kumimoji="0" lang="en-US" sz="1800" b="1" i="0" u="none" strike="noStrike" kern="1200" cap="none" spc="-1" normalizeH="0" baseline="0" noProof="0" dirty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 </a:t>
            </a:r>
            <a:r>
              <a:rPr kumimoji="0" lang="zh-CN" altLang="en-US" sz="1800" b="1" i="0" u="none" strike="noStrike" kern="1200" cap="none" spc="-1" normalizeH="0" baseline="0" noProof="0" dirty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바이브 코딩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6492240" y="24231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새 차트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변형이 필요하면 직접 시도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6492240" y="27432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원하는 결과를 말해서 만든다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).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6492240" y="30358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막히면 배포된 표준 코드로 되돌아간다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3002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핵심 사고방식 ②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75559" y="548639"/>
            <a:ext cx="11481215" cy="11995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바이브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코딩 방식이기에 결과가 수강생마다 다 다름</a:t>
            </a:r>
            <a:endParaRPr kumimoji="0" lang="en-US" altLang="zh-CN" sz="2500" b="1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파일명과 함수 코드 생성을 지시하는 프롬프트를 통일해서 최대한 비슷한 결과 얻기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411480" y="1977167"/>
            <a:ext cx="7680600" cy="14169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685800" y="2251487"/>
            <a:ext cx="566640" cy="56664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3"/>
          <a:stretch/>
        </p:blipFill>
        <p:spPr>
          <a:xfrm>
            <a:off x="833040" y="2398727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91" name="Text 4"/>
          <p:cNvSpPr/>
          <p:nvPr/>
        </p:nvSpPr>
        <p:spPr>
          <a:xfrm>
            <a:off x="1371600" y="2251487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ⓐ </a:t>
            </a:r>
            <a:r>
              <a:rPr kumimoji="0" lang="ko-KR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공통 </a:t>
            </a:r>
            <a:r>
              <a:rPr kumimoji="0" 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재사용</a:t>
            </a:r>
            <a:r>
              <a:rPr kumimoji="0" 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수정 금지</a:t>
            </a:r>
            <a:r>
              <a:rPr kumimoji="0" 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1371600" y="2681327"/>
            <a:ext cx="3108600" cy="566640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508760" y="2681327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style.py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재사용 스타일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4617720" y="2681327"/>
            <a:ext cx="3200040" cy="566640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Text 8"/>
          <p:cNvSpPr/>
          <p:nvPr/>
        </p:nvSpPr>
        <p:spPr>
          <a:xfrm>
            <a:off x="4754880" y="2681327"/>
            <a:ext cx="30171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report_charts.py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함수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411480" y="3623087"/>
            <a:ext cx="76806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685800" y="3870047"/>
            <a:ext cx="566640" cy="566640"/>
          </a:xfrm>
          <a:prstGeom prst="ellipse">
            <a:avLst/>
          </a:prstGeom>
          <a:solidFill>
            <a:srgbClr val="FDF1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8" name="Image 1" descr="preencoded.png"/>
          <p:cNvPicPr/>
          <p:nvPr/>
        </p:nvPicPr>
        <p:blipFill>
          <a:blip r:embed="rId4"/>
          <a:stretch/>
        </p:blipFill>
        <p:spPr>
          <a:xfrm>
            <a:off x="833040" y="4017287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99" name="Text 11"/>
          <p:cNvSpPr/>
          <p:nvPr/>
        </p:nvSpPr>
        <p:spPr>
          <a:xfrm>
            <a:off x="1371600" y="3870047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ⓑ </a:t>
            </a:r>
            <a:r>
              <a:rPr kumimoji="0" lang="ko-KR" altLang="en-US" sz="1500" b="1" i="0" u="none" strike="noStrike" kern="1200" cap="none" spc="-1" normalizeH="0" baseline="0" noProof="0" dirty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 별로 달라지는 파일들 </a:t>
            </a:r>
            <a:r>
              <a:rPr kumimoji="0" 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데이터별로 바뀜</a:t>
            </a:r>
            <a:r>
              <a:rPr kumimoji="0" lang="en-US" sz="1500" b="0" i="0" u="none" strike="noStrike" kern="1200" cap="none" spc="-1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1371600" y="4263167"/>
            <a:ext cx="6446160" cy="456840"/>
          </a:xfrm>
          <a:prstGeom prst="roundRect">
            <a:avLst>
              <a:gd name="adj" fmla="val 18000"/>
            </a:avLst>
          </a:prstGeom>
          <a:solidFill>
            <a:srgbClr val="FDF8EE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1508760" y="4263167"/>
            <a:ext cx="6217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config.yaml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어떤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CSV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의 어떤 열이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x/y/group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인지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어떤 차트를 무슨 제목으로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411480" y="5177567"/>
            <a:ext cx="11109600" cy="914040"/>
          </a:xfrm>
          <a:prstGeom prst="roundRect">
            <a:avLst>
              <a:gd name="adj" fmla="val 9000"/>
            </a:avLst>
          </a:prstGeom>
          <a:solidFill>
            <a:srgbClr val="E1F2F0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0" name="Image 4" descr="preencoded.png"/>
          <p:cNvPicPr/>
          <p:nvPr/>
        </p:nvPicPr>
        <p:blipFill>
          <a:blip r:embed="rId5"/>
          <a:stretch/>
        </p:blipFill>
        <p:spPr>
          <a:xfrm>
            <a:off x="685800" y="5387807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11" name="Text 20"/>
          <p:cNvSpPr/>
          <p:nvPr/>
        </p:nvSpPr>
        <p:spPr>
          <a:xfrm>
            <a:off x="1325880" y="5333087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왜 이렇게 나누나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? 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스타일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함수는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고정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해 룩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(look)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을 통일하고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데이터마다 바뀌는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매핑만 얇게 교체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그래서 새 데이터가 와도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색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폰트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·‘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출처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:’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라인은 그대로 유지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됩니다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7410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핵심 사고방식 ③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75560" y="548640"/>
            <a:ext cx="8677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코딩 이용해서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과정으로 실습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02920" y="1325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코드는 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100% Claude Code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생성</a:t>
            </a:r>
            <a:r>
              <a:rPr kumimoji="0" lang="zh-CN" altLang="en-US" sz="14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합니다</a:t>
            </a:r>
            <a:r>
              <a:rPr kumimoji="0" lang="en-US" sz="14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4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여러분이 실제로 하는 일은 네 가지뿐</a:t>
            </a:r>
            <a:r>
              <a:rPr kumimoji="0" lang="en-US" sz="14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02920" y="1828800"/>
            <a:ext cx="276120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758880" y="2084760"/>
            <a:ext cx="456840" cy="45684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75888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8" name="Image 0" descr="preencoded.png"/>
          <p:cNvPicPr/>
          <p:nvPr/>
        </p:nvPicPr>
        <p:blipFill>
          <a:blip r:embed="rId3"/>
          <a:stretch/>
        </p:blipFill>
        <p:spPr>
          <a:xfrm>
            <a:off x="2487240" y="21031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19" name="Text 6"/>
          <p:cNvSpPr/>
          <p:nvPr/>
        </p:nvSpPr>
        <p:spPr>
          <a:xfrm>
            <a:off x="758880" y="2697480"/>
            <a:ext cx="2304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CLAUDE.md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고정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758880" y="33102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규칙서로 저장 경로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파일명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시그니처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스타일을 박는다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3447360" y="1828800"/>
            <a:ext cx="276120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3703320" y="2084760"/>
            <a:ext cx="456840" cy="456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370332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4" name="Image 1" descr="preencoded.png"/>
          <p:cNvPicPr/>
          <p:nvPr/>
        </p:nvPicPr>
        <p:blipFill>
          <a:blip r:embed="rId4"/>
          <a:stretch/>
        </p:blipFill>
        <p:spPr>
          <a:xfrm>
            <a:off x="5431680" y="21031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25" name="Text 11"/>
          <p:cNvSpPr/>
          <p:nvPr/>
        </p:nvSpPr>
        <p:spPr>
          <a:xfrm>
            <a:off x="3703320" y="2697480"/>
            <a:ext cx="2304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스펙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원하는 것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잘 쓰기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3703320" y="33102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무엇을 만들지 자연어로 명확히 요청한다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6391800" y="1828800"/>
            <a:ext cx="276120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6647760" y="208476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664776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0" name="Image 2" descr="preencoded.png"/>
          <p:cNvPicPr/>
          <p:nvPr/>
        </p:nvPicPr>
        <p:blipFill>
          <a:blip r:embed="rId5"/>
          <a:stretch/>
        </p:blipFill>
        <p:spPr>
          <a:xfrm>
            <a:off x="8375760" y="21031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31" name="Text 16"/>
          <p:cNvSpPr/>
          <p:nvPr/>
        </p:nvSpPr>
        <p:spPr>
          <a:xfrm>
            <a:off x="6647760" y="2697480"/>
            <a:ext cx="2304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plan mode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 검토 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 전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6647760" y="33102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무엇을 만드는지 계획서만 보고 승인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수정한다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9335880" y="1828800"/>
            <a:ext cx="276120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9592200" y="2084760"/>
            <a:ext cx="456840" cy="456840"/>
          </a:xfrm>
          <a:prstGeom prst="ellipse">
            <a:avLst/>
          </a:prstGeom>
          <a:solidFill>
            <a:srgbClr val="EF6F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959220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6" name="Image 3" descr="preencoded.png"/>
          <p:cNvPicPr/>
          <p:nvPr/>
        </p:nvPicPr>
        <p:blipFill>
          <a:blip r:embed="rId6"/>
          <a:stretch/>
        </p:blipFill>
        <p:spPr>
          <a:xfrm>
            <a:off x="11320200" y="21031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37" name="Text 21"/>
          <p:cNvSpPr/>
          <p:nvPr/>
        </p:nvSpPr>
        <p:spPr>
          <a:xfrm>
            <a:off x="9592200" y="2697480"/>
            <a:ext cx="2304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산출물 검증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 후</a:t>
            </a:r>
            <a:r>
              <a:rPr kumimoji="0" lang="en-US" sz="14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8" name="Text 22"/>
          <p:cNvSpPr/>
          <p:nvPr/>
        </p:nvSpPr>
        <p:spPr>
          <a:xfrm>
            <a:off x="9592200" y="33102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PNG·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 리포트를 눈으로 확인한다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9" name="Image 4" descr="preencoded.png"/>
          <p:cNvPicPr/>
          <p:nvPr/>
        </p:nvPicPr>
        <p:blipFill>
          <a:blip r:embed="rId7"/>
          <a:stretch/>
        </p:blipFill>
        <p:spPr>
          <a:xfrm>
            <a:off x="3264480" y="2743200"/>
            <a:ext cx="219240" cy="219240"/>
          </a:xfrm>
          <a:prstGeom prst="rect">
            <a:avLst/>
          </a:prstGeom>
          <a:ln w="0">
            <a:noFill/>
          </a:ln>
        </p:spPr>
      </p:pic>
      <p:pic>
        <p:nvPicPr>
          <p:cNvPr id="140" name="Image 5" descr="preencoded.png"/>
          <p:cNvPicPr/>
          <p:nvPr/>
        </p:nvPicPr>
        <p:blipFill>
          <a:blip r:embed="rId7"/>
          <a:stretch/>
        </p:blipFill>
        <p:spPr>
          <a:xfrm>
            <a:off x="6026040" y="2743200"/>
            <a:ext cx="219240" cy="219240"/>
          </a:xfrm>
          <a:prstGeom prst="rect">
            <a:avLst/>
          </a:prstGeom>
          <a:ln w="0">
            <a:noFill/>
          </a:ln>
        </p:spPr>
      </p:pic>
      <p:pic>
        <p:nvPicPr>
          <p:cNvPr id="141" name="Image 6" descr="preencoded.png"/>
          <p:cNvPicPr/>
          <p:nvPr/>
        </p:nvPicPr>
        <p:blipFill>
          <a:blip r:embed="rId7"/>
          <a:stretch/>
        </p:blipFill>
        <p:spPr>
          <a:xfrm>
            <a:off x="8787240" y="2743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42" name="Shape 23"/>
          <p:cNvSpPr/>
          <p:nvPr/>
        </p:nvSpPr>
        <p:spPr>
          <a:xfrm>
            <a:off x="502920" y="4206240"/>
            <a:ext cx="11155320" cy="1508400"/>
          </a:xfrm>
          <a:prstGeom prst="roundRect">
            <a:avLst>
              <a:gd name="adj" fmla="val 5455"/>
            </a:avLst>
          </a:prstGeom>
          <a:solidFill>
            <a:srgbClr val="FCE9E4"/>
          </a:solidFill>
          <a:ln w="12700">
            <a:solidFill>
              <a:srgbClr val="F2C4B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3" name="Shape 24"/>
          <p:cNvSpPr/>
          <p:nvPr/>
        </p:nvSpPr>
        <p:spPr>
          <a:xfrm>
            <a:off x="822960" y="4526280"/>
            <a:ext cx="658080" cy="6580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4" name="Image 7" descr="preencoded.png"/>
          <p:cNvPicPr/>
          <p:nvPr/>
        </p:nvPicPr>
        <p:blipFill>
          <a:blip r:embed="rId8"/>
          <a:stretch/>
        </p:blipFill>
        <p:spPr>
          <a:xfrm>
            <a:off x="993960" y="469728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145" name="Text 25"/>
          <p:cNvSpPr/>
          <p:nvPr/>
        </p:nvSpPr>
        <p:spPr>
          <a:xfrm>
            <a:off x="1645920" y="443484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⚠  AI</a:t>
            </a:r>
            <a:r>
              <a:rPr kumimoji="0" lang="zh-CN" altLang="en-US" sz="160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는 같은 계획도 매번 미세하게 다르게 만듭니다 </a:t>
            </a: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60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비결정성</a:t>
            </a: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6" name="Text 26"/>
          <p:cNvSpPr/>
          <p:nvPr/>
        </p:nvSpPr>
        <p:spPr>
          <a:xfrm>
            <a:off x="1645920" y="4892040"/>
            <a:ext cx="9783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계획만 보고 출력을 안 보면</a:t>
            </a: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그럴듯하지만 틀린 차트</a:t>
            </a:r>
            <a:r>
              <a:rPr kumimoji="0" lang="zh-CN" altLang="en-US" sz="14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보고서에 들어갑니다</a:t>
            </a: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4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그래서 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산출물</a:t>
            </a: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(PNG·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 리포트</a:t>
            </a: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을 눈으로 보는 것</a:t>
            </a:r>
            <a:r>
              <a:rPr kumimoji="0" lang="zh-CN" altLang="en-US" sz="14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 필수입니다</a:t>
            </a: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5921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환경 세팅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학습 목표와 실습 흐름</a:t>
            </a:r>
            <a:endParaRPr kumimoji="0" lang="en-US" sz="2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01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02920" y="13716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6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학습 목표</a:t>
            </a:r>
            <a:endParaRPr kumimoji="0" lang="en-US" sz="1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502920" y="1828800"/>
            <a:ext cx="5440320" cy="84096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749880" y="2011680"/>
            <a:ext cx="475200" cy="47520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07" name="Image 0" descr="preencoded.png"/>
          <p:cNvPicPr/>
          <p:nvPr/>
        </p:nvPicPr>
        <p:blipFill>
          <a:blip r:embed="rId3"/>
          <a:stretch/>
        </p:blipFill>
        <p:spPr>
          <a:xfrm>
            <a:off x="873360" y="213516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208" name="Text 7"/>
          <p:cNvSpPr/>
          <p:nvPr/>
        </p:nvSpPr>
        <p:spPr>
          <a:xfrm>
            <a:off x="1417320" y="1828800"/>
            <a:ext cx="4434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uv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Python 3.13 +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필요한 라이브러리를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5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분에 세팅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502920" y="2807280"/>
            <a:ext cx="5440320" cy="84096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749880" y="2990160"/>
            <a:ext cx="475200" cy="47520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4"/>
          <a:stretch/>
        </p:blipFill>
        <p:spPr>
          <a:xfrm>
            <a:off x="873360" y="311364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212" name="Text 10"/>
          <p:cNvSpPr/>
          <p:nvPr/>
        </p:nvSpPr>
        <p:spPr>
          <a:xfrm>
            <a:off x="1417320" y="2807280"/>
            <a:ext cx="4434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시각화 자동화 트렌드를 실용적으로 이해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502920" y="3785760"/>
            <a:ext cx="5440320" cy="84096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749880" y="3968640"/>
            <a:ext cx="475200" cy="47520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15" name="Image 2" descr="preencoded.png"/>
          <p:cNvPicPr/>
          <p:nvPr/>
        </p:nvPicPr>
        <p:blipFill>
          <a:blip r:embed="rId5"/>
          <a:stretch/>
        </p:blipFill>
        <p:spPr>
          <a:xfrm>
            <a:off x="873360" y="409212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216" name="Text 13"/>
          <p:cNvSpPr/>
          <p:nvPr/>
        </p:nvSpPr>
        <p:spPr>
          <a:xfrm>
            <a:off x="1417320" y="3785760"/>
            <a:ext cx="4434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제공된 샘플 데이터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코드 폴더 구조 파악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6263640" y="1371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6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흐름 </a:t>
            </a: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(7</a:t>
            </a:r>
            <a:r>
              <a:rPr kumimoji="0" lang="zh-CN" altLang="en-US" sz="16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6355080" y="1828800"/>
            <a:ext cx="365400" cy="3654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6355080" y="182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6903720" y="1792080"/>
            <a:ext cx="4663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PowerShell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열기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6537960" y="2194560"/>
            <a:ext cx="360" cy="24660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2" name="Shape 19"/>
          <p:cNvSpPr/>
          <p:nvPr/>
        </p:nvSpPr>
        <p:spPr>
          <a:xfrm>
            <a:off x="6355080" y="2441520"/>
            <a:ext cx="365400" cy="3654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6355080" y="24415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4" name="Text 21"/>
          <p:cNvSpPr/>
          <p:nvPr/>
        </p:nvSpPr>
        <p:spPr>
          <a:xfrm>
            <a:off x="6903720" y="2404800"/>
            <a:ext cx="4663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uv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설치 → 버전 확인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5" name="Shape 22"/>
          <p:cNvSpPr/>
          <p:nvPr/>
        </p:nvSpPr>
        <p:spPr>
          <a:xfrm>
            <a:off x="6537960" y="2806920"/>
            <a:ext cx="360" cy="24696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6" name="Shape 23"/>
          <p:cNvSpPr/>
          <p:nvPr/>
        </p:nvSpPr>
        <p:spPr>
          <a:xfrm>
            <a:off x="6355080" y="3054240"/>
            <a:ext cx="365400" cy="3654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7" name="Text 24"/>
          <p:cNvSpPr/>
          <p:nvPr/>
        </p:nvSpPr>
        <p:spPr>
          <a:xfrm>
            <a:off x="6355080" y="30542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8" name="Text 25"/>
          <p:cNvSpPr/>
          <p:nvPr/>
        </p:nvSpPr>
        <p:spPr>
          <a:xfrm>
            <a:off x="6903720" y="3017520"/>
            <a:ext cx="4663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생성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(uv init)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9" name="Shape 26"/>
          <p:cNvSpPr/>
          <p:nvPr/>
        </p:nvSpPr>
        <p:spPr>
          <a:xfrm>
            <a:off x="6537960" y="3419640"/>
            <a:ext cx="360" cy="24696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0" name="Shape 27"/>
          <p:cNvSpPr/>
          <p:nvPr/>
        </p:nvSpPr>
        <p:spPr>
          <a:xfrm>
            <a:off x="6355080" y="3666600"/>
            <a:ext cx="365400" cy="3654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6355080" y="3666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2" name="Text 29"/>
          <p:cNvSpPr/>
          <p:nvPr/>
        </p:nvSpPr>
        <p:spPr>
          <a:xfrm>
            <a:off x="6903720" y="3630240"/>
            <a:ext cx="4663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Python 3.13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설치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고정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3" name="Shape 30"/>
          <p:cNvSpPr/>
          <p:nvPr/>
        </p:nvSpPr>
        <p:spPr>
          <a:xfrm>
            <a:off x="6537960" y="4032360"/>
            <a:ext cx="360" cy="24696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4" name="Shape 31"/>
          <p:cNvSpPr/>
          <p:nvPr/>
        </p:nvSpPr>
        <p:spPr>
          <a:xfrm>
            <a:off x="6355080" y="4279320"/>
            <a:ext cx="365400" cy="3654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5" name="Text 32"/>
          <p:cNvSpPr/>
          <p:nvPr/>
        </p:nvSpPr>
        <p:spPr>
          <a:xfrm>
            <a:off x="6355080" y="4279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5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6" name="Text 33"/>
          <p:cNvSpPr/>
          <p:nvPr/>
        </p:nvSpPr>
        <p:spPr>
          <a:xfrm>
            <a:off x="6903720" y="4242960"/>
            <a:ext cx="4663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라이브러리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5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종 추가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7" name="Shape 34"/>
          <p:cNvSpPr/>
          <p:nvPr/>
        </p:nvSpPr>
        <p:spPr>
          <a:xfrm>
            <a:off x="6537960" y="4645080"/>
            <a:ext cx="360" cy="24696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8" name="Shape 35"/>
          <p:cNvSpPr/>
          <p:nvPr/>
        </p:nvSpPr>
        <p:spPr>
          <a:xfrm>
            <a:off x="6355080" y="4892040"/>
            <a:ext cx="365400" cy="36540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9" name="Text 36"/>
          <p:cNvSpPr/>
          <p:nvPr/>
        </p:nvSpPr>
        <p:spPr>
          <a:xfrm>
            <a:off x="6355080" y="4892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6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0" name="Text 37"/>
          <p:cNvSpPr/>
          <p:nvPr/>
        </p:nvSpPr>
        <p:spPr>
          <a:xfrm>
            <a:off x="6903720" y="4855320"/>
            <a:ext cx="4663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동작 확인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(‘ok’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출력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1" name="Shape 38"/>
          <p:cNvSpPr/>
          <p:nvPr/>
        </p:nvSpPr>
        <p:spPr>
          <a:xfrm>
            <a:off x="6537960" y="5257800"/>
            <a:ext cx="360" cy="24660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2" name="Shape 39"/>
          <p:cNvSpPr/>
          <p:nvPr/>
        </p:nvSpPr>
        <p:spPr>
          <a:xfrm>
            <a:off x="6355080" y="5504760"/>
            <a:ext cx="365400" cy="365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3" name="Text 40"/>
          <p:cNvSpPr/>
          <p:nvPr/>
        </p:nvSpPr>
        <p:spPr>
          <a:xfrm>
            <a:off x="6355080" y="55047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7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4" name="Text 41"/>
          <p:cNvSpPr/>
          <p:nvPr/>
        </p:nvSpPr>
        <p:spPr>
          <a:xfrm>
            <a:off x="6903720" y="5468040"/>
            <a:ext cx="4663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샘플 데이터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코드 배치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(1~6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uv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환경 세팅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명령 그대로 따라치기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01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502919" y="1371600"/>
            <a:ext cx="11364403" cy="2375452"/>
          </a:xfrm>
          <a:prstGeom prst="roundRect">
            <a:avLst>
              <a:gd name="adj" fmla="val 466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1234440" y="1417320"/>
            <a:ext cx="9470212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PowerShell — </a:t>
            </a: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설치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704159" y="1737360"/>
            <a:ext cx="10530661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① </a:t>
            </a:r>
            <a:r>
              <a:rPr kumimoji="0" lang="en-US" sz="1600" b="0" i="1" u="none" strike="noStrike" kern="1200" cap="none" spc="-1" normalizeH="0" baseline="0" noProof="0" dirty="0" err="1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</a:t>
            </a: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설치 </a:t>
            </a: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(PowerShell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에 그대로 붙여넣기</a:t>
            </a: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powershell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-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ExecutionPolicy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ByPass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-c "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irm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https://astral.sh/uv/install.ps1 |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iex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“</a:t>
            </a: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lang="en-US" sz="1600" spc="-1" dirty="0">
              <a:solidFill>
                <a:srgbClr val="E8F2F2"/>
              </a:solidFill>
              <a:latin typeface="Courier New"/>
              <a:ea typeface="Courier New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설치 후 </a:t>
            </a: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PowerShell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닫았다 다시 열고 확인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--version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502919" y="4018876"/>
            <a:ext cx="11364403" cy="2259180"/>
          </a:xfrm>
          <a:prstGeom prst="roundRect">
            <a:avLst>
              <a:gd name="adj" fmla="val 466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1234440" y="4064596"/>
            <a:ext cx="9470212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프로젝트 </a:t>
            </a: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· </a:t>
            </a: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파이썬 고정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704159" y="4384635"/>
            <a:ext cx="10530661" cy="18173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②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프로젝트 생성 후 이동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latinLnBrk="1">
              <a:lnSpc>
                <a:spcPct val="118000"/>
              </a:lnSpc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E8F2F2"/>
                </a:solidFill>
                <a:latin typeface="Courier New"/>
                <a:ea typeface="Courier New"/>
              </a:rPr>
              <a:t>cd c:/</a:t>
            </a:r>
          </a:p>
          <a:p>
            <a:pPr latinLnBrk="1">
              <a:lnSpc>
                <a:spcPct val="118000"/>
              </a:lnSpc>
              <a:tabLst>
                <a:tab pos="0" algn="l"/>
              </a:tabLst>
              <a:defRPr/>
            </a:pPr>
            <a:r>
              <a:rPr lang="en-US" altLang="ko-KR" sz="1600" spc="-1" dirty="0" err="1">
                <a:solidFill>
                  <a:srgbClr val="E8F2F2"/>
                </a:solidFill>
                <a:latin typeface="Courier New"/>
              </a:rPr>
              <a:t>mkdir</a:t>
            </a:r>
            <a:r>
              <a:rPr lang="en-US" altLang="ko-KR" sz="1600" spc="-1" dirty="0">
                <a:solidFill>
                  <a:srgbClr val="E8F2F2"/>
                </a:solidFill>
                <a:latin typeface="Courier New"/>
              </a:rPr>
              <a:t> </a:t>
            </a:r>
            <a:r>
              <a:rPr lang="en-US" altLang="ko-KR" sz="1600" spc="-1" dirty="0" err="1">
                <a:solidFill>
                  <a:srgbClr val="E8F2F2"/>
                </a:solidFill>
                <a:latin typeface="Courier New"/>
              </a:rPr>
              <a:t>kisti_ai_study</a:t>
            </a:r>
            <a:endParaRPr lang="en-US" altLang="ko-KR" sz="1600" spc="-1" dirty="0">
              <a:solidFill>
                <a:srgbClr val="E8F2F2"/>
              </a:solidFill>
              <a:latin typeface="Courier New"/>
            </a:endParaRPr>
          </a:p>
          <a:p>
            <a:pPr latinLnBrk="1">
              <a:lnSpc>
                <a:spcPct val="118000"/>
              </a:lnSpc>
              <a:tabLst>
                <a:tab pos="0" algn="l"/>
              </a:tabLst>
              <a:defRPr/>
            </a:pPr>
            <a:r>
              <a:rPr lang="en-US" altLang="ko-KR" sz="1600" spc="-1" dirty="0">
                <a:solidFill>
                  <a:srgbClr val="E8F2F2"/>
                </a:solidFill>
                <a:latin typeface="Courier New"/>
              </a:rPr>
              <a:t>cd </a:t>
            </a:r>
            <a:r>
              <a:rPr lang="en-US" altLang="ko-KR" sz="1600" spc="-1" dirty="0" err="1">
                <a:solidFill>
                  <a:srgbClr val="E8F2F2"/>
                </a:solidFill>
                <a:latin typeface="Courier New"/>
              </a:rPr>
              <a:t>kisti_ai_study</a:t>
            </a:r>
            <a:endParaRPr lang="en-US" sz="1600" b="1" spc="-1" dirty="0">
              <a:solidFill>
                <a:srgbClr val="2DD4AF"/>
              </a:solidFill>
              <a:latin typeface="Courier New"/>
              <a:ea typeface="Courier New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init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kisti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-charts</a:t>
            </a: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cd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kisti</a:t>
            </a:r>
            <a:r>
              <a:rPr lang="en-US" sz="1600" spc="-1" dirty="0">
                <a:solidFill>
                  <a:srgbClr val="E8F2F2"/>
                </a:solidFill>
                <a:latin typeface="Courier New"/>
              </a:rPr>
              <a:t>-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charts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E01C-A051-BCCF-2841-470CCDB5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>
            <a:extLst>
              <a:ext uri="{FF2B5EF4-FFF2-40B4-BE49-F238E27FC236}">
                <a16:creationId xmlns:a16="http://schemas.microsoft.com/office/drawing/2014/main" id="{79CB6870-C241-CA3F-A1B4-F5D447F46ACF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(1~6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8C67CEBA-513C-6981-67E5-7173E0DE96E4}"/>
              </a:ext>
            </a:extLst>
          </p:cNvPr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uv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환경 세팅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명령 그대로 따라치기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7" name="Shape 2">
            <a:extLst>
              <a:ext uri="{FF2B5EF4-FFF2-40B4-BE49-F238E27FC236}">
                <a16:creationId xmlns:a16="http://schemas.microsoft.com/office/drawing/2014/main" id="{730165FF-DCDC-E402-2E4F-D3623000BFFC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2863EEF0-07F0-BA6D-49A3-EE3E923D04FB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01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9" name="Shape 4">
            <a:extLst>
              <a:ext uri="{FF2B5EF4-FFF2-40B4-BE49-F238E27FC236}">
                <a16:creationId xmlns:a16="http://schemas.microsoft.com/office/drawing/2014/main" id="{0E85F66A-3307-81BA-22FA-6A8E05B56DD0}"/>
              </a:ext>
            </a:extLst>
          </p:cNvPr>
          <p:cNvSpPr/>
          <p:nvPr/>
        </p:nvSpPr>
        <p:spPr>
          <a:xfrm>
            <a:off x="502919" y="1371600"/>
            <a:ext cx="9754263" cy="2375452"/>
          </a:xfrm>
          <a:prstGeom prst="roundRect">
            <a:avLst>
              <a:gd name="adj" fmla="val 466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B49FB4BD-398D-9073-3277-5A47E21CBB25}"/>
              </a:ext>
            </a:extLst>
          </p:cNvPr>
          <p:cNvSpPr/>
          <p:nvPr/>
        </p:nvSpPr>
        <p:spPr>
          <a:xfrm>
            <a:off x="704159" y="1737360"/>
            <a:ext cx="9038647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lvl="0" latinLnBrk="1">
              <a:lnSpc>
                <a:spcPct val="118000"/>
              </a:lnSpc>
              <a:tabLst>
                <a:tab pos="0" algn="l"/>
              </a:tabLst>
              <a:defRPr/>
            </a:pPr>
            <a:r>
              <a:rPr lang="en-US" altLang="ko-KR" sz="1600" i="1" spc="-1" dirty="0">
                <a:solidFill>
                  <a:srgbClr val="5F8290"/>
                </a:solidFill>
                <a:latin typeface="Courier New"/>
                <a:ea typeface="Courier New"/>
              </a:rPr>
              <a:t>③ Python 3.13 </a:t>
            </a:r>
            <a:r>
              <a:rPr lang="zh-CN" altLang="en-US" sz="1600" i="1" spc="-1" dirty="0">
                <a:solidFill>
                  <a:srgbClr val="5F8290"/>
                </a:solidFill>
                <a:latin typeface="Courier New"/>
                <a:ea typeface="Courier New"/>
              </a:rPr>
              <a:t>설치</a:t>
            </a:r>
            <a:r>
              <a:rPr lang="en-US" altLang="ko-KR" sz="1600" i="1" spc="-1" dirty="0">
                <a:solidFill>
                  <a:srgbClr val="5F8290"/>
                </a:solidFill>
                <a:latin typeface="Courier New"/>
                <a:ea typeface="Courier New"/>
              </a:rPr>
              <a:t>·</a:t>
            </a:r>
            <a:r>
              <a:rPr lang="zh-CN" altLang="en-US" sz="1600" i="1" spc="-1" dirty="0">
                <a:solidFill>
                  <a:srgbClr val="5F8290"/>
                </a:solidFill>
                <a:latin typeface="Courier New"/>
                <a:ea typeface="Courier New"/>
              </a:rPr>
              <a:t>고정</a:t>
            </a:r>
            <a:endParaRPr lang="en-US" altLang="ko-KR" sz="1600" spc="-1" dirty="0">
              <a:solidFill>
                <a:srgbClr val="000000"/>
              </a:solidFill>
              <a:latin typeface="Arial"/>
            </a:endParaRPr>
          </a:p>
          <a:p>
            <a:pPr lvl="0" latinLnBrk="1">
              <a:lnSpc>
                <a:spcPct val="118000"/>
              </a:lnSpc>
              <a:tabLst>
                <a:tab pos="0" algn="l"/>
              </a:tabLst>
              <a:defRPr/>
            </a:pPr>
            <a:r>
              <a:rPr lang="en-US" altLang="ko-KR" sz="1600" spc="-1" dirty="0" err="1">
                <a:solidFill>
                  <a:srgbClr val="E8F2F2"/>
                </a:solidFill>
                <a:latin typeface="Courier New"/>
                <a:ea typeface="Courier New"/>
              </a:rPr>
              <a:t>uv</a:t>
            </a:r>
            <a:r>
              <a:rPr lang="en-US" altLang="ko-KR" sz="1600" spc="-1" dirty="0">
                <a:solidFill>
                  <a:srgbClr val="E8F2F2"/>
                </a:solidFill>
                <a:latin typeface="Courier New"/>
                <a:ea typeface="Courier New"/>
              </a:rPr>
              <a:t> python install 3.13</a:t>
            </a:r>
            <a:endParaRPr lang="en-US" altLang="ko-KR" sz="1600" spc="-1" dirty="0">
              <a:solidFill>
                <a:srgbClr val="000000"/>
              </a:solidFill>
              <a:latin typeface="Arial"/>
            </a:endParaRPr>
          </a:p>
          <a:p>
            <a:pPr lvl="0" latinLnBrk="1">
              <a:lnSpc>
                <a:spcPct val="118000"/>
              </a:lnSpc>
              <a:tabLst>
                <a:tab pos="0" algn="l"/>
              </a:tabLst>
              <a:defRPr/>
            </a:pPr>
            <a:r>
              <a:rPr lang="en-US" altLang="ko-KR" sz="1600" spc="-1" dirty="0" err="1">
                <a:solidFill>
                  <a:srgbClr val="E8F2F2"/>
                </a:solidFill>
                <a:latin typeface="Courier New"/>
                <a:ea typeface="Courier New"/>
              </a:rPr>
              <a:t>uv</a:t>
            </a:r>
            <a:r>
              <a:rPr lang="en-US" altLang="ko-KR" sz="1600" spc="-1" dirty="0">
                <a:solidFill>
                  <a:srgbClr val="E8F2F2"/>
                </a:solidFill>
                <a:latin typeface="Courier New"/>
                <a:ea typeface="Courier New"/>
              </a:rPr>
              <a:t> python pin 3.13</a:t>
            </a:r>
            <a:endParaRPr lang="en-US" altLang="ko-KR" sz="16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62030DB6-CFF6-71BA-4A87-87A126CE2E17}"/>
              </a:ext>
            </a:extLst>
          </p:cNvPr>
          <p:cNvSpPr/>
          <p:nvPr/>
        </p:nvSpPr>
        <p:spPr>
          <a:xfrm>
            <a:off x="475559" y="4064956"/>
            <a:ext cx="9754263" cy="2375452"/>
          </a:xfrm>
          <a:prstGeom prst="roundRect">
            <a:avLst>
              <a:gd name="adj" fmla="val 466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5" name="Text 20">
            <a:extLst>
              <a:ext uri="{FF2B5EF4-FFF2-40B4-BE49-F238E27FC236}">
                <a16:creationId xmlns:a16="http://schemas.microsoft.com/office/drawing/2014/main" id="{AC747173-5A90-39C3-10A5-C17B3288553A}"/>
              </a:ext>
            </a:extLst>
          </p:cNvPr>
          <p:cNvSpPr/>
          <p:nvPr/>
        </p:nvSpPr>
        <p:spPr>
          <a:xfrm>
            <a:off x="1207080" y="4110676"/>
            <a:ext cx="8128446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라이브러리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D66C2112-398A-1C2F-D772-6647C25B68C7}"/>
              </a:ext>
            </a:extLst>
          </p:cNvPr>
          <p:cNvSpPr/>
          <p:nvPr/>
        </p:nvSpPr>
        <p:spPr>
          <a:xfrm>
            <a:off x="676799" y="4430716"/>
            <a:ext cx="9038647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④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라이브러리 추가 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add pandas matplotlib seaborn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plotly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pyyaml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4811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523B7-B0E5-7978-4324-5DDAF70D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>
            <a:extLst>
              <a:ext uri="{FF2B5EF4-FFF2-40B4-BE49-F238E27FC236}">
                <a16:creationId xmlns:a16="http://schemas.microsoft.com/office/drawing/2014/main" id="{54538522-0E61-5939-61E3-148580FCB042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(1~6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0E486C50-2347-2902-7634-CA770C9324B1}"/>
              </a:ext>
            </a:extLst>
          </p:cNvPr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uv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환경 세팅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명령 그대로 따라치기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7" name="Shape 2">
            <a:extLst>
              <a:ext uri="{FF2B5EF4-FFF2-40B4-BE49-F238E27FC236}">
                <a16:creationId xmlns:a16="http://schemas.microsoft.com/office/drawing/2014/main" id="{486BDD61-68C7-F5EE-5154-4F9D001BEE65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BB0FC232-8551-3BE9-A1AD-E5E2D65EBA37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01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7" name="Shape 22">
            <a:extLst>
              <a:ext uri="{FF2B5EF4-FFF2-40B4-BE49-F238E27FC236}">
                <a16:creationId xmlns:a16="http://schemas.microsoft.com/office/drawing/2014/main" id="{8AFAA2A6-C8BF-B14F-CC23-D42E13A3EFC2}"/>
              </a:ext>
            </a:extLst>
          </p:cNvPr>
          <p:cNvSpPr/>
          <p:nvPr/>
        </p:nvSpPr>
        <p:spPr>
          <a:xfrm>
            <a:off x="475559" y="1544033"/>
            <a:ext cx="10000283" cy="2259180"/>
          </a:xfrm>
          <a:prstGeom prst="roundRect">
            <a:avLst>
              <a:gd name="adj" fmla="val 466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1" name="Text 26">
            <a:extLst>
              <a:ext uri="{FF2B5EF4-FFF2-40B4-BE49-F238E27FC236}">
                <a16:creationId xmlns:a16="http://schemas.microsoft.com/office/drawing/2014/main" id="{B4772C42-59B7-4C43-0531-C29FA073D3C2}"/>
              </a:ext>
            </a:extLst>
          </p:cNvPr>
          <p:cNvSpPr/>
          <p:nvPr/>
        </p:nvSpPr>
        <p:spPr>
          <a:xfrm>
            <a:off x="1207080" y="1589753"/>
            <a:ext cx="83334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동작 확인 → 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ok</a:t>
            </a:r>
            <a:r>
              <a:rPr kumimoji="0" lang="ko-KR" alt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라고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ko-KR" alt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나오면 됨</a:t>
            </a: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2" name="Text 27">
            <a:extLst>
              <a:ext uri="{FF2B5EF4-FFF2-40B4-BE49-F238E27FC236}">
                <a16:creationId xmlns:a16="http://schemas.microsoft.com/office/drawing/2014/main" id="{35F56FE3-7174-56D1-4A51-0F339AD67D4E}"/>
              </a:ext>
            </a:extLst>
          </p:cNvPr>
          <p:cNvSpPr/>
          <p:nvPr/>
        </p:nvSpPr>
        <p:spPr>
          <a:xfrm>
            <a:off x="676800" y="1909793"/>
            <a:ext cx="9266618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⑤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동작 확인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run python -c "import pandas,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matplotlib, seaborn, </a:t>
            </a: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plotly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, </a:t>
            </a: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yaml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;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print('ok')"</a:t>
            </a: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38580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(7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샘플 데이터</a:t>
            </a:r>
            <a:r>
              <a:rPr kumimoji="0" 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코드 배치 </a:t>
            </a:r>
            <a:r>
              <a:rPr kumimoji="0" lang="en-US" altLang="zh-CN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폴더 구조 파악</a:t>
            </a:r>
            <a:endParaRPr kumimoji="0" lang="en-US" sz="2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1" name="Shape 2"/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2" name="Text 3"/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01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3" name="Shape 13"/>
          <p:cNvSpPr/>
          <p:nvPr/>
        </p:nvSpPr>
        <p:spPr>
          <a:xfrm>
            <a:off x="5760720" y="1417319"/>
            <a:ext cx="5897520" cy="4377193"/>
          </a:xfrm>
          <a:prstGeom prst="roundRect">
            <a:avLst>
              <a:gd name="adj" fmla="val 2250"/>
            </a:avLst>
          </a:prstGeom>
          <a:solidFill>
            <a:srgbClr val="0C2630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4" name="Text 14"/>
          <p:cNvSpPr/>
          <p:nvPr/>
        </p:nvSpPr>
        <p:spPr>
          <a:xfrm>
            <a:off x="6080760" y="164592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kisti-charts/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95" name="Image 1" descr="preencoded.png"/>
          <p:cNvPicPr/>
          <p:nvPr/>
        </p:nvPicPr>
        <p:blipFill>
          <a:blip r:embed="rId3"/>
          <a:stretch/>
        </p:blipFill>
        <p:spPr>
          <a:xfrm>
            <a:off x="6080760" y="20574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96" name="Text 15"/>
          <p:cNvSpPr/>
          <p:nvPr/>
        </p:nvSpPr>
        <p:spPr>
          <a:xfrm>
            <a:off x="6355080" y="201168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data/   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6236280" y="2350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98" name="Image 2" descr="preencoded.png"/>
          <p:cNvPicPr/>
          <p:nvPr/>
        </p:nvPicPr>
        <p:blipFill>
          <a:blip r:embed="rId4"/>
          <a:stretch/>
        </p:blipFill>
        <p:spPr>
          <a:xfrm>
            <a:off x="6492240" y="2368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99" name="Text 17"/>
          <p:cNvSpPr/>
          <p:nvPr/>
        </p:nvSpPr>
        <p:spPr>
          <a:xfrm>
            <a:off x="6766560" y="232272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B9D2D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trackA_admin.csv  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행정 </a:t>
            </a:r>
            <a:r>
              <a:rPr kumimoji="0" lang="en-US" altLang="zh-CN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—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부서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×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월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×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예산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인력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과제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0" name="Text 18"/>
          <p:cNvSpPr/>
          <p:nvPr/>
        </p:nvSpPr>
        <p:spPr>
          <a:xfrm>
            <a:off x="6236280" y="2633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1" name="Image 3" descr="preencoded.png"/>
          <p:cNvPicPr/>
          <p:nvPr/>
        </p:nvPicPr>
        <p:blipFill>
          <a:blip r:embed="rId4"/>
          <a:stretch/>
        </p:blipFill>
        <p:spPr>
          <a:xfrm>
            <a:off x="6492240" y="26517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02" name="Text 19"/>
          <p:cNvSpPr/>
          <p:nvPr/>
        </p:nvSpPr>
        <p:spPr>
          <a:xfrm>
            <a:off x="6766560" y="260604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B9D2D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trackB_aging.csv  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연구 </a:t>
            </a:r>
            <a:r>
              <a:rPr kumimoji="0" lang="en-US" altLang="zh-CN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—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국가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×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클러스터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×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연도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×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논문수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3" name="Text 20"/>
          <p:cNvSpPr/>
          <p:nvPr/>
        </p:nvSpPr>
        <p:spPr>
          <a:xfrm>
            <a:off x="6236280" y="2917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4" name="Image 4" descr="preencoded.png"/>
          <p:cNvPicPr/>
          <p:nvPr/>
        </p:nvPicPr>
        <p:blipFill>
          <a:blip r:embed="rId4"/>
          <a:stretch/>
        </p:blipFill>
        <p:spPr>
          <a:xfrm>
            <a:off x="6492240" y="29350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05" name="Text 21"/>
          <p:cNvSpPr/>
          <p:nvPr/>
        </p:nvSpPr>
        <p:spPr>
          <a:xfrm>
            <a:off x="6766560" y="288936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B9D2D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trackB_papers.csv  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논문 단위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피인용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·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공동연구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6" name="Image 5" descr="preencoded.png"/>
          <p:cNvPicPr/>
          <p:nvPr/>
        </p:nvPicPr>
        <p:blipFill>
          <a:blip r:embed="rId3"/>
          <a:stretch/>
        </p:blipFill>
        <p:spPr>
          <a:xfrm>
            <a:off x="6080760" y="32187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07" name="Text 22"/>
          <p:cNvSpPr/>
          <p:nvPr/>
        </p:nvSpPr>
        <p:spPr>
          <a:xfrm>
            <a:off x="6355080" y="317304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code/   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8" name="Text 23"/>
          <p:cNvSpPr/>
          <p:nvPr/>
        </p:nvSpPr>
        <p:spPr>
          <a:xfrm>
            <a:off x="6236280" y="3511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9" name="Image 6" descr="preencoded.png"/>
          <p:cNvPicPr/>
          <p:nvPr/>
        </p:nvPicPr>
        <p:blipFill>
          <a:blip r:embed="rId5"/>
          <a:stretch/>
        </p:blipFill>
        <p:spPr>
          <a:xfrm>
            <a:off x="6492240" y="3529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10" name="Text 24"/>
          <p:cNvSpPr/>
          <p:nvPr/>
        </p:nvSpPr>
        <p:spPr>
          <a:xfrm>
            <a:off x="6766560" y="348372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charts/style.py  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공유 스타일 자산 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수정 금지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1" name="Text 25"/>
          <p:cNvSpPr/>
          <p:nvPr/>
        </p:nvSpPr>
        <p:spPr>
          <a:xfrm>
            <a:off x="6236280" y="3794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12" name="Image 7" descr="preencoded.png"/>
          <p:cNvPicPr/>
          <p:nvPr/>
        </p:nvPicPr>
        <p:blipFill>
          <a:blip r:embed="rId6"/>
          <a:stretch/>
        </p:blipFill>
        <p:spPr>
          <a:xfrm>
            <a:off x="6492240" y="381312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13" name="Text 26"/>
          <p:cNvSpPr/>
          <p:nvPr/>
        </p:nvSpPr>
        <p:spPr>
          <a:xfrm>
            <a:off x="6766560" y="376740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B9D2D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charts/report_charts.py  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차트 함수 라이브러리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4" name="Text 27"/>
          <p:cNvSpPr/>
          <p:nvPr/>
        </p:nvSpPr>
        <p:spPr>
          <a:xfrm>
            <a:off x="6236280" y="4078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15" name="Image 8" descr="preencoded.png"/>
          <p:cNvPicPr/>
          <p:nvPr/>
        </p:nvPicPr>
        <p:blipFill>
          <a:blip r:embed="rId7"/>
          <a:stretch/>
        </p:blipFill>
        <p:spPr>
          <a:xfrm>
            <a:off x="6492240" y="4096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16" name="Text 28"/>
          <p:cNvSpPr/>
          <p:nvPr/>
        </p:nvSpPr>
        <p:spPr>
          <a:xfrm>
            <a:off x="6766560" y="405072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5CE7A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CLAUDE.md  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프로젝트 규칙서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7" name="Text 29"/>
          <p:cNvSpPr/>
          <p:nvPr/>
        </p:nvSpPr>
        <p:spPr>
          <a:xfrm>
            <a:off x="6236280" y="4361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18" name="Image 9" descr="preencoded.png"/>
          <p:cNvPicPr/>
          <p:nvPr/>
        </p:nvPicPr>
        <p:blipFill>
          <a:blip r:embed="rId6"/>
          <a:stretch/>
        </p:blipFill>
        <p:spPr>
          <a:xfrm>
            <a:off x="6492240" y="438012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19" name="Text 30"/>
          <p:cNvSpPr/>
          <p:nvPr/>
        </p:nvSpPr>
        <p:spPr>
          <a:xfrm>
            <a:off x="6766560" y="433440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B9D2D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validate.py · run_report.py  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검증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·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실행 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정답본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20" name="Image 10" descr="preencoded.png"/>
          <p:cNvPicPr/>
          <p:nvPr/>
        </p:nvPicPr>
        <p:blipFill>
          <a:blip r:embed="rId3"/>
          <a:stretch/>
        </p:blipFill>
        <p:spPr>
          <a:xfrm>
            <a:off x="6080760" y="4663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21" name="Text 31"/>
          <p:cNvSpPr/>
          <p:nvPr/>
        </p:nvSpPr>
        <p:spPr>
          <a:xfrm>
            <a:off x="6355080" y="461772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templates/   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2" name="Text 32"/>
          <p:cNvSpPr/>
          <p:nvPr/>
        </p:nvSpPr>
        <p:spPr>
          <a:xfrm>
            <a:off x="6236280" y="49561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F707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└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23" name="Image 11" descr="preencoded.png"/>
          <p:cNvPicPr/>
          <p:nvPr/>
        </p:nvPicPr>
        <p:blipFill>
          <a:blip r:embed="rId8"/>
          <a:stretch/>
        </p:blipFill>
        <p:spPr>
          <a:xfrm>
            <a:off x="6492240" y="49744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24" name="Text 33"/>
          <p:cNvSpPr/>
          <p:nvPr/>
        </p:nvSpPr>
        <p:spPr>
          <a:xfrm>
            <a:off x="6766560" y="492876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B9D2D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admin_report_template.html   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Plotly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인터랙티브 예시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5" name="Text 34"/>
          <p:cNvSpPr/>
          <p:nvPr/>
        </p:nvSpPr>
        <p:spPr>
          <a:xfrm>
            <a:off x="502920" y="525780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⚠ charts/style.py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는 공유 자산 </a:t>
            </a:r>
            <a:r>
              <a:rPr kumimoji="0" lang="en-US" altLang="zh-CN" sz="12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절대 수정하지 않습니다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1DDC9-F17C-DBC2-EDB9-10631458F8D4}"/>
              </a:ext>
            </a:extLst>
          </p:cNvPr>
          <p:cNvSpPr txBox="1"/>
          <p:nvPr/>
        </p:nvSpPr>
        <p:spPr>
          <a:xfrm>
            <a:off x="475560" y="1695102"/>
            <a:ext cx="5102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강의자료 </a:t>
            </a:r>
            <a:r>
              <a:rPr lang="ko-KR" altLang="en-US" dirty="0" err="1"/>
              <a:t>kisti-charts-lecture</a:t>
            </a:r>
            <a:r>
              <a:rPr lang="ko-KR" altLang="en-US" dirty="0"/>
              <a:t> 폴더 안에 있는 파일들을 방금 만든 디렉토리 </a:t>
            </a:r>
            <a:r>
              <a:rPr lang="en-US" altLang="ko-KR" dirty="0"/>
              <a:t>C:\kisti_ai_study\kisti-charts </a:t>
            </a:r>
            <a:r>
              <a:rPr lang="ko-KR" altLang="en-US" dirty="0"/>
              <a:t>로 다 복사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 0"/>
          <p:cNvSpPr/>
          <p:nvPr/>
        </p:nvSpPr>
        <p:spPr>
          <a:xfrm>
            <a:off x="7589520" y="182880"/>
            <a:ext cx="4571640" cy="64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3000" b="1" i="0" u="none" strike="noStrike" kern="1200" cap="none" spc="-1" normalizeH="0" baseline="0" noProof="0">
                <a:ln>
                  <a:noFill/>
                </a:ln>
                <a:solidFill>
                  <a:srgbClr val="103948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endParaRPr kumimoji="0" lang="en-US" sz="43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9" name="Text 3"/>
          <p:cNvSpPr/>
          <p:nvPr/>
        </p:nvSpPr>
        <p:spPr>
          <a:xfrm>
            <a:off x="841320" y="2194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BUILD A CHART PROGRAM WITH CLAUDE CODE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0" name="Text 4"/>
          <p:cNvSpPr/>
          <p:nvPr/>
        </p:nvSpPr>
        <p:spPr>
          <a:xfrm>
            <a:off x="804600" y="2560320"/>
            <a:ext cx="74977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</a:t>
            </a:r>
            <a:r>
              <a:rPr kumimoji="0" lang="zh-CN" alt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</a:t>
            </a:r>
            <a:endParaRPr kumimoji="0" lang="en-US" sz="4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</a:t>
            </a:r>
            <a:r>
              <a:rPr kumimoji="0" lang="zh-CN" alt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 프로그램’ 만들기</a:t>
            </a:r>
            <a:endParaRPr kumimoji="0" lang="en-US" sz="4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1" name="Text 5"/>
          <p:cNvSpPr/>
          <p:nvPr/>
        </p:nvSpPr>
        <p:spPr>
          <a:xfrm>
            <a:off x="841320" y="406908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도구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 Claude Code ·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트랙 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B(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고령화 연구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 ·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목표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재사용 차트 함수 라이브러리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2" name="Shape 6"/>
          <p:cNvSpPr/>
          <p:nvPr/>
        </p:nvSpPr>
        <p:spPr>
          <a:xfrm>
            <a:off x="868680" y="4773240"/>
            <a:ext cx="145800" cy="145800"/>
          </a:xfrm>
          <a:prstGeom prst="ellipse">
            <a:avLst/>
          </a:prstGeom>
          <a:solidFill>
            <a:srgbClr val="F7C0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3" name="Text 7"/>
          <p:cNvSpPr/>
          <p:nvPr/>
        </p:nvSpPr>
        <p:spPr>
          <a:xfrm>
            <a:off x="1170360" y="466344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plan mode(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 전 계획 검토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와 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CLAUDE.md(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고정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직접 다룬다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4" name="Shape 8"/>
          <p:cNvSpPr/>
          <p:nvPr/>
        </p:nvSpPr>
        <p:spPr>
          <a:xfrm>
            <a:off x="868680" y="5248800"/>
            <a:ext cx="145800" cy="145800"/>
          </a:xfrm>
          <a:prstGeom prst="ellipse">
            <a:avLst/>
          </a:prstGeom>
          <a:solidFill>
            <a:srgbClr val="F7C0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5" name="Text 9"/>
          <p:cNvSpPr/>
          <p:nvPr/>
        </p:nvSpPr>
        <p:spPr>
          <a:xfrm>
            <a:off x="1170360" y="513900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코드를 읽지 않고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계획을 검토하고 산출물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(PNG)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을 검증한다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6" name="Shape 10"/>
          <p:cNvSpPr/>
          <p:nvPr/>
        </p:nvSpPr>
        <p:spPr>
          <a:xfrm>
            <a:off x="868680" y="5724000"/>
            <a:ext cx="145800" cy="145800"/>
          </a:xfrm>
          <a:prstGeom prst="ellipse">
            <a:avLst/>
          </a:prstGeom>
          <a:solidFill>
            <a:srgbClr val="F7C0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7" name="Text 11"/>
          <p:cNvSpPr/>
          <p:nvPr/>
        </p:nvSpPr>
        <p:spPr>
          <a:xfrm>
            <a:off x="1170360" y="561456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작게 한 번 → 크게 한 번’ </a:t>
            </a:r>
            <a:r>
              <a:rPr kumimoji="0" lang="en-US" altLang="zh-CN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규칙이 박히면 한 번에 만들어도 룩이 안 갈린다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9F63-1247-35D7-C753-34A79D14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 0">
            <a:extLst>
              <a:ext uri="{FF2B5EF4-FFF2-40B4-BE49-F238E27FC236}">
                <a16:creationId xmlns:a16="http://schemas.microsoft.com/office/drawing/2014/main" id="{317F2BD7-CECE-F47A-B7B0-67AA541A7D74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미니 사전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꼭 읽기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9" name="Text 1">
            <a:extLst>
              <a:ext uri="{FF2B5EF4-FFF2-40B4-BE49-F238E27FC236}">
                <a16:creationId xmlns:a16="http://schemas.microsoft.com/office/drawing/2014/main" id="{CE433FF0-CB25-C1B2-FDB4-6750040E9EA0}"/>
              </a:ext>
            </a:extLst>
          </p:cNvPr>
          <p:cNvSpPr/>
          <p:nvPr/>
        </p:nvSpPr>
        <p:spPr>
          <a:xfrm>
            <a:off x="475560" y="548640"/>
            <a:ext cx="11595194" cy="1001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란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?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2500" spc="-1" dirty="0">
                <a:solidFill>
                  <a:srgbClr val="000000"/>
                </a:solidFill>
                <a:latin typeface="Arial"/>
              </a:rPr>
              <a:t>Claude desktop</a:t>
            </a:r>
            <a:r>
              <a:rPr lang="ko-KR" altLang="en-US" sz="2500" spc="-1" dirty="0">
                <a:solidFill>
                  <a:srgbClr val="000000"/>
                </a:solidFill>
                <a:latin typeface="Arial"/>
              </a:rPr>
              <a:t>과 </a:t>
            </a:r>
            <a:r>
              <a:rPr lang="en-US" altLang="ko-KR" sz="2500" spc="-1" dirty="0" err="1">
                <a:solidFill>
                  <a:srgbClr val="000000"/>
                </a:solidFill>
                <a:latin typeface="Arial"/>
              </a:rPr>
              <a:t>claude</a:t>
            </a:r>
            <a:r>
              <a:rPr lang="en-US" altLang="ko-KR" sz="2500" spc="-1" dirty="0">
                <a:solidFill>
                  <a:srgbClr val="000000"/>
                </a:solidFill>
                <a:latin typeface="Arial"/>
              </a:rPr>
              <a:t> cli </a:t>
            </a:r>
            <a:r>
              <a:rPr lang="ko-KR" altLang="en-US" sz="2500" spc="-1" dirty="0">
                <a:solidFill>
                  <a:srgbClr val="000000"/>
                </a:solidFill>
                <a:latin typeface="Arial"/>
              </a:rPr>
              <a:t>에서 모두 이용 가능하나 오늘은 </a:t>
            </a:r>
            <a:r>
              <a:rPr lang="en-US" altLang="ko-KR" sz="2500" spc="-1" dirty="0">
                <a:solidFill>
                  <a:srgbClr val="000000"/>
                </a:solidFill>
                <a:latin typeface="Arial"/>
              </a:rPr>
              <a:t>desktop</a:t>
            </a:r>
            <a:r>
              <a:rPr lang="ko-KR" altLang="en-US" sz="2500" spc="-1" dirty="0">
                <a:solidFill>
                  <a:srgbClr val="000000"/>
                </a:solidFill>
                <a:latin typeface="Arial"/>
              </a:rPr>
              <a:t>에서 실습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ABFB64-B9E4-6172-B52E-EF7E0DD87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17" y="2827377"/>
            <a:ext cx="5694773" cy="38517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E704A14-1D92-19A6-4D8B-1AA0BA6E1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1" y="3148713"/>
            <a:ext cx="5471171" cy="2804826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EA4B86CC-E1D6-3CFD-D2A3-1C2C93FAAB13}"/>
              </a:ext>
            </a:extLst>
          </p:cNvPr>
          <p:cNvSpPr/>
          <p:nvPr/>
        </p:nvSpPr>
        <p:spPr>
          <a:xfrm>
            <a:off x="475560" y="1550504"/>
            <a:ext cx="11155320" cy="868320"/>
          </a:xfrm>
          <a:prstGeom prst="roundRect">
            <a:avLst>
              <a:gd name="adj" fmla="val 9474"/>
            </a:avLst>
          </a:prstGeom>
          <a:solidFill>
            <a:srgbClr val="0B2F3A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C3B3964-AB04-C393-7042-A17AF938C545}"/>
              </a:ext>
            </a:extLst>
          </p:cNvPr>
          <p:cNvSpPr/>
          <p:nvPr/>
        </p:nvSpPr>
        <p:spPr>
          <a:xfrm>
            <a:off x="749880" y="1751744"/>
            <a:ext cx="475200" cy="475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772C7C21-7BBF-A227-3409-A91F10C6AE8B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73360" y="1875224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C557E026-5660-6D59-7ECA-24DB50555B9A}"/>
              </a:ext>
            </a:extLst>
          </p:cNvPr>
          <p:cNvSpPr/>
          <p:nvPr/>
        </p:nvSpPr>
        <p:spPr>
          <a:xfrm>
            <a:off x="1344240" y="1550504"/>
            <a:ext cx="10149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 =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터미널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또는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Desktop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의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Code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탭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 동작하는 코딩 에이전트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여러분이 ‘무엇을 원하는지’ 자연어로 말하면 파일을 직접 만들고 고치고 실행해 줍니다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여러분은 코드를 타이핑하지 않습니다 </a:t>
            </a:r>
            <a:r>
              <a:rPr kumimoji="0" lang="en-US" altLang="zh-CN" sz="125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계획을 검토하고 결과를 확인합니다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F24D8F-AD74-AA91-3796-5C5FC1DCB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469" y="2223919"/>
            <a:ext cx="6535062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226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A3A5-7AED-4103-D1F7-C5DA1779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 0">
            <a:extLst>
              <a:ext uri="{FF2B5EF4-FFF2-40B4-BE49-F238E27FC236}">
                <a16:creationId xmlns:a16="http://schemas.microsoft.com/office/drawing/2014/main" id="{B8B11EE8-1724-F9A9-BD5A-F24EE716A29D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미니 사전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꼭 읽기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9" name="Text 1">
            <a:extLst>
              <a:ext uri="{FF2B5EF4-FFF2-40B4-BE49-F238E27FC236}">
                <a16:creationId xmlns:a16="http://schemas.microsoft.com/office/drawing/2014/main" id="{FD917948-BB05-0FD3-388E-DC13AC1B9782}"/>
              </a:ext>
            </a:extLst>
          </p:cNvPr>
          <p:cNvSpPr/>
          <p:nvPr/>
        </p:nvSpPr>
        <p:spPr>
          <a:xfrm>
            <a:off x="475560" y="548640"/>
            <a:ext cx="11595194" cy="1001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란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?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2500" spc="-1" dirty="0">
                <a:solidFill>
                  <a:srgbClr val="000000"/>
                </a:solidFill>
                <a:latin typeface="Arial"/>
              </a:rPr>
              <a:t>Claude code </a:t>
            </a:r>
            <a:r>
              <a:rPr lang="ko-KR" altLang="en-US" sz="2500" spc="-1" dirty="0">
                <a:solidFill>
                  <a:srgbClr val="000000"/>
                </a:solidFill>
                <a:latin typeface="Arial"/>
              </a:rPr>
              <a:t>아래에서 방금 만든 </a:t>
            </a:r>
            <a:r>
              <a:rPr lang="en-US" altLang="ko-KR" sz="2500" spc="-1" dirty="0">
                <a:solidFill>
                  <a:srgbClr val="000000"/>
                </a:solidFill>
                <a:latin typeface="Arial"/>
              </a:rPr>
              <a:t>c:\kisti_ai_study\kisti_charts</a:t>
            </a:r>
            <a:r>
              <a:rPr lang="ko-KR" altLang="en-US" sz="2500" spc="-1" dirty="0">
                <a:solidFill>
                  <a:srgbClr val="000000"/>
                </a:solidFill>
                <a:latin typeface="Arial"/>
              </a:rPr>
              <a:t>를 폴더 추가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3FAB74-4DAA-01F0-7FFD-559BD7C32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315" y="2358633"/>
            <a:ext cx="8723370" cy="321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164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미니 사전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꼭 읽기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9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</a:t>
            </a: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에서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꼭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필요한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UI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및 개념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0" name="Shape 11"/>
          <p:cNvSpPr/>
          <p:nvPr/>
        </p:nvSpPr>
        <p:spPr>
          <a:xfrm>
            <a:off x="457200" y="2306348"/>
            <a:ext cx="5486040" cy="74952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1" name="Text 12"/>
          <p:cNvSpPr/>
          <p:nvPr/>
        </p:nvSpPr>
        <p:spPr>
          <a:xfrm>
            <a:off x="640080" y="2379428"/>
            <a:ext cx="17827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슬래시 명령 </a:t>
            </a: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/…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2" name="Text 13"/>
          <p:cNvSpPr/>
          <p:nvPr/>
        </p:nvSpPr>
        <p:spPr>
          <a:xfrm>
            <a:off x="2468880" y="2361068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세션 자체를 제어하는 명령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3" name="Text 14"/>
          <p:cNvSpPr/>
          <p:nvPr/>
        </p:nvSpPr>
        <p:spPr>
          <a:xfrm>
            <a:off x="4800600" y="2361068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/init, /plan </a:t>
            </a:r>
            <a:r>
              <a:rPr kumimoji="0" lang="zh-CN" alt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등</a:t>
            </a:r>
            <a:endParaRPr kumimoji="0" lang="en-US" sz="9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4" name="Shape 15"/>
          <p:cNvSpPr/>
          <p:nvPr/>
        </p:nvSpPr>
        <p:spPr>
          <a:xfrm>
            <a:off x="457200" y="3147668"/>
            <a:ext cx="5486040" cy="749520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5" name="Text 16"/>
          <p:cNvSpPr/>
          <p:nvPr/>
        </p:nvSpPr>
        <p:spPr>
          <a:xfrm>
            <a:off x="640080" y="3220748"/>
            <a:ext cx="17827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CLAUDE.md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6" name="Text 17"/>
          <p:cNvSpPr/>
          <p:nvPr/>
        </p:nvSpPr>
        <p:spPr>
          <a:xfrm>
            <a:off x="2468880" y="3202388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폴더의 규칙서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자동으로 읽힘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7" name="Text 18"/>
          <p:cNvSpPr/>
          <p:nvPr/>
        </p:nvSpPr>
        <p:spPr>
          <a:xfrm>
            <a:off x="4800600" y="3202388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코드가 안 갈리게 하는 핵심</a:t>
            </a:r>
            <a:endParaRPr kumimoji="0" lang="en-US" sz="9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8" name="Shape 19"/>
          <p:cNvSpPr/>
          <p:nvPr/>
        </p:nvSpPr>
        <p:spPr>
          <a:xfrm>
            <a:off x="457200" y="3988628"/>
            <a:ext cx="5486040" cy="74952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9" name="Text 20"/>
          <p:cNvSpPr/>
          <p:nvPr/>
        </p:nvSpPr>
        <p:spPr>
          <a:xfrm>
            <a:off x="640080" y="4062068"/>
            <a:ext cx="17827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plan mode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0" name="Text 21"/>
          <p:cNvSpPr/>
          <p:nvPr/>
        </p:nvSpPr>
        <p:spPr>
          <a:xfrm>
            <a:off x="2468880" y="4043708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읽기만 하고 실행 전 계획서를 먼저 보여줌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1" name="Text 22"/>
          <p:cNvSpPr/>
          <p:nvPr/>
        </p:nvSpPr>
        <p:spPr>
          <a:xfrm>
            <a:off x="4800600" y="4043708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 전 검토 </a:t>
            </a:r>
            <a:r>
              <a:rPr kumimoji="0" 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= </a:t>
            </a:r>
            <a:r>
              <a:rPr kumimoji="0" lang="zh-CN" alt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사고 예방</a:t>
            </a:r>
            <a:endParaRPr kumimoji="0" lang="en-US" sz="9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2" name="Shape 23"/>
          <p:cNvSpPr/>
          <p:nvPr/>
        </p:nvSpPr>
        <p:spPr>
          <a:xfrm>
            <a:off x="6080760" y="2291494"/>
            <a:ext cx="5486040" cy="749520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3" name="Text 24"/>
          <p:cNvSpPr/>
          <p:nvPr/>
        </p:nvSpPr>
        <p:spPr>
          <a:xfrm>
            <a:off x="6263640" y="2364574"/>
            <a:ext cx="17827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@</a:t>
            </a: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파일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4" name="Text 25"/>
          <p:cNvSpPr/>
          <p:nvPr/>
        </p:nvSpPr>
        <p:spPr>
          <a:xfrm>
            <a:off x="8092440" y="2346214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특정 파일을 대화에 끌어오는 표기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5" name="Text 26"/>
          <p:cNvSpPr/>
          <p:nvPr/>
        </p:nvSpPr>
        <p:spPr>
          <a:xfrm>
            <a:off x="10424160" y="2346214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앵커로 쓸 파일 지정</a:t>
            </a:r>
            <a:endParaRPr kumimoji="0" lang="en-US" sz="9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0" name="Shape 31"/>
          <p:cNvSpPr/>
          <p:nvPr/>
        </p:nvSpPr>
        <p:spPr>
          <a:xfrm>
            <a:off x="6080760" y="3147668"/>
            <a:ext cx="5486040" cy="749520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1" name="Text 32"/>
          <p:cNvSpPr/>
          <p:nvPr/>
        </p:nvSpPr>
        <p:spPr>
          <a:xfrm>
            <a:off x="6263640" y="3220748"/>
            <a:ext cx="17827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컨텍스트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2" name="Text 33"/>
          <p:cNvSpPr/>
          <p:nvPr/>
        </p:nvSpPr>
        <p:spPr>
          <a:xfrm>
            <a:off x="8092440" y="3202388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지금 대화가 기억하는 내용의 양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3" name="Text 34"/>
          <p:cNvSpPr/>
          <p:nvPr/>
        </p:nvSpPr>
        <p:spPr>
          <a:xfrm>
            <a:off x="10424160" y="3202388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0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길어지면 정리 필요</a:t>
            </a:r>
            <a:endParaRPr kumimoji="0" lang="en-US" sz="9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흐름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2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순서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3" name="Shape 2"/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4" name="Text 3"/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03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5" name="Shape 4"/>
          <p:cNvSpPr/>
          <p:nvPr/>
        </p:nvSpPr>
        <p:spPr>
          <a:xfrm>
            <a:off x="502920" y="1463040"/>
            <a:ext cx="11155320" cy="685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6" name="Shape 5"/>
          <p:cNvSpPr/>
          <p:nvPr/>
        </p:nvSpPr>
        <p:spPr>
          <a:xfrm>
            <a:off x="502920" y="1463040"/>
            <a:ext cx="685440" cy="685440"/>
          </a:xfrm>
          <a:prstGeom prst="roundRect">
            <a:avLst>
              <a:gd name="adj" fmla="val 10667"/>
            </a:avLst>
          </a:prstGeom>
          <a:solidFill>
            <a:srgbClr val="47556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7" name="Text 6"/>
          <p:cNvSpPr/>
          <p:nvPr/>
        </p:nvSpPr>
        <p:spPr>
          <a:xfrm>
            <a:off x="502920" y="14630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6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</a:t>
            </a:r>
            <a:endParaRPr kumimoji="0" lang="en-US" sz="2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58" name="Image 0" descr="preencoded.png"/>
          <p:cNvPicPr/>
          <p:nvPr/>
        </p:nvPicPr>
        <p:blipFill>
          <a:blip r:embed="rId3"/>
          <a:stretch/>
        </p:blipFill>
        <p:spPr>
          <a:xfrm>
            <a:off x="1417320" y="16642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59" name="Text 7"/>
          <p:cNvSpPr/>
          <p:nvPr/>
        </p:nvSpPr>
        <p:spPr>
          <a:xfrm>
            <a:off x="1920240" y="146304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준비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0" name="Text 8"/>
          <p:cNvSpPr/>
          <p:nvPr/>
        </p:nvSpPr>
        <p:spPr>
          <a:xfrm>
            <a:off x="5029200" y="146304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고정 자산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(style.py)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확인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Claude Code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열기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(claude)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1" name="Shape 9"/>
          <p:cNvSpPr/>
          <p:nvPr/>
        </p:nvSpPr>
        <p:spPr>
          <a:xfrm>
            <a:off x="502920" y="2221920"/>
            <a:ext cx="11155320" cy="685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2" name="Shape 10"/>
          <p:cNvSpPr/>
          <p:nvPr/>
        </p:nvSpPr>
        <p:spPr>
          <a:xfrm>
            <a:off x="502920" y="2221920"/>
            <a:ext cx="685440" cy="68544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3" name="Text 11"/>
          <p:cNvSpPr/>
          <p:nvPr/>
        </p:nvSpPr>
        <p:spPr>
          <a:xfrm>
            <a:off x="502920" y="22219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6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endParaRPr kumimoji="0" lang="en-US" sz="2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64" name="Image 1" descr="preencoded.png"/>
          <p:cNvPicPr/>
          <p:nvPr/>
        </p:nvPicPr>
        <p:blipFill>
          <a:blip r:embed="rId4"/>
          <a:stretch/>
        </p:blipFill>
        <p:spPr>
          <a:xfrm>
            <a:off x="1417320" y="24231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65" name="Text 12"/>
          <p:cNvSpPr/>
          <p:nvPr/>
        </p:nvSpPr>
        <p:spPr>
          <a:xfrm>
            <a:off x="1920240" y="222192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고정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6" name="Text 13"/>
          <p:cNvSpPr/>
          <p:nvPr/>
        </p:nvSpPr>
        <p:spPr>
          <a:xfrm>
            <a:off x="5029200" y="222192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/init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으로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CLAUDE.md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생성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작성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7" name="Shape 14"/>
          <p:cNvSpPr/>
          <p:nvPr/>
        </p:nvSpPr>
        <p:spPr>
          <a:xfrm>
            <a:off x="502920" y="2980800"/>
            <a:ext cx="11155320" cy="685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8" name="Shape 15"/>
          <p:cNvSpPr/>
          <p:nvPr/>
        </p:nvSpPr>
        <p:spPr>
          <a:xfrm>
            <a:off x="502920" y="2980800"/>
            <a:ext cx="685440" cy="68544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9" name="Text 16"/>
          <p:cNvSpPr/>
          <p:nvPr/>
        </p:nvSpPr>
        <p:spPr>
          <a:xfrm>
            <a:off x="502920" y="29808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6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endParaRPr kumimoji="0" lang="en-US" sz="2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70" name="Image 2" descr="preencoded.png"/>
          <p:cNvPicPr/>
          <p:nvPr/>
        </p:nvPicPr>
        <p:blipFill>
          <a:blip r:embed="rId5"/>
          <a:stretch/>
        </p:blipFill>
        <p:spPr>
          <a:xfrm>
            <a:off x="1417320" y="31820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71" name="Text 17"/>
          <p:cNvSpPr/>
          <p:nvPr/>
        </p:nvSpPr>
        <p:spPr>
          <a:xfrm>
            <a:off x="1920240" y="298080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첫 빌드 </a:t>
            </a: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강사 시연</a:t>
            </a: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2" name="Text 18"/>
          <p:cNvSpPr/>
          <p:nvPr/>
        </p:nvSpPr>
        <p:spPr>
          <a:xfrm>
            <a:off x="5029200" y="298080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작은 스코프 </a:t>
            </a:r>
            <a:r>
              <a:rPr kumimoji="0" lang="en-US" altLang="zh-CN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plan mode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조작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 익히기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3" name="Shape 19"/>
          <p:cNvSpPr/>
          <p:nvPr/>
        </p:nvSpPr>
        <p:spPr>
          <a:xfrm>
            <a:off x="502920" y="3740040"/>
            <a:ext cx="11155320" cy="685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4" name="Shape 20"/>
          <p:cNvSpPr/>
          <p:nvPr/>
        </p:nvSpPr>
        <p:spPr>
          <a:xfrm>
            <a:off x="502920" y="3740040"/>
            <a:ext cx="685440" cy="68544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5" name="Text 21"/>
          <p:cNvSpPr/>
          <p:nvPr/>
        </p:nvSpPr>
        <p:spPr>
          <a:xfrm>
            <a:off x="502920" y="37400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6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endParaRPr kumimoji="0" lang="en-US" sz="2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76" name="Image 3" descr="preencoded.png"/>
          <p:cNvPicPr/>
          <p:nvPr/>
        </p:nvPicPr>
        <p:blipFill>
          <a:blip r:embed="rId5"/>
          <a:stretch/>
        </p:blipFill>
        <p:spPr>
          <a:xfrm>
            <a:off x="1417320" y="39409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77" name="Text 22"/>
          <p:cNvSpPr/>
          <p:nvPr/>
        </p:nvSpPr>
        <p:spPr>
          <a:xfrm>
            <a:off x="1920240" y="374004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두 번째 빌드 </a:t>
            </a: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학생 자력</a:t>
            </a: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8" name="Text 23"/>
          <p:cNvSpPr/>
          <p:nvPr/>
        </p:nvSpPr>
        <p:spPr>
          <a:xfrm>
            <a:off x="5029200" y="374004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같은 절차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회 </a:t>
            </a:r>
            <a:r>
              <a:rPr kumimoji="0" lang="en-US" altLang="zh-CN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facet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라인 차트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9" name="Shape 24"/>
          <p:cNvSpPr/>
          <p:nvPr/>
        </p:nvSpPr>
        <p:spPr>
          <a:xfrm>
            <a:off x="502920" y="4498920"/>
            <a:ext cx="11155320" cy="685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0" name="Shape 25"/>
          <p:cNvSpPr/>
          <p:nvPr/>
        </p:nvSpPr>
        <p:spPr>
          <a:xfrm>
            <a:off x="502920" y="4498920"/>
            <a:ext cx="685440" cy="68544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1" name="Text 26"/>
          <p:cNvSpPr/>
          <p:nvPr/>
        </p:nvSpPr>
        <p:spPr>
          <a:xfrm>
            <a:off x="502920" y="44989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6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</a:t>
            </a:r>
            <a:endParaRPr kumimoji="0" lang="en-US" sz="2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82" name="Image 4" descr="preencoded.png"/>
          <p:cNvPicPr/>
          <p:nvPr/>
        </p:nvPicPr>
        <p:blipFill>
          <a:blip r:embed="rId6"/>
          <a:stretch/>
        </p:blipFill>
        <p:spPr>
          <a:xfrm>
            <a:off x="1417320" y="47001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83" name="Text 27"/>
          <p:cNvSpPr/>
          <p:nvPr/>
        </p:nvSpPr>
        <p:spPr>
          <a:xfrm>
            <a:off x="1920240" y="449892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나머지 한 번에 빌드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4" name="Text 28"/>
          <p:cNvSpPr/>
          <p:nvPr/>
        </p:nvSpPr>
        <p:spPr>
          <a:xfrm>
            <a:off x="5029200" y="449892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스펙 하나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plan mode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표준 차트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6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종 일괄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5" name="Shape 29"/>
          <p:cNvSpPr/>
          <p:nvPr/>
        </p:nvSpPr>
        <p:spPr>
          <a:xfrm>
            <a:off x="502920" y="5257800"/>
            <a:ext cx="11155320" cy="685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Shape 30"/>
          <p:cNvSpPr/>
          <p:nvPr/>
        </p:nvSpPr>
        <p:spPr>
          <a:xfrm>
            <a:off x="502920" y="5257800"/>
            <a:ext cx="685440" cy="685440"/>
          </a:xfrm>
          <a:prstGeom prst="roundRect">
            <a:avLst>
              <a:gd name="adj" fmla="val 10667"/>
            </a:avLst>
          </a:prstGeom>
          <a:solidFill>
            <a:srgbClr val="EF6F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7" name="Text 31"/>
          <p:cNvSpPr/>
          <p:nvPr/>
        </p:nvSpPr>
        <p:spPr>
          <a:xfrm>
            <a:off x="502920" y="52578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6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5</a:t>
            </a:r>
            <a:endParaRPr kumimoji="0" lang="en-US" sz="2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88" name="Image 5" descr="preencoded.png"/>
          <p:cNvPicPr/>
          <p:nvPr/>
        </p:nvPicPr>
        <p:blipFill>
          <a:blip r:embed="rId7"/>
          <a:stretch/>
        </p:blipFill>
        <p:spPr>
          <a:xfrm>
            <a:off x="1417320" y="54590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89" name="Text 32"/>
          <p:cNvSpPr/>
          <p:nvPr/>
        </p:nvSpPr>
        <p:spPr>
          <a:xfrm>
            <a:off x="1920240" y="525780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산출물 검증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Text 33"/>
          <p:cNvSpPr/>
          <p:nvPr/>
        </p:nvSpPr>
        <p:spPr>
          <a:xfrm>
            <a:off x="5029200" y="525780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PNG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일괄 점검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 안 읽음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1" name="Shape 34"/>
          <p:cNvSpPr/>
          <p:nvPr/>
        </p:nvSpPr>
        <p:spPr>
          <a:xfrm>
            <a:off x="502920" y="6016680"/>
            <a:ext cx="11155320" cy="502560"/>
          </a:xfrm>
          <a:prstGeom prst="roundRect">
            <a:avLst>
              <a:gd name="adj" fmla="val 16364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2" name="Text 35"/>
          <p:cNvSpPr/>
          <p:nvPr/>
        </p:nvSpPr>
        <p:spPr>
          <a:xfrm>
            <a:off x="731520" y="6016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⚓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앵커는 항상 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charts/style.py · CLAUDE.md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— ‘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직전 생성물’이 아닙니다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한 명이 어긋나도 사슬이 안 끊깁니다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1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4" name="Text 1"/>
          <p:cNvSpPr/>
          <p:nvPr/>
        </p:nvSpPr>
        <p:spPr>
          <a:xfrm>
            <a:off x="475559" y="548640"/>
            <a:ext cx="11332128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고정 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프롬프트창에서</a:t>
            </a:r>
            <a:r>
              <a:rPr kumimoji="0" lang="en-US" altLang="zh-CN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</a:t>
            </a:r>
            <a:r>
              <a:rPr kumimoji="0" lang="en-US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init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타이핑 해서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CLAUDE.md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만들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고 아래 내용 추가하기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7" name="Shape 4"/>
          <p:cNvSpPr/>
          <p:nvPr/>
        </p:nvSpPr>
        <p:spPr>
          <a:xfrm>
            <a:off x="502920" y="1371599"/>
            <a:ext cx="6583320" cy="5267739"/>
          </a:xfrm>
          <a:prstGeom prst="roundRect">
            <a:avLst>
              <a:gd name="adj" fmla="val 1935"/>
            </a:avLst>
          </a:prstGeom>
          <a:solidFill>
            <a:srgbClr val="0C2630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8" name="Text 5"/>
          <p:cNvSpPr/>
          <p:nvPr/>
        </p:nvSpPr>
        <p:spPr>
          <a:xfrm>
            <a:off x="777240" y="157284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CLAUDE.md — KISTI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차트 프로그램 규칙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0" name="Text 7"/>
          <p:cNvSpPr/>
          <p:nvPr/>
        </p:nvSpPr>
        <p:spPr>
          <a:xfrm>
            <a:off x="625200" y="2124171"/>
            <a:ext cx="6034680" cy="37625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##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폴더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·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파일 규칙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차트 저장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: output/ ·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파일명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: chart_&lt;id&gt;.</a:t>
            </a:r>
            <a:r>
              <a:rPr lang="en-US" altLang="ko-KR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png</a:t>
            </a:r>
            <a:endParaRPr lang="en-US" altLang="ko-KR" sz="1050" spc="-1" dirty="0">
              <a:solidFill>
                <a:srgbClr val="D7E6E9"/>
              </a:solidFill>
              <a:latin typeface="Courier New"/>
              <a:ea typeface="Courier New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charts/style.py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는 ★수정 금지★ 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(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읽기 전용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)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차트 추가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·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변경은 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charts/report_charts.py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에서만</a:t>
            </a:r>
          </a:p>
          <a:p>
            <a:pPr lvl="0" latinLnBrk="1">
              <a:tabLst>
                <a:tab pos="0" algn="l"/>
              </a:tabLst>
              <a:defRPr/>
            </a:pPr>
            <a:endParaRPr lang="ko-KR" altLang="en-US" sz="1050" spc="-1" dirty="0">
              <a:solidFill>
                <a:srgbClr val="D7E6E9"/>
              </a:solidFill>
              <a:latin typeface="Courier New"/>
              <a:ea typeface="Courier New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##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통일 </a:t>
            </a:r>
            <a:r>
              <a:rPr lang="ko-KR" altLang="en-US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시그니처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 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(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예외 없음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)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plot_xxx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(</a:t>
            </a:r>
            <a:r>
              <a:rPr lang="en-US" altLang="ko-KR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df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, *, x, y, group=None, title=None, palette=None, </a:t>
            </a:r>
            <a:r>
              <a:rPr lang="en-US" altLang="ko-KR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outfile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=None, kw)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열 이름 하드코딩 금지 → 파라미터로 받는다</a:t>
            </a:r>
          </a:p>
          <a:p>
            <a:pPr lvl="0" latinLnBrk="1">
              <a:tabLst>
                <a:tab pos="0" algn="l"/>
              </a:tabLst>
              <a:defRPr/>
            </a:pPr>
            <a:endParaRPr lang="ko-KR" altLang="en-US" sz="1050" spc="-1" dirty="0">
              <a:solidFill>
                <a:srgbClr val="D7E6E9"/>
              </a:solidFill>
              <a:latin typeface="Courier New"/>
              <a:ea typeface="Courier New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##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스타일 규칙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style.py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함수만 사용 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· PNG 300dpi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단일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색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·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폰트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·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출처 라인은 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style.py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가 책임</a:t>
            </a:r>
          </a:p>
          <a:p>
            <a:pPr lvl="0" latinLnBrk="1">
              <a:tabLst>
                <a:tab pos="0" algn="l"/>
              </a:tabLst>
              <a:defRPr/>
            </a:pPr>
            <a:endParaRPr lang="ko-KR" altLang="en-US" sz="1050" spc="-1" dirty="0">
              <a:solidFill>
                <a:srgbClr val="D7E6E9"/>
              </a:solidFill>
              <a:latin typeface="Courier New"/>
              <a:ea typeface="Courier New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##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작업 방식 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·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환경</a:t>
            </a: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큰 변경 전 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plan mode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로 </a:t>
            </a:r>
            <a:r>
              <a:rPr lang="ko-KR" altLang="en-US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계획→승인</a:t>
            </a:r>
            <a:endParaRPr lang="ko-KR" altLang="en-US" sz="1050" spc="-1" dirty="0">
              <a:solidFill>
                <a:srgbClr val="D7E6E9"/>
              </a:solidFill>
              <a:latin typeface="Courier New"/>
              <a:ea typeface="Courier New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Windows / Python 3.13 / </a:t>
            </a:r>
            <a:r>
              <a:rPr lang="en-US" altLang="ko-KR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uv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 / </a:t>
            </a:r>
            <a:r>
              <a:rPr lang="ko-KR" altLang="en-US" sz="1050" spc="-1" dirty="0">
                <a:solidFill>
                  <a:srgbClr val="D7E6E9"/>
                </a:solidFill>
                <a:latin typeface="Courier New"/>
                <a:ea typeface="Courier New"/>
              </a:rPr>
              <a:t>항상 </a:t>
            </a:r>
            <a:r>
              <a:rPr lang="en-US" altLang="ko-KR" sz="1050" spc="-1" dirty="0" err="1">
                <a:solidFill>
                  <a:srgbClr val="D7E6E9"/>
                </a:solidFill>
                <a:latin typeface="Courier New"/>
                <a:ea typeface="Courier New"/>
              </a:rPr>
              <a:t>uv</a:t>
            </a:r>
            <a:r>
              <a:rPr lang="en-US" altLang="ko-KR" sz="1050" spc="-1" dirty="0">
                <a:solidFill>
                  <a:srgbClr val="D7E6E9"/>
                </a:solidFill>
                <a:latin typeface="Courier New"/>
                <a:ea typeface="Courier New"/>
              </a:rPr>
              <a:t> run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3" name="Shape 20"/>
          <p:cNvSpPr/>
          <p:nvPr/>
        </p:nvSpPr>
        <p:spPr>
          <a:xfrm>
            <a:off x="7269480" y="1371600"/>
            <a:ext cx="4388760" cy="1965600"/>
          </a:xfrm>
          <a:prstGeom prst="roundRect">
            <a:avLst>
              <a:gd name="adj" fmla="val 4186"/>
            </a:avLst>
          </a:prstGeom>
          <a:solidFill>
            <a:srgbClr val="E1F2F0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4" name="Shape 21"/>
          <p:cNvSpPr/>
          <p:nvPr/>
        </p:nvSpPr>
        <p:spPr>
          <a:xfrm>
            <a:off x="7543800" y="162756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15" name="Image 0" descr="preencoded.png"/>
          <p:cNvPicPr/>
          <p:nvPr/>
        </p:nvPicPr>
        <p:blipFill>
          <a:blip r:embed="rId3"/>
          <a:stretch/>
        </p:blipFill>
        <p:spPr>
          <a:xfrm>
            <a:off x="7686360" y="177012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816" name="Text 22"/>
          <p:cNvSpPr/>
          <p:nvPr/>
        </p:nvSpPr>
        <p:spPr>
          <a:xfrm>
            <a:off x="8275320" y="16916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 파일이 박혀 있으면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7" name="Text 23"/>
          <p:cNvSpPr/>
          <p:nvPr/>
        </p:nvSpPr>
        <p:spPr>
          <a:xfrm>
            <a:off x="7543800" y="2286000"/>
            <a:ext cx="38858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누가 어떤 프롬프트를 던져도 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저장 경로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파일명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시그니처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스타일이 통일</a:t>
            </a: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됩니다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1AEAE-5C36-CD9B-5CDF-85B424C3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 0">
            <a:extLst>
              <a:ext uri="{FF2B5EF4-FFF2-40B4-BE49-F238E27FC236}">
                <a16:creationId xmlns:a16="http://schemas.microsoft.com/office/drawing/2014/main" id="{8B0E1DF5-AE81-4C49-D12E-2EF19F75AE74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2~3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4" name="Text 1">
            <a:extLst>
              <a:ext uri="{FF2B5EF4-FFF2-40B4-BE49-F238E27FC236}">
                <a16:creationId xmlns:a16="http://schemas.microsoft.com/office/drawing/2014/main" id="{236FE662-9770-F3A3-B730-ED63D87AC863}"/>
              </a:ext>
            </a:extLst>
          </p:cNvPr>
          <p:cNvSpPr/>
          <p:nvPr/>
        </p:nvSpPr>
        <p:spPr>
          <a:xfrm>
            <a:off x="475560" y="548640"/>
            <a:ext cx="112135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</a:t>
            </a: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(plan)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모드로 변경 후 아래</a:t>
            </a: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프롬프트 입력 </a:t>
            </a:r>
            <a:endParaRPr kumimoji="0" lang="en-US" altLang="ko-KR" sz="2500" b="1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data/trackB_aging.csv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‘국가별 논문 수  누적 영역차트’ 만들기 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7" name="Shape 4">
            <a:extLst>
              <a:ext uri="{FF2B5EF4-FFF2-40B4-BE49-F238E27FC236}">
                <a16:creationId xmlns:a16="http://schemas.microsoft.com/office/drawing/2014/main" id="{6F2D7A73-3A12-E25A-7F88-1B9F29181F67}"/>
              </a:ext>
            </a:extLst>
          </p:cNvPr>
          <p:cNvSpPr/>
          <p:nvPr/>
        </p:nvSpPr>
        <p:spPr>
          <a:xfrm>
            <a:off x="502920" y="4262332"/>
            <a:ext cx="10827689" cy="2331360"/>
          </a:xfrm>
          <a:prstGeom prst="roundRect">
            <a:avLst>
              <a:gd name="adj" fmla="val 2745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1" name="Text 8">
            <a:extLst>
              <a:ext uri="{FF2B5EF4-FFF2-40B4-BE49-F238E27FC236}">
                <a16:creationId xmlns:a16="http://schemas.microsoft.com/office/drawing/2014/main" id="{FBE67EB4-B3C5-4A3D-2843-AB84CDBA7549}"/>
              </a:ext>
            </a:extLst>
          </p:cNvPr>
          <p:cNvSpPr/>
          <p:nvPr/>
        </p:nvSpPr>
        <p:spPr>
          <a:xfrm>
            <a:off x="1234440" y="4308052"/>
            <a:ext cx="9280789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Claude Code —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6E8A9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스펙 프롬프트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2" name="Text 9">
            <a:extLst>
              <a:ext uri="{FF2B5EF4-FFF2-40B4-BE49-F238E27FC236}">
                <a16:creationId xmlns:a16="http://schemas.microsoft.com/office/drawing/2014/main" id="{2467731F-13DE-BBB8-4F37-1CAF5DBCC8B8}"/>
              </a:ext>
            </a:extLst>
          </p:cNvPr>
          <p:cNvSpPr/>
          <p:nvPr/>
        </p:nvSpPr>
        <p:spPr>
          <a:xfrm>
            <a:off x="704161" y="4628092"/>
            <a:ext cx="10146810" cy="185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②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첫 빌드 스펙 </a:t>
            </a: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(plan mode on </a:t>
            </a:r>
            <a:r>
              <a:rPr kumimoji="0" lang="zh-CN" alt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상태에서 그대로 입력</a:t>
            </a:r>
            <a:r>
              <a:rPr kumimoji="0" lang="en-US" sz="160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› 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@code/charts/style.py  @CLAUDE.md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규칙을 따라서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,  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data/trackB_aging.csv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로 ‘국가별 논문 수  누적 </a:t>
            </a:r>
            <a:r>
              <a:rPr kumimoji="0" lang="ko-KR" alt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영역차트’를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만들어줘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  - 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plot_stacked_area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통일 </a:t>
            </a:r>
            <a:r>
              <a:rPr kumimoji="0" lang="ko-KR" alt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시그니처로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  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report_charts.py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에 추가 </a:t>
            </a:r>
            <a:r>
              <a:rPr kumimoji="0" lang="en-US" altLang="ko-KR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x=year,    y=</a:t>
            </a:r>
            <a:r>
              <a:rPr kumimoji="0" lang="en-US" sz="160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paper_count</a:t>
            </a:r>
            <a:r>
              <a: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, group=country)  - output/chart_area.png 300dpi </a:t>
            </a:r>
            <a:r>
              <a:rPr kumimoji="0" lang="ko-KR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저장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9D1094-A393-9069-EC40-950795556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60" y="1439979"/>
            <a:ext cx="3296110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257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4~5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8" name="Text 1"/>
          <p:cNvSpPr/>
          <p:nvPr/>
        </p:nvSpPr>
        <p:spPr>
          <a:xfrm>
            <a:off x="475560" y="548640"/>
            <a:ext cx="9632536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아래 차트들을 생성하도록 </a:t>
            </a:r>
            <a:r>
              <a:rPr kumimoji="0" lang="en-US" altLang="ko-KR" sz="2500" b="1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config.yaml</a:t>
            </a: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파일에 설정 저장되어 있음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1" name="Shape 4"/>
          <p:cNvSpPr/>
          <p:nvPr/>
        </p:nvSpPr>
        <p:spPr>
          <a:xfrm>
            <a:off x="411480" y="1827896"/>
            <a:ext cx="6400440" cy="3200040"/>
          </a:xfrm>
          <a:prstGeom prst="roundRect">
            <a:avLst>
              <a:gd name="adj" fmla="val 2571"/>
            </a:avLst>
          </a:prstGeom>
          <a:solidFill>
            <a:srgbClr val="0C2630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2" name="Text 5"/>
          <p:cNvSpPr/>
          <p:nvPr/>
        </p:nvSpPr>
        <p:spPr>
          <a:xfrm>
            <a:off x="685800" y="2010776"/>
            <a:ext cx="6034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④ </a:t>
            </a: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스펙 하나 </a:t>
            </a: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+ plan mode</a:t>
            </a: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로 표준 차트 </a:t>
            </a: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6</a:t>
            </a: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종 일괄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3" name="Text 6"/>
          <p:cNvSpPr/>
          <p:nvPr/>
        </p:nvSpPr>
        <p:spPr>
          <a:xfrm>
            <a:off x="731520" y="2422256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5CE7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②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4" name="Text 7"/>
          <p:cNvSpPr/>
          <p:nvPr/>
        </p:nvSpPr>
        <p:spPr>
          <a:xfrm>
            <a:off x="1005840" y="2422256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plot_pct_stacked_area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5" name="Text 8"/>
          <p:cNvSpPr/>
          <p:nvPr/>
        </p:nvSpPr>
        <p:spPr>
          <a:xfrm>
            <a:off x="3337560" y="2431256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100% </a:t>
            </a: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누적영역 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(x=year, group=country)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6" name="Text 9"/>
          <p:cNvSpPr/>
          <p:nvPr/>
        </p:nvSpPr>
        <p:spPr>
          <a:xfrm>
            <a:off x="731520" y="2806376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5CE7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④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7" name="Text 10"/>
          <p:cNvSpPr/>
          <p:nvPr/>
        </p:nvSpPr>
        <p:spPr>
          <a:xfrm>
            <a:off x="1005840" y="2806376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plot_heatmap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8" name="Text 11"/>
          <p:cNvSpPr/>
          <p:nvPr/>
        </p:nvSpPr>
        <p:spPr>
          <a:xfrm>
            <a:off x="3337560" y="2815376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히트맵 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(x=year, y=cluster, value=count)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9" name="Text 12"/>
          <p:cNvSpPr/>
          <p:nvPr/>
        </p:nvSpPr>
        <p:spPr>
          <a:xfrm>
            <a:off x="731520" y="3190496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5CE7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⑤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0" name="Text 13"/>
          <p:cNvSpPr/>
          <p:nvPr/>
        </p:nvSpPr>
        <p:spPr>
          <a:xfrm>
            <a:off x="1005840" y="3190496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plot_violin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1" name="Text 14"/>
          <p:cNvSpPr/>
          <p:nvPr/>
        </p:nvSpPr>
        <p:spPr>
          <a:xfrm>
            <a:off x="3337560" y="3199496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바이올린 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(papers, x=country, y=citations)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2" name="Text 15"/>
          <p:cNvSpPr/>
          <p:nvPr/>
        </p:nvSpPr>
        <p:spPr>
          <a:xfrm>
            <a:off x="731520" y="3574256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5CE7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⑥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3" name="Text 16"/>
          <p:cNvSpPr/>
          <p:nvPr/>
        </p:nvSpPr>
        <p:spPr>
          <a:xfrm>
            <a:off x="1005840" y="3574256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plot_box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4" name="Text 17"/>
          <p:cNvSpPr/>
          <p:nvPr/>
        </p:nvSpPr>
        <p:spPr>
          <a:xfrm>
            <a:off x="3337560" y="3583616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박스 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(papers, x=country, y=coauthors)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5" name="Text 18"/>
          <p:cNvSpPr/>
          <p:nvPr/>
        </p:nvSpPr>
        <p:spPr>
          <a:xfrm>
            <a:off x="731520" y="3958376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5CE7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⑦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6" name="Text 19"/>
          <p:cNvSpPr/>
          <p:nvPr/>
        </p:nvSpPr>
        <p:spPr>
          <a:xfrm>
            <a:off x="1005840" y="3958376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plot_scatter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7" name="Text 20"/>
          <p:cNvSpPr/>
          <p:nvPr/>
        </p:nvSpPr>
        <p:spPr>
          <a:xfrm>
            <a:off x="3337560" y="3967736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산점도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+</a:t>
            </a: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버블 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(x=coauthors, y=citations)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8" name="Text 21"/>
          <p:cNvSpPr/>
          <p:nvPr/>
        </p:nvSpPr>
        <p:spPr>
          <a:xfrm>
            <a:off x="731520" y="4342496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5CE7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⑧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9" name="Text 22"/>
          <p:cNvSpPr/>
          <p:nvPr/>
        </p:nvSpPr>
        <p:spPr>
          <a:xfrm>
            <a:off x="1005840" y="4342496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plot_diverging_bar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0" name="Text 23"/>
          <p:cNvSpPr/>
          <p:nvPr/>
        </p:nvSpPr>
        <p:spPr>
          <a:xfrm>
            <a:off x="3337560" y="4351496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발산형 분할막대 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(aggregated)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1" name="Text 24"/>
          <p:cNvSpPr/>
          <p:nvPr/>
        </p:nvSpPr>
        <p:spPr>
          <a:xfrm>
            <a:off x="685800" y="4772336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반드시 </a:t>
            </a:r>
            <a:r>
              <a:rPr kumimoji="0" 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charts/style.py </a:t>
            </a:r>
            <a:r>
              <a:rPr kumimoji="0" lang="zh-CN" alt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만 사용 </a:t>
            </a:r>
            <a:r>
              <a:rPr kumimoji="0" 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· ★</a:t>
            </a:r>
            <a:r>
              <a:rPr kumimoji="0" lang="zh-CN" alt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절대 수정 금지★ </a:t>
            </a:r>
            <a:r>
              <a:rPr kumimoji="0" 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· </a:t>
            </a:r>
            <a:r>
              <a:rPr kumimoji="0" lang="zh-CN" alt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각 </a:t>
            </a:r>
            <a:r>
              <a:rPr kumimoji="0" 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PNG 300dpi output/ </a:t>
            </a:r>
            <a:r>
              <a:rPr kumimoji="0" lang="zh-CN" altLang="en-US" sz="950" b="0" i="1" u="none" strike="noStrike" kern="1200" cap="none" spc="-1" normalizeH="0" baseline="0" noProof="0">
                <a:ln>
                  <a:noFill/>
                </a:ln>
                <a:solidFill>
                  <a:srgbClr val="F2B8A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저장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2" name="Shape 25"/>
          <p:cNvSpPr/>
          <p:nvPr/>
        </p:nvSpPr>
        <p:spPr>
          <a:xfrm>
            <a:off x="6995160" y="1827896"/>
            <a:ext cx="4571640" cy="3200040"/>
          </a:xfrm>
          <a:prstGeom prst="roundRect">
            <a:avLst>
              <a:gd name="adj" fmla="val 2571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3" name="Shape 26"/>
          <p:cNvSpPr/>
          <p:nvPr/>
        </p:nvSpPr>
        <p:spPr>
          <a:xfrm>
            <a:off x="7269480" y="2102216"/>
            <a:ext cx="566640" cy="566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84" name="Image 0" descr="preencoded.png"/>
          <p:cNvPicPr/>
          <p:nvPr/>
        </p:nvPicPr>
        <p:blipFill>
          <a:blip r:embed="rId3"/>
          <a:stretch/>
        </p:blipFill>
        <p:spPr>
          <a:xfrm>
            <a:off x="7416720" y="2249456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885" name="Text 27"/>
          <p:cNvSpPr/>
          <p:nvPr/>
        </p:nvSpPr>
        <p:spPr>
          <a:xfrm>
            <a:off x="8001000" y="2147936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CLAUDE.md </a:t>
            </a:r>
            <a:r>
              <a:rPr kumimoji="0" lang="zh-CN" altLang="en-US" sz="150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의 값어치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6" name="Text 28"/>
          <p:cNvSpPr/>
          <p:nvPr/>
        </p:nvSpPr>
        <p:spPr>
          <a:xfrm>
            <a:off x="7269480" y="2833736"/>
            <a:ext cx="4068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규칙이 박혀 있으니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한 번에 만들어도 룩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시그니처가 통일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됩니다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7" name="Text 29"/>
          <p:cNvSpPr/>
          <p:nvPr/>
        </p:nvSpPr>
        <p:spPr>
          <a:xfrm>
            <a:off x="7269480" y="3610976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 검토 포인트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8" name="Text 30"/>
          <p:cNvSpPr/>
          <p:nvPr/>
        </p:nvSpPr>
        <p:spPr>
          <a:xfrm>
            <a:off x="7269480" y="3912656"/>
            <a:ext cx="40687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추가되는 함수 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6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개의 이름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시그니처가 위와 같은가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style.py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안 건드리는가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맞으면 승인 → 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output/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 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PNG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일괄 생성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67F5D-6D70-8533-4BA1-10CEA24A7ECC}"/>
              </a:ext>
            </a:extLst>
          </p:cNvPr>
          <p:cNvSpPr txBox="1"/>
          <p:nvPr/>
        </p:nvSpPr>
        <p:spPr>
          <a:xfrm>
            <a:off x="343534" y="1043211"/>
            <a:ext cx="11131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누적 영역차트, 100% 누적 영역차트, 라인차트(</a:t>
            </a:r>
            <a:r>
              <a:rPr kumimoji="0" lang="ko-KR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small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multiples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), </a:t>
            </a:r>
            <a:r>
              <a:rPr kumimoji="0" lang="ko-KR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히트맵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, 바이올린 플롯, </a:t>
            </a:r>
            <a:r>
              <a:rPr kumimoji="0" lang="ko-KR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박스플롯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, 버블 </a:t>
            </a:r>
            <a:r>
              <a:rPr kumimoji="0" lang="ko-KR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산점도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, 발산형 막대차트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5FA6B-CE33-85B1-F92F-B8CE903F844F}"/>
              </a:ext>
            </a:extLst>
          </p:cNvPr>
          <p:cNvSpPr txBox="1"/>
          <p:nvPr/>
        </p:nvSpPr>
        <p:spPr>
          <a:xfrm>
            <a:off x="343534" y="5351531"/>
            <a:ext cx="10877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C:\kisti_ai_study\kisti-charts\code\config.yaml </a:t>
            </a:r>
            <a:r>
              <a:rPr lang="ko-KR" altLang="en-US" dirty="0"/>
              <a:t>파일을 보면 위 차트들을 기본으로 생성하도록 세팅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프롬프트에 누적 영역 차트만 생성해달라고 했지만</a:t>
            </a:r>
            <a:r>
              <a:rPr lang="en-US" altLang="ko-KR" dirty="0"/>
              <a:t>, </a:t>
            </a:r>
            <a:r>
              <a:rPr lang="ko-KR" altLang="en-US" dirty="0"/>
              <a:t>영역 차트 생성 후 다른 차트들도 생성할 것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5A15-E547-7A7B-0FD4-0F557C54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 0">
            <a:extLst>
              <a:ext uri="{FF2B5EF4-FFF2-40B4-BE49-F238E27FC236}">
                <a16:creationId xmlns:a16="http://schemas.microsoft.com/office/drawing/2014/main" id="{7513A611-53BA-F6B4-0CDE-548B1AC42346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2~3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4" name="Text 1">
            <a:extLst>
              <a:ext uri="{FF2B5EF4-FFF2-40B4-BE49-F238E27FC236}">
                <a16:creationId xmlns:a16="http://schemas.microsoft.com/office/drawing/2014/main" id="{2D7D22DD-D1D6-3980-1ACA-5DB7756C36AB}"/>
              </a:ext>
            </a:extLst>
          </p:cNvPr>
          <p:cNvSpPr/>
          <p:nvPr/>
        </p:nvSpPr>
        <p:spPr>
          <a:xfrm>
            <a:off x="475560" y="548640"/>
            <a:ext cx="11213520" cy="11608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</a:t>
            </a: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(plan)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모드로 변경 후 아래</a:t>
            </a: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프롬프트 입력 </a:t>
            </a:r>
            <a:endParaRPr kumimoji="0" lang="en-US" altLang="ko-KR" sz="2500" b="1" i="0" u="none" strike="noStrike" kern="1200" cap="none" spc="-1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data/trackB_aging.csv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‘국가별 논문 수  누적 영역차트’ 만들기 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79F30-FA5F-9B57-09F7-176B3321B412}"/>
              </a:ext>
            </a:extLst>
          </p:cNvPr>
          <p:cNvSpPr txBox="1"/>
          <p:nvPr/>
        </p:nvSpPr>
        <p:spPr>
          <a:xfrm>
            <a:off x="396046" y="1927772"/>
            <a:ext cx="11133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Calibri" panose="020F0502020204030204"/>
              </a:rPr>
              <a:t>계획 모드로 명령을 하면 </a:t>
            </a:r>
            <a:r>
              <a:rPr lang="en-US" altLang="ko-KR" dirty="0" err="1">
                <a:solidFill>
                  <a:srgbClr val="000000"/>
                </a:solidFill>
                <a:latin typeface="Calibri" panose="020F0502020204030204"/>
              </a:rPr>
              <a:t>claude</a:t>
            </a:r>
            <a:r>
              <a:rPr lang="ko-KR" altLang="en-US" dirty="0">
                <a:solidFill>
                  <a:srgbClr val="000000"/>
                </a:solidFill>
                <a:latin typeface="Calibri" panose="020F0502020204030204"/>
              </a:rPr>
              <a:t>가 계획을 짠 다음 이대로 실행해도 되는지 물어봄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0A6226-5D78-F066-EDFF-14FE99638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416" y="3253327"/>
            <a:ext cx="568721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085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우리 수업의 심장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7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 돌아갈 동안 </a:t>
            </a:r>
            <a:r>
              <a:rPr kumimoji="0" 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plan mode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설명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8" name="Shape 2"/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9" name="Text 3"/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03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0" name="Shape 4"/>
          <p:cNvSpPr/>
          <p:nvPr/>
        </p:nvSpPr>
        <p:spPr>
          <a:xfrm>
            <a:off x="502920" y="1463040"/>
            <a:ext cx="269712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1" name="Shape 5"/>
          <p:cNvSpPr/>
          <p:nvPr/>
        </p:nvSpPr>
        <p:spPr>
          <a:xfrm>
            <a:off x="1549800" y="1691640"/>
            <a:ext cx="603000" cy="603000"/>
          </a:xfrm>
          <a:prstGeom prst="ellipse">
            <a:avLst/>
          </a:prstGeom>
          <a:solidFill>
            <a:srgbClr val="EEF1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22" name="Image 0" descr="preencoded.png"/>
          <p:cNvPicPr/>
          <p:nvPr/>
        </p:nvPicPr>
        <p:blipFill>
          <a:blip r:embed="rId3"/>
          <a:stretch/>
        </p:blipFill>
        <p:spPr>
          <a:xfrm>
            <a:off x="1706760" y="1848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723" name="Text 6"/>
          <p:cNvSpPr/>
          <p:nvPr/>
        </p:nvSpPr>
        <p:spPr>
          <a:xfrm>
            <a:off x="594360" y="237744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스펙 프롬프트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4" name="Text 7"/>
          <p:cNvSpPr/>
          <p:nvPr/>
        </p:nvSpPr>
        <p:spPr>
          <a:xfrm>
            <a:off x="612720" y="2706480"/>
            <a:ext cx="2477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‘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무엇을 원하는지’ 자연어로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25" name="Image 1" descr="preencoded.png"/>
          <p:cNvPicPr/>
          <p:nvPr/>
        </p:nvPicPr>
        <p:blipFill>
          <a:blip r:embed="rId4"/>
          <a:stretch/>
        </p:blipFill>
        <p:spPr>
          <a:xfrm>
            <a:off x="3173040" y="22402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26" name="Shape 8"/>
          <p:cNvSpPr/>
          <p:nvPr/>
        </p:nvSpPr>
        <p:spPr>
          <a:xfrm>
            <a:off x="3319200" y="1463040"/>
            <a:ext cx="269712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7" name="Shape 9"/>
          <p:cNvSpPr/>
          <p:nvPr/>
        </p:nvSpPr>
        <p:spPr>
          <a:xfrm>
            <a:off x="4366440" y="1691640"/>
            <a:ext cx="603000" cy="603000"/>
          </a:xfrm>
          <a:prstGeom prst="ellipse">
            <a:avLst/>
          </a:prstGeom>
          <a:solidFill>
            <a:srgbClr val="FDF1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28" name="Image 2" descr="preencoded.png"/>
          <p:cNvPicPr/>
          <p:nvPr/>
        </p:nvPicPr>
        <p:blipFill>
          <a:blip r:embed="rId5"/>
          <a:stretch/>
        </p:blipFill>
        <p:spPr>
          <a:xfrm>
            <a:off x="4523040" y="1848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729" name="Text 10"/>
          <p:cNvSpPr/>
          <p:nvPr/>
        </p:nvSpPr>
        <p:spPr>
          <a:xfrm>
            <a:off x="3410640" y="237744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계획서 제시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0" name="Text 11"/>
          <p:cNvSpPr/>
          <p:nvPr/>
        </p:nvSpPr>
        <p:spPr>
          <a:xfrm>
            <a:off x="3429000" y="2706480"/>
            <a:ext cx="2477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 안 하고 ‘이렇게 만들겠다’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31" name="Image 3" descr="preencoded.png"/>
          <p:cNvPicPr/>
          <p:nvPr/>
        </p:nvPicPr>
        <p:blipFill>
          <a:blip r:embed="rId4"/>
          <a:stretch/>
        </p:blipFill>
        <p:spPr>
          <a:xfrm>
            <a:off x="5989320" y="22402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32" name="Shape 12"/>
          <p:cNvSpPr/>
          <p:nvPr/>
        </p:nvSpPr>
        <p:spPr>
          <a:xfrm>
            <a:off x="6135480" y="1463040"/>
            <a:ext cx="269712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3" name="Shape 13"/>
          <p:cNvSpPr/>
          <p:nvPr/>
        </p:nvSpPr>
        <p:spPr>
          <a:xfrm>
            <a:off x="7182720" y="1691640"/>
            <a:ext cx="603000" cy="60300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34" name="Image 4" descr="preencoded.png"/>
          <p:cNvPicPr/>
          <p:nvPr/>
        </p:nvPicPr>
        <p:blipFill>
          <a:blip r:embed="rId6"/>
          <a:stretch/>
        </p:blipFill>
        <p:spPr>
          <a:xfrm>
            <a:off x="7339680" y="1848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735" name="Text 14"/>
          <p:cNvSpPr/>
          <p:nvPr/>
        </p:nvSpPr>
        <p:spPr>
          <a:xfrm>
            <a:off x="6226920" y="237744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 검토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6" name="Text 15"/>
          <p:cNvSpPr/>
          <p:nvPr/>
        </p:nvSpPr>
        <p:spPr>
          <a:xfrm>
            <a:off x="6245280" y="2706480"/>
            <a:ext cx="2477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무엇을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어디에 만드는지만 본다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37" name="Image 5" descr="preencoded.png"/>
          <p:cNvPicPr/>
          <p:nvPr/>
        </p:nvPicPr>
        <p:blipFill>
          <a:blip r:embed="rId4"/>
          <a:stretch/>
        </p:blipFill>
        <p:spPr>
          <a:xfrm>
            <a:off x="8805600" y="22402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38" name="Shape 16"/>
          <p:cNvSpPr/>
          <p:nvPr/>
        </p:nvSpPr>
        <p:spPr>
          <a:xfrm>
            <a:off x="8952120" y="1463040"/>
            <a:ext cx="269712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9" name="Shape 17"/>
          <p:cNvSpPr/>
          <p:nvPr/>
        </p:nvSpPr>
        <p:spPr>
          <a:xfrm>
            <a:off x="9999000" y="1691640"/>
            <a:ext cx="603000" cy="60300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40" name="Image 6" descr="preencoded.png"/>
          <p:cNvPicPr/>
          <p:nvPr/>
        </p:nvPicPr>
        <p:blipFill>
          <a:blip r:embed="rId7"/>
          <a:stretch/>
        </p:blipFill>
        <p:spPr>
          <a:xfrm>
            <a:off x="10155960" y="1848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741" name="Text 18"/>
          <p:cNvSpPr/>
          <p:nvPr/>
        </p:nvSpPr>
        <p:spPr>
          <a:xfrm>
            <a:off x="9043560" y="237744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승인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/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수정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2" name="Text 19"/>
          <p:cNvSpPr/>
          <p:nvPr/>
        </p:nvSpPr>
        <p:spPr>
          <a:xfrm>
            <a:off x="9061560" y="2706480"/>
            <a:ext cx="2477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자연어 피드백 → 계획 재생성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3" name="Shape 20"/>
          <p:cNvSpPr/>
          <p:nvPr/>
        </p:nvSpPr>
        <p:spPr>
          <a:xfrm>
            <a:off x="502920" y="3520440"/>
            <a:ext cx="11155320" cy="776880"/>
          </a:xfrm>
          <a:prstGeom prst="roundRect">
            <a:avLst>
              <a:gd name="adj" fmla="val 10588"/>
            </a:avLst>
          </a:prstGeom>
          <a:solidFill>
            <a:srgbClr val="0B2F3A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44" name="Image 7" descr="preencoded.png"/>
          <p:cNvPicPr/>
          <p:nvPr/>
        </p:nvPicPr>
        <p:blipFill>
          <a:blip r:embed="rId8"/>
          <a:stretch/>
        </p:blipFill>
        <p:spPr>
          <a:xfrm>
            <a:off x="777240" y="37216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745" name="Text 21"/>
          <p:cNvSpPr/>
          <p:nvPr/>
        </p:nvSpPr>
        <p:spPr>
          <a:xfrm>
            <a:off x="1371600" y="352044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승인 전엔 아무것도 실행되지 않습니다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 </a:t>
            </a: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고치고 싶으면 ‘히트맵은 빼고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저장 경로는 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output/</a:t>
            </a: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으로 바꿔’처럼 자연어로 피드백 → 계획을 수정해 다시 보여줍니다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6" name="Shape 22"/>
          <p:cNvSpPr/>
          <p:nvPr/>
        </p:nvSpPr>
        <p:spPr>
          <a:xfrm>
            <a:off x="502920" y="4526280"/>
            <a:ext cx="11155320" cy="1142640"/>
          </a:xfrm>
          <a:prstGeom prst="roundRect">
            <a:avLst>
              <a:gd name="adj" fmla="val 7200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7" name="Shape 23"/>
          <p:cNvSpPr/>
          <p:nvPr/>
        </p:nvSpPr>
        <p:spPr>
          <a:xfrm>
            <a:off x="777240" y="4800600"/>
            <a:ext cx="603000" cy="603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48" name="Image 8" descr="preencoded.png"/>
          <p:cNvPicPr/>
          <p:nvPr/>
        </p:nvPicPr>
        <p:blipFill>
          <a:blip r:embed="rId9"/>
          <a:stretch/>
        </p:blipFill>
        <p:spPr>
          <a:xfrm>
            <a:off x="934200" y="495756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749" name="Text 24"/>
          <p:cNvSpPr/>
          <p:nvPr/>
        </p:nvSpPr>
        <p:spPr>
          <a:xfrm>
            <a:off x="1554480" y="47365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검증은 코드 읽기가 아닙니다</a:t>
            </a:r>
            <a:endParaRPr kumimoji="0" lang="en-US" sz="14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0" name="Text 25"/>
          <p:cNvSpPr/>
          <p:nvPr/>
        </p:nvSpPr>
        <p:spPr>
          <a:xfrm>
            <a:off x="1554480" y="512064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 단계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→ ‘무엇을 만드는지’(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어떤 함수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어디 저장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만 본다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    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 뒤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→ ‘결과가 맞는지’(PNG 300dpi?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색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폰트 안 깨졌나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만 본다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D1EEA-67A9-BCDF-28D3-D1970524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 0">
            <a:extLst>
              <a:ext uri="{FF2B5EF4-FFF2-40B4-BE49-F238E27FC236}">
                <a16:creationId xmlns:a16="http://schemas.microsoft.com/office/drawing/2014/main" id="{BD717F37-2D7D-7C1F-9E25-74ED4126BA1C}"/>
              </a:ext>
            </a:extLst>
          </p:cNvPr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2~3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4" name="Text 1">
            <a:extLst>
              <a:ext uri="{FF2B5EF4-FFF2-40B4-BE49-F238E27FC236}">
                <a16:creationId xmlns:a16="http://schemas.microsoft.com/office/drawing/2014/main" id="{54F1EBBC-E56D-9365-2122-1ABA4FA2A1F4}"/>
              </a:ext>
            </a:extLst>
          </p:cNvPr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다른 파일로 차트 만들어 달라고 하기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Shape 2">
            <a:extLst>
              <a:ext uri="{FF2B5EF4-FFF2-40B4-BE49-F238E27FC236}">
                <a16:creationId xmlns:a16="http://schemas.microsoft.com/office/drawing/2014/main" id="{C30F0D21-B03B-94CA-0658-A7F946039AD5}"/>
              </a:ext>
            </a:extLst>
          </p:cNvPr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2" name="Shape 27">
            <a:extLst>
              <a:ext uri="{FF2B5EF4-FFF2-40B4-BE49-F238E27FC236}">
                <a16:creationId xmlns:a16="http://schemas.microsoft.com/office/drawing/2014/main" id="{DD4DCE88-B33E-946A-63B7-C8F97D4676D6}"/>
              </a:ext>
            </a:extLst>
          </p:cNvPr>
          <p:cNvSpPr/>
          <p:nvPr/>
        </p:nvSpPr>
        <p:spPr>
          <a:xfrm>
            <a:off x="609959" y="1520686"/>
            <a:ext cx="9895701" cy="3101009"/>
          </a:xfrm>
          <a:prstGeom prst="roundRect">
            <a:avLst>
              <a:gd name="adj" fmla="val 4615"/>
            </a:avLst>
          </a:prstGeom>
          <a:solidFill>
            <a:srgbClr val="E5EDFB"/>
          </a:solidFill>
          <a:ln w="12700">
            <a:solidFill>
              <a:srgbClr val="BBCDF2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5" name="Text 29">
            <a:extLst>
              <a:ext uri="{FF2B5EF4-FFF2-40B4-BE49-F238E27FC236}">
                <a16:creationId xmlns:a16="http://schemas.microsoft.com/office/drawing/2014/main" id="{AB4B494B-E2EC-6FB0-B3CF-FE0A599A61B6}"/>
              </a:ext>
            </a:extLst>
          </p:cNvPr>
          <p:cNvSpPr/>
          <p:nvPr/>
        </p:nvSpPr>
        <p:spPr>
          <a:xfrm>
            <a:off x="790852" y="1733094"/>
            <a:ext cx="7751492" cy="635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300" b="1" i="0" u="none" strike="noStrike" kern="1200" cap="none" spc="-1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다른 파일</a:t>
            </a:r>
            <a:r>
              <a:rPr kumimoji="0" lang="en-US" altLang="ko-KR" sz="1300" b="1" i="0" u="none" strike="noStrike" kern="1200" cap="none" spc="-1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(trackB_papers.csv)</a:t>
            </a:r>
            <a:r>
              <a:rPr kumimoji="0" lang="ko-KR" altLang="en-US" sz="1300" b="1" i="0" u="none" strike="noStrike" kern="1200" cap="none" spc="-1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차트 만들어달라고 하기</a:t>
            </a:r>
            <a:endParaRPr kumimoji="0" lang="en-US" sz="13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6" name="Text 30">
            <a:extLst>
              <a:ext uri="{FF2B5EF4-FFF2-40B4-BE49-F238E27FC236}">
                <a16:creationId xmlns:a16="http://schemas.microsoft.com/office/drawing/2014/main" id="{3D8DF2F3-2631-57A9-B4EA-E5A1B4811C64}"/>
              </a:ext>
            </a:extLst>
          </p:cNvPr>
          <p:cNvSpPr/>
          <p:nvPr/>
        </p:nvSpPr>
        <p:spPr>
          <a:xfrm>
            <a:off x="884279" y="2343647"/>
            <a:ext cx="9071005" cy="15899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vl="0" latinLnBrk="1">
              <a:lnSpc>
                <a:spcPct val="115000"/>
              </a:lnSpc>
              <a:tabLst>
                <a:tab pos="0" algn="l"/>
              </a:tabLst>
              <a:defRPr/>
            </a:pPr>
            <a:r>
              <a:rPr kumimoji="0" lang="en-US" altLang="zh-CN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@code/charts/style.py  @CLAUDE.md 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규칙을 따라서</a:t>
            </a:r>
            <a:r>
              <a:rPr kumimoji="0" lang="en-US" altLang="ko-KR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 </a:t>
            </a:r>
            <a:r>
              <a:rPr lang="en-US" altLang="zh-CN" sz="1150" spc="-1" dirty="0">
                <a:solidFill>
                  <a:srgbClr val="1E293B"/>
                </a:solidFill>
                <a:latin typeface="Malgun Gothic"/>
                <a:ea typeface="Malgun Gothic"/>
              </a:rPr>
              <a:t>data/</a:t>
            </a:r>
            <a:r>
              <a:rPr lang="en-US" altLang="zh-CN" sz="1150" spc="-1" dirty="0" err="1">
                <a:solidFill>
                  <a:srgbClr val="1E293B"/>
                </a:solidFill>
                <a:latin typeface="Malgun Gothic"/>
                <a:ea typeface="Malgun Gothic"/>
              </a:rPr>
              <a:t>trackB_aging_next</a:t>
            </a:r>
            <a:r>
              <a:rPr lang="en-US" altLang="zh-CN" sz="1150" spc="-1" dirty="0">
                <a:solidFill>
                  <a:srgbClr val="1E293B"/>
                </a:solidFill>
                <a:latin typeface="Malgun Gothic"/>
                <a:ea typeface="Malgun Gothic"/>
              </a:rPr>
              <a:t>.</a:t>
            </a:r>
            <a:r>
              <a:rPr kumimoji="0" lang="en-US" altLang="zh-CN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csv 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‘국가별 논문 수  누적 </a:t>
            </a:r>
            <a:r>
              <a:rPr kumimoji="0" lang="ko-KR" altLang="en-US" sz="1150" b="0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영역차트’를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만들어줘</a:t>
            </a:r>
            <a:r>
              <a:rPr kumimoji="0" lang="en-US" altLang="ko-KR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 - </a:t>
            </a:r>
            <a:r>
              <a:rPr kumimoji="0" lang="en-US" altLang="zh-CN" sz="1150" b="0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plot_stacked_area</a:t>
            </a:r>
            <a:r>
              <a:rPr kumimoji="0" lang="en-US" altLang="zh-CN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통일 </a:t>
            </a:r>
            <a:r>
              <a:rPr kumimoji="0" lang="ko-KR" altLang="en-US" sz="1150" b="0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시그니처로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   </a:t>
            </a:r>
            <a:r>
              <a:rPr kumimoji="0" lang="en-US" altLang="zh-CN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report_charts.py 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 추가 </a:t>
            </a:r>
            <a:r>
              <a:rPr kumimoji="0" lang="en-US" altLang="ko-KR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en-US" altLang="zh-CN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x=year,    y=</a:t>
            </a:r>
            <a:r>
              <a:rPr kumimoji="0" lang="en-US" altLang="zh-CN" sz="1150" b="0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paper_count</a:t>
            </a:r>
            <a:r>
              <a:rPr kumimoji="0" lang="en-US" altLang="zh-CN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group=country)  - output/chart_area.png 300dpi </a:t>
            </a:r>
            <a:r>
              <a:rPr kumimoji="0" lang="ko-KR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저장</a:t>
            </a:r>
            <a:endParaRPr kumimoji="0" lang="en-US" sz="11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591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막히면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폴백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0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혹시 문제 생기면 배포한 파일로 다시 덮어쓰기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2" name="Text 3"/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03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3" name="Shape 4"/>
          <p:cNvSpPr/>
          <p:nvPr/>
        </p:nvSpPr>
        <p:spPr>
          <a:xfrm>
            <a:off x="502920" y="1463040"/>
            <a:ext cx="6400440" cy="30171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4" name="Text 5"/>
          <p:cNvSpPr/>
          <p:nvPr/>
        </p:nvSpPr>
        <p:spPr>
          <a:xfrm>
            <a:off x="777240" y="1691640"/>
            <a:ext cx="5851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계획이 자꾸 어긋나거나 출력이 깨졌으면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5" name="Text 6"/>
          <p:cNvSpPr/>
          <p:nvPr/>
        </p:nvSpPr>
        <p:spPr>
          <a:xfrm>
            <a:off x="777240" y="2084760"/>
            <a:ext cx="5851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배포된 표준 차트 코드로 </a:t>
            </a:r>
            <a:r>
              <a:rPr lang="ko-KR" altLang="en-US" sz="1250" spc="-1" dirty="0">
                <a:solidFill>
                  <a:srgbClr val="475569"/>
                </a:solidFill>
                <a:latin typeface="Malgun Gothic"/>
                <a:ea typeface="Malgun Gothic"/>
              </a:rPr>
              <a:t>덮어쓰기</a:t>
            </a:r>
            <a:r>
              <a:rPr kumimoji="0" 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통일 시그니처</a:t>
            </a:r>
            <a:r>
              <a:rPr kumimoji="0" 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파일명 덕에 즉시 호환됩니다</a:t>
            </a:r>
            <a:r>
              <a:rPr kumimoji="0" lang="en-US" sz="1250" b="0" i="0" u="none" strike="noStrike" kern="1200" cap="none" spc="-1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6" name="Shape 7"/>
          <p:cNvSpPr/>
          <p:nvPr/>
        </p:nvSpPr>
        <p:spPr>
          <a:xfrm>
            <a:off x="777240" y="2697480"/>
            <a:ext cx="5851800" cy="868320"/>
          </a:xfrm>
          <a:prstGeom prst="roundRect">
            <a:avLst>
              <a:gd name="adj" fmla="val 7368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7" name="Text 8"/>
          <p:cNvSpPr/>
          <p:nvPr/>
        </p:nvSpPr>
        <p:spPr>
          <a:xfrm>
            <a:off x="978480" y="2807280"/>
            <a:ext cx="5449320" cy="64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1" u="none" strike="noStrike" kern="1200" cap="none" spc="-1" normalizeH="0" baseline="0" noProof="0" dirty="0">
                <a:ln>
                  <a:noFill/>
                </a:ln>
                <a:solidFill>
                  <a:srgbClr val="5F829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표준 차트 함수 라이브러리로 교체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copy code\charts\report_charts.py charts\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8" name="Text 9"/>
          <p:cNvSpPr/>
          <p:nvPr/>
        </p:nvSpPr>
        <p:spPr>
          <a:xfrm>
            <a:off x="777240" y="3749040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그런 다음 </a:t>
            </a: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 run run_report.py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(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 배움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전체 차트를 한 번에 생성하면 됩니다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6" name="Shape 16"/>
          <p:cNvSpPr/>
          <p:nvPr/>
        </p:nvSpPr>
        <p:spPr>
          <a:xfrm>
            <a:off x="502920" y="4663440"/>
            <a:ext cx="11155320" cy="1005480"/>
          </a:xfrm>
          <a:prstGeom prst="roundRect">
            <a:avLst>
              <a:gd name="adj" fmla="val 8182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7" name="Shape 17"/>
          <p:cNvSpPr/>
          <p:nvPr/>
        </p:nvSpPr>
        <p:spPr>
          <a:xfrm>
            <a:off x="777240" y="493776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18" name="Image 1" descr="preencoded.png"/>
          <p:cNvPicPr/>
          <p:nvPr/>
        </p:nvPicPr>
        <p:blipFill>
          <a:blip r:embed="rId3"/>
          <a:stretch/>
        </p:blipFill>
        <p:spPr>
          <a:xfrm>
            <a:off x="919800" y="508032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919" name="Text 18"/>
          <p:cNvSpPr/>
          <p:nvPr/>
        </p:nvSpPr>
        <p:spPr>
          <a:xfrm>
            <a:off x="1508760" y="4892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더 해보기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0" name="Text 19"/>
          <p:cNvSpPr/>
          <p:nvPr/>
        </p:nvSpPr>
        <p:spPr>
          <a:xfrm>
            <a:off x="1508760" y="523044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히스토그램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·KDE·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상관행렬 히트맵 등 추가 차트를 직접 바이브 코딩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(plan mode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). plotly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인터랙티브 버전도 시도 가능 </a:t>
            </a:r>
            <a:r>
              <a:rPr kumimoji="0" lang="en-US" altLang="zh-CN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코드의 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PNG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규칙은 유지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Text 0"/>
          <p:cNvSpPr/>
          <p:nvPr/>
        </p:nvSpPr>
        <p:spPr>
          <a:xfrm>
            <a:off x="7589520" y="182880"/>
            <a:ext cx="4571640" cy="64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3000" b="1" i="0" u="none" strike="noStrike" kern="1200" cap="none" spc="-1" normalizeH="0" baseline="0" noProof="0">
                <a:ln>
                  <a:noFill/>
                </a:ln>
                <a:solidFill>
                  <a:srgbClr val="103948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</a:t>
            </a:r>
            <a:endParaRPr kumimoji="0" lang="en-US" sz="43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4" name="Text 3"/>
          <p:cNvSpPr/>
          <p:nvPr/>
        </p:nvSpPr>
        <p:spPr>
          <a:xfrm>
            <a:off x="841320" y="2194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199" normalizeH="0" baseline="0" noProof="0">
                <a:ln>
                  <a:noFill/>
                </a:ln>
                <a:solidFill>
                  <a:srgbClr val="7FD8D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AUTOMATED PIPELINE &amp; ADAPTATION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5" name="Text 4"/>
          <p:cNvSpPr/>
          <p:nvPr/>
        </p:nvSpPr>
        <p:spPr>
          <a:xfrm>
            <a:off x="804600" y="2560320"/>
            <a:ext cx="74977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데이터→차트</a:t>
            </a:r>
            <a:endParaRPr kumimoji="0" lang="en-US" sz="4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자동 파이프라인 </a:t>
            </a:r>
            <a:r>
              <a:rPr kumimoji="0" 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zh-CN" altLang="en-US" sz="4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적응</a:t>
            </a:r>
            <a:endParaRPr kumimoji="0" lang="en-US" sz="40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6" name="Text 5"/>
          <p:cNvSpPr/>
          <p:nvPr/>
        </p:nvSpPr>
        <p:spPr>
          <a:xfrm>
            <a:off x="841320" y="406908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도구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 Claude Code ·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목표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: ‘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한 줄로 도는’ 무인 실행 프로그램 </a:t>
            </a:r>
            <a:r>
              <a:rPr kumimoji="0" 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zh-CN" altLang="en-US" sz="1500" b="0" i="0" u="none" strike="noStrike" kern="1200" cap="none" spc="-1" normalizeH="0" baseline="0" noProof="0">
                <a:ln>
                  <a:noFill/>
                </a:ln>
                <a:solidFill>
                  <a:srgbClr val="AFCBD0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새 데이터 적응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7" name="Shape 6"/>
          <p:cNvSpPr/>
          <p:nvPr/>
        </p:nvSpPr>
        <p:spPr>
          <a:xfrm>
            <a:off x="868680" y="4773240"/>
            <a:ext cx="145800" cy="145800"/>
          </a:xfrm>
          <a:prstGeom prst="ellipse">
            <a:avLst/>
          </a:prstGeom>
          <a:solidFill>
            <a:srgbClr val="F296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8" name="Text 7"/>
          <p:cNvSpPr/>
          <p:nvPr/>
        </p:nvSpPr>
        <p:spPr>
          <a:xfrm>
            <a:off x="1170360" y="466344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(validate) →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통과 시 전체 차트 생성 파이프라인을 한 명령으로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9" name="Shape 8"/>
          <p:cNvSpPr/>
          <p:nvPr/>
        </p:nvSpPr>
        <p:spPr>
          <a:xfrm>
            <a:off x="868680" y="5248800"/>
            <a:ext cx="145800" cy="145800"/>
          </a:xfrm>
          <a:prstGeom prst="ellipse">
            <a:avLst/>
          </a:prstGeom>
          <a:solidFill>
            <a:srgbClr val="F296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0" name="Text 9"/>
          <p:cNvSpPr/>
          <p:nvPr/>
        </p:nvSpPr>
        <p:spPr>
          <a:xfrm>
            <a:off x="1170360" y="513900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 리포트를 읽을 줄 안다 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작성은 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함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1" name="Shape 10"/>
          <p:cNvSpPr/>
          <p:nvPr/>
        </p:nvSpPr>
        <p:spPr>
          <a:xfrm>
            <a:off x="868680" y="5724000"/>
            <a:ext cx="145800" cy="145800"/>
          </a:xfrm>
          <a:prstGeom prst="ellipse">
            <a:avLst/>
          </a:prstGeom>
          <a:solidFill>
            <a:srgbClr val="F296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2" name="Text 11"/>
          <p:cNvSpPr/>
          <p:nvPr/>
        </p:nvSpPr>
        <p:spPr>
          <a:xfrm>
            <a:off x="1170360" y="561456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스키마가 다른 새 데이터에 적응시키고</a:t>
            </a:r>
            <a:r>
              <a:rPr kumimoji="0" 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35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막히면 정답본으로 복구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학습 목표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+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개념도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4" name="Text 1"/>
          <p:cNvSpPr/>
          <p:nvPr/>
        </p:nvSpPr>
        <p:spPr>
          <a:xfrm>
            <a:off x="475560" y="548640"/>
            <a:ext cx="88603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명령어 한번으로 데이터 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 </a:t>
            </a:r>
            <a:r>
              <a:rPr kumimoji="0" lang="ko-KR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후</a:t>
            </a:r>
            <a:r>
              <a:rPr kumimoji="0" lang="zh-CN" altLang="en-US" sz="250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통과 시 차트 생성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7" name="Shape 4"/>
          <p:cNvSpPr/>
          <p:nvPr/>
        </p:nvSpPr>
        <p:spPr>
          <a:xfrm>
            <a:off x="502920" y="1508760"/>
            <a:ext cx="246852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8" name="Shape 5"/>
          <p:cNvSpPr/>
          <p:nvPr/>
        </p:nvSpPr>
        <p:spPr>
          <a:xfrm>
            <a:off x="1435680" y="1710000"/>
            <a:ext cx="603000" cy="603000"/>
          </a:xfrm>
          <a:prstGeom prst="ellipse">
            <a:avLst/>
          </a:prstGeom>
          <a:solidFill>
            <a:srgbClr val="FDF1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39" name="Image 0" descr="preencoded.png"/>
          <p:cNvPicPr/>
          <p:nvPr/>
        </p:nvPicPr>
        <p:blipFill>
          <a:blip r:embed="rId3"/>
          <a:stretch/>
        </p:blipFill>
        <p:spPr>
          <a:xfrm>
            <a:off x="1592640" y="186696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940" name="Text 6"/>
          <p:cNvSpPr/>
          <p:nvPr/>
        </p:nvSpPr>
        <p:spPr>
          <a:xfrm>
            <a:off x="594360" y="237744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config.yaml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읽기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42" name="Image 1" descr="preencoded.png"/>
          <p:cNvPicPr/>
          <p:nvPr/>
        </p:nvPicPr>
        <p:blipFill>
          <a:blip r:embed="rId4"/>
          <a:stretch/>
        </p:blipFill>
        <p:spPr>
          <a:xfrm>
            <a:off x="2980800" y="20116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943" name="Shape 8"/>
          <p:cNvSpPr/>
          <p:nvPr/>
        </p:nvSpPr>
        <p:spPr>
          <a:xfrm>
            <a:off x="3136320" y="1508760"/>
            <a:ext cx="246852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4" name="Shape 9"/>
          <p:cNvSpPr/>
          <p:nvPr/>
        </p:nvSpPr>
        <p:spPr>
          <a:xfrm>
            <a:off x="4069080" y="1710000"/>
            <a:ext cx="603000" cy="603000"/>
          </a:xfrm>
          <a:prstGeom prst="ellipse">
            <a:avLst/>
          </a:prstGeom>
          <a:solidFill>
            <a:srgbClr val="EEF1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45" name="Image 2" descr="preencoded.png"/>
          <p:cNvPicPr/>
          <p:nvPr/>
        </p:nvPicPr>
        <p:blipFill>
          <a:blip r:embed="rId5"/>
          <a:stretch/>
        </p:blipFill>
        <p:spPr>
          <a:xfrm>
            <a:off x="4226040" y="186696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946" name="Text 10"/>
          <p:cNvSpPr/>
          <p:nvPr/>
        </p:nvSpPr>
        <p:spPr>
          <a:xfrm>
            <a:off x="3227760" y="237744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로드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7" name="Text 11"/>
          <p:cNvSpPr/>
          <p:nvPr/>
        </p:nvSpPr>
        <p:spPr>
          <a:xfrm>
            <a:off x="3227760" y="27889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CSV </a:t>
            </a: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읽기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48" name="Image 3" descr="preencoded.png"/>
          <p:cNvPicPr/>
          <p:nvPr/>
        </p:nvPicPr>
        <p:blipFill>
          <a:blip r:embed="rId4"/>
          <a:stretch/>
        </p:blipFill>
        <p:spPr>
          <a:xfrm>
            <a:off x="5614560" y="20116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949" name="Shape 12"/>
          <p:cNvSpPr/>
          <p:nvPr/>
        </p:nvSpPr>
        <p:spPr>
          <a:xfrm>
            <a:off x="5769720" y="1508760"/>
            <a:ext cx="246852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0" name="Shape 13"/>
          <p:cNvSpPr/>
          <p:nvPr/>
        </p:nvSpPr>
        <p:spPr>
          <a:xfrm>
            <a:off x="6702480" y="1710000"/>
            <a:ext cx="603000" cy="60300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51" name="Image 4" descr="preencoded.png"/>
          <p:cNvPicPr/>
          <p:nvPr/>
        </p:nvPicPr>
        <p:blipFill>
          <a:blip r:embed="rId6"/>
          <a:stretch/>
        </p:blipFill>
        <p:spPr>
          <a:xfrm>
            <a:off x="6859440" y="186696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952" name="Text 14"/>
          <p:cNvSpPr/>
          <p:nvPr/>
        </p:nvSpPr>
        <p:spPr>
          <a:xfrm>
            <a:off x="5861160" y="237744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validate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3" name="Text 15"/>
          <p:cNvSpPr/>
          <p:nvPr/>
        </p:nvSpPr>
        <p:spPr>
          <a:xfrm>
            <a:off x="5861160" y="27889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품질 검증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54" name="Image 5" descr="preencoded.png"/>
          <p:cNvPicPr/>
          <p:nvPr/>
        </p:nvPicPr>
        <p:blipFill>
          <a:blip r:embed="rId4"/>
          <a:stretch/>
        </p:blipFill>
        <p:spPr>
          <a:xfrm>
            <a:off x="8247960" y="20116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955" name="Shape 16"/>
          <p:cNvSpPr/>
          <p:nvPr/>
        </p:nvSpPr>
        <p:spPr>
          <a:xfrm>
            <a:off x="8403480" y="1508760"/>
            <a:ext cx="246852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6" name="Shape 17"/>
          <p:cNvSpPr/>
          <p:nvPr/>
        </p:nvSpPr>
        <p:spPr>
          <a:xfrm>
            <a:off x="9335880" y="1710000"/>
            <a:ext cx="603000" cy="60300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57" name="Image 6" descr="preencoded.png"/>
          <p:cNvPicPr/>
          <p:nvPr/>
        </p:nvPicPr>
        <p:blipFill>
          <a:blip r:embed="rId7"/>
          <a:stretch/>
        </p:blipFill>
        <p:spPr>
          <a:xfrm>
            <a:off x="9492840" y="186696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958" name="Text 18"/>
          <p:cNvSpPr/>
          <p:nvPr/>
        </p:nvSpPr>
        <p:spPr>
          <a:xfrm>
            <a:off x="8494920" y="237744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전체 차트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일괄 생성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9" name="Text 19"/>
          <p:cNvSpPr/>
          <p:nvPr/>
        </p:nvSpPr>
        <p:spPr>
          <a:xfrm>
            <a:off x="8494920" y="27889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통과 시 </a:t>
            </a: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PNG 300dpi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0" name="Shape 20"/>
          <p:cNvSpPr/>
          <p:nvPr/>
        </p:nvSpPr>
        <p:spPr>
          <a:xfrm>
            <a:off x="5650920" y="3108960"/>
            <a:ext cx="360" cy="457200"/>
          </a:xfrm>
          <a:prstGeom prst="line">
            <a:avLst/>
          </a:prstGeom>
          <a:ln w="25400">
            <a:solidFill>
              <a:srgbClr val="DC262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1" name="Shape 21"/>
          <p:cNvSpPr/>
          <p:nvPr/>
        </p:nvSpPr>
        <p:spPr>
          <a:xfrm>
            <a:off x="4480560" y="3566160"/>
            <a:ext cx="2468520" cy="548280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 w="12700">
            <a:solidFill>
              <a:srgbClr val="F2C4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2" name="Text 22"/>
          <p:cNvSpPr/>
          <p:nvPr/>
        </p:nvSpPr>
        <p:spPr>
          <a:xfrm>
            <a:off x="4480560" y="35661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실패 → 리포트만 남기고 중단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3" name="Shape 23"/>
          <p:cNvSpPr/>
          <p:nvPr/>
        </p:nvSpPr>
        <p:spPr>
          <a:xfrm>
            <a:off x="650598" y="4714654"/>
            <a:ext cx="10689950" cy="1874519"/>
          </a:xfrm>
          <a:prstGeom prst="roundRect">
            <a:avLst>
              <a:gd name="adj" fmla="val 15000"/>
            </a:avLst>
          </a:prstGeom>
          <a:solidFill>
            <a:srgbClr val="0B2F3A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4" name="Text 24"/>
          <p:cNvSpPr/>
          <p:nvPr/>
        </p:nvSpPr>
        <p:spPr>
          <a:xfrm>
            <a:off x="650598" y="4714654"/>
            <a:ext cx="10689950" cy="17775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en-US" altLang="ko-KR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cd</a:t>
            </a:r>
            <a:r>
              <a:rPr lang="ko-KR" altLang="en-US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 </a:t>
            </a:r>
            <a:r>
              <a:rPr lang="en-US" altLang="ko-KR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code </a:t>
            </a:r>
            <a:r>
              <a:rPr lang="ko-KR" altLang="en-US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명령어로 </a:t>
            </a:r>
            <a:r>
              <a:rPr lang="en-US" altLang="ko-KR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code </a:t>
            </a:r>
            <a:r>
              <a:rPr lang="ko-KR" altLang="en-US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디렉토리에 들어가서 아래 명령어 실행하면 </a:t>
            </a:r>
            <a:r>
              <a:rPr lang="en-US" altLang="ko-KR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trackB_aging_next.csv </a:t>
            </a:r>
            <a:r>
              <a:rPr lang="ko-KR" altLang="en-US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내용이 차트로 만들어짐</a:t>
            </a:r>
            <a:endParaRPr lang="en-US" altLang="ko-KR" sz="2400" spc="-1" dirty="0">
              <a:solidFill>
                <a:srgbClr val="AFCBD0"/>
              </a:solidFill>
              <a:latin typeface="Malgun Gothic"/>
              <a:ea typeface="Malgun Gothic"/>
            </a:endParaRPr>
          </a:p>
          <a:p>
            <a:pPr lvl="0" latinLnBrk="1">
              <a:tabLst>
                <a:tab pos="0" algn="l"/>
              </a:tabLst>
              <a:defRPr/>
            </a:pPr>
            <a:r>
              <a:rPr lang="ko-KR" altLang="en-US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 </a:t>
            </a:r>
            <a:endParaRPr lang="en-US" altLang="ko-KR" sz="2400" spc="-1" dirty="0">
              <a:solidFill>
                <a:srgbClr val="AFCBD0"/>
              </a:solidFill>
              <a:latin typeface="Malgun Gothic"/>
              <a:ea typeface="Malgun Gothic"/>
            </a:endParaRP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ko-KR" sz="2400" spc="-1" dirty="0" err="1">
                <a:solidFill>
                  <a:srgbClr val="AFCBD0"/>
                </a:solidFill>
                <a:latin typeface="Malgun Gothic"/>
                <a:ea typeface="Malgun Gothic"/>
              </a:rPr>
              <a:t>uv</a:t>
            </a:r>
            <a:r>
              <a:rPr lang="en-US" altLang="ko-KR" sz="2400" spc="-1" dirty="0">
                <a:solidFill>
                  <a:srgbClr val="AFCBD0"/>
                </a:solidFill>
                <a:latin typeface="Malgun Gothic"/>
                <a:ea typeface="Malgun Gothic"/>
              </a:rPr>
              <a:t> run run_report.py --data ../data/trackB_aging_next.csv</a:t>
            </a:r>
            <a:r>
              <a:rPr lang="en-US" altLang="ko-KR" sz="2800" spc="-1" dirty="0">
                <a:solidFill>
                  <a:srgbClr val="000000"/>
                </a:solidFill>
                <a:latin typeface="Arial"/>
              </a:rPr>
              <a:t> </a:t>
            </a:r>
            <a:endParaRPr lang="en-US" altLang="ko-KR" sz="2400" spc="-1" dirty="0">
              <a:solidFill>
                <a:srgbClr val="AFCBD0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2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파이프라인 골격 생성 </a:t>
            </a:r>
            <a:r>
              <a:rPr kumimoji="0" lang="en-US" altLang="zh-CN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개 파일 만들기</a:t>
            </a:r>
            <a:endParaRPr kumimoji="0" lang="en-US" sz="2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3" name="Shape 2"/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5" name="Shape 4"/>
          <p:cNvSpPr/>
          <p:nvPr/>
        </p:nvSpPr>
        <p:spPr>
          <a:xfrm>
            <a:off x="502920" y="1417320"/>
            <a:ext cx="3657240" cy="27885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6" name="Shape 5"/>
          <p:cNvSpPr/>
          <p:nvPr/>
        </p:nvSpPr>
        <p:spPr>
          <a:xfrm>
            <a:off x="777240" y="1691640"/>
            <a:ext cx="603000" cy="60300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87" name="Image 0" descr="preencoded.png"/>
          <p:cNvPicPr/>
          <p:nvPr/>
        </p:nvPicPr>
        <p:blipFill>
          <a:blip r:embed="rId3"/>
          <a:stretch/>
        </p:blipFill>
        <p:spPr>
          <a:xfrm>
            <a:off x="934200" y="1848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988" name="Text 6"/>
          <p:cNvSpPr/>
          <p:nvPr/>
        </p:nvSpPr>
        <p:spPr>
          <a:xfrm>
            <a:off x="1508760" y="17190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validate.py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9" name="Text 7"/>
          <p:cNvSpPr/>
          <p:nvPr/>
        </p:nvSpPr>
        <p:spPr>
          <a:xfrm>
            <a:off x="1508760" y="20847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데이터 품질 검증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0" name="Shape 8"/>
          <p:cNvSpPr/>
          <p:nvPr/>
        </p:nvSpPr>
        <p:spPr>
          <a:xfrm>
            <a:off x="777240" y="2514600"/>
            <a:ext cx="310896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1" name="Text 9"/>
          <p:cNvSpPr/>
          <p:nvPr/>
        </p:nvSpPr>
        <p:spPr>
          <a:xfrm>
            <a:off x="777240" y="2651760"/>
            <a:ext cx="312696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결측치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·IQR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이상치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자료형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필수열 스키마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도메인 규칙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결과를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output/validation_report.txt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로 출력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2" name="Shape 10"/>
          <p:cNvSpPr/>
          <p:nvPr/>
        </p:nvSpPr>
        <p:spPr>
          <a:xfrm>
            <a:off x="4407480" y="1417320"/>
            <a:ext cx="3657240" cy="27885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3" name="Shape 11"/>
          <p:cNvSpPr/>
          <p:nvPr/>
        </p:nvSpPr>
        <p:spPr>
          <a:xfrm>
            <a:off x="4681800" y="1691640"/>
            <a:ext cx="603000" cy="603000"/>
          </a:xfrm>
          <a:prstGeom prst="ellipse">
            <a:avLst/>
          </a:prstGeom>
          <a:solidFill>
            <a:srgbClr val="FDF1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94" name="Image 1" descr="preencoded.png"/>
          <p:cNvPicPr/>
          <p:nvPr/>
        </p:nvPicPr>
        <p:blipFill>
          <a:blip r:embed="rId4"/>
          <a:stretch/>
        </p:blipFill>
        <p:spPr>
          <a:xfrm>
            <a:off x="4838760" y="1848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995" name="Text 12"/>
          <p:cNvSpPr/>
          <p:nvPr/>
        </p:nvSpPr>
        <p:spPr>
          <a:xfrm>
            <a:off x="5413320" y="17190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config.yaml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6" name="Text 13"/>
          <p:cNvSpPr/>
          <p:nvPr/>
        </p:nvSpPr>
        <p:spPr>
          <a:xfrm>
            <a:off x="5413320" y="20847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얇은 매핑 층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7" name="Shape 14"/>
          <p:cNvSpPr/>
          <p:nvPr/>
        </p:nvSpPr>
        <p:spPr>
          <a:xfrm>
            <a:off x="4681440" y="2514600"/>
            <a:ext cx="310896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8" name="Text 15"/>
          <p:cNvSpPr/>
          <p:nvPr/>
        </p:nvSpPr>
        <p:spPr>
          <a:xfrm>
            <a:off x="4681800" y="2651760"/>
            <a:ext cx="312696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어떤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CSV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의 어떤 열이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x/y/group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인지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어떤 차트를 무슨 제목으로 만들지 정의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9" name="Shape 16"/>
          <p:cNvSpPr/>
          <p:nvPr/>
        </p:nvSpPr>
        <p:spPr>
          <a:xfrm>
            <a:off x="8312040" y="1417320"/>
            <a:ext cx="3657240" cy="27885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0" name="Shape 17"/>
          <p:cNvSpPr/>
          <p:nvPr/>
        </p:nvSpPr>
        <p:spPr>
          <a:xfrm>
            <a:off x="8586360" y="1691640"/>
            <a:ext cx="603000" cy="603000"/>
          </a:xfrm>
          <a:prstGeom prst="ellipse">
            <a:avLst/>
          </a:prstGeom>
          <a:solidFill>
            <a:srgbClr val="E1F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01" name="Image 2" descr="preencoded.png"/>
          <p:cNvPicPr/>
          <p:nvPr/>
        </p:nvPicPr>
        <p:blipFill>
          <a:blip r:embed="rId5"/>
          <a:stretch/>
        </p:blipFill>
        <p:spPr>
          <a:xfrm>
            <a:off x="8742960" y="1848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1002" name="Text 18"/>
          <p:cNvSpPr/>
          <p:nvPr/>
        </p:nvSpPr>
        <p:spPr>
          <a:xfrm>
            <a:off x="9317880" y="17190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run_report.py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3" name="Text 19"/>
          <p:cNvSpPr/>
          <p:nvPr/>
        </p:nvSpPr>
        <p:spPr>
          <a:xfrm>
            <a:off x="9317880" y="20847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무인 실행 엔트리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4" name="Shape 20"/>
          <p:cNvSpPr/>
          <p:nvPr/>
        </p:nvSpPr>
        <p:spPr>
          <a:xfrm>
            <a:off x="8586000" y="2514600"/>
            <a:ext cx="310896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5" name="Text 21"/>
          <p:cNvSpPr/>
          <p:nvPr/>
        </p:nvSpPr>
        <p:spPr>
          <a:xfrm>
            <a:off x="8586360" y="2651760"/>
            <a:ext cx="312696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config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읽기→로드→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validate→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통과 시 표준 함수로 전체 차트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PNG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일괄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,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실패 시 중단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6" name="Shape 22"/>
          <p:cNvSpPr/>
          <p:nvPr/>
        </p:nvSpPr>
        <p:spPr>
          <a:xfrm>
            <a:off x="502920" y="4389120"/>
            <a:ext cx="6903360" cy="127980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07" name="Image 3" descr="preencoded.png"/>
          <p:cNvPicPr/>
          <p:nvPr/>
        </p:nvPicPr>
        <p:blipFill>
          <a:blip r:embed="rId6"/>
          <a:stretch/>
        </p:blipFill>
        <p:spPr>
          <a:xfrm>
            <a:off x="749880" y="46177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008" name="Text 23"/>
          <p:cNvSpPr/>
          <p:nvPr/>
        </p:nvSpPr>
        <p:spPr>
          <a:xfrm>
            <a:off x="1207080" y="46177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 검토 포인트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9" name="Text 24"/>
          <p:cNvSpPr/>
          <p:nvPr/>
        </p:nvSpPr>
        <p:spPr>
          <a:xfrm>
            <a:off x="777240" y="5029200"/>
            <a:ext cx="6400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세 파일을 만드는가 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기존 </a:t>
            </a: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style.py·report_charts.py </a:t>
            </a: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를 안 건드리는가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·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실행 명령이 </a:t>
            </a: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 run run_report.py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인가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맞으면 승인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0" name="Shape 25"/>
          <p:cNvSpPr/>
          <p:nvPr/>
        </p:nvSpPr>
        <p:spPr>
          <a:xfrm>
            <a:off x="7589520" y="4389120"/>
            <a:ext cx="4068720" cy="1279800"/>
          </a:xfrm>
          <a:prstGeom prst="roundRect">
            <a:avLst>
              <a:gd name="adj" fmla="val 6429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11" name="Image 4" descr="preencoded.png"/>
          <p:cNvPicPr/>
          <p:nvPr/>
        </p:nvPicPr>
        <p:blipFill>
          <a:blip r:embed="rId7"/>
          <a:stretch/>
        </p:blipFill>
        <p:spPr>
          <a:xfrm>
            <a:off x="7818120" y="46177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012" name="Text 26"/>
          <p:cNvSpPr/>
          <p:nvPr/>
        </p:nvSpPr>
        <p:spPr>
          <a:xfrm>
            <a:off x="8275320" y="4617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정답 형태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폴백용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3" name="Text 27"/>
          <p:cNvSpPr/>
          <p:nvPr/>
        </p:nvSpPr>
        <p:spPr>
          <a:xfrm>
            <a:off x="7818120" y="501084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배포본 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code/validate.py · config.yaml · run_report.py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정답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0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라이브 생성이 어긋나면 바로 폴백</a:t>
            </a:r>
            <a:r>
              <a:rPr kumimoji="0" lang="en-US" sz="10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5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 단계 이해 </a:t>
            </a:r>
            <a:r>
              <a:rPr kumimoji="0" lang="en-US" altLang="zh-CN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무엇을 점검하나 </a:t>
            </a:r>
            <a:r>
              <a:rPr kumimoji="0" 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읽는 법만</a:t>
            </a:r>
            <a:r>
              <a:rPr kumimoji="0" 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2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8" name="Shape 4"/>
          <p:cNvSpPr/>
          <p:nvPr/>
        </p:nvSpPr>
        <p:spPr>
          <a:xfrm>
            <a:off x="502920" y="1371600"/>
            <a:ext cx="5486040" cy="6580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9" name="Shape 5"/>
          <p:cNvSpPr/>
          <p:nvPr/>
        </p:nvSpPr>
        <p:spPr>
          <a:xfrm>
            <a:off x="731520" y="1472040"/>
            <a:ext cx="456840" cy="45684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0" name="Image 0" descr="preencoded.png"/>
          <p:cNvPicPr/>
          <p:nvPr/>
        </p:nvPicPr>
        <p:blipFill>
          <a:blip r:embed="rId3"/>
          <a:stretch/>
        </p:blipFill>
        <p:spPr>
          <a:xfrm>
            <a:off x="850320" y="1591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021" name="Text 6"/>
          <p:cNvSpPr/>
          <p:nvPr/>
        </p:nvSpPr>
        <p:spPr>
          <a:xfrm>
            <a:off x="1371600" y="1371600"/>
            <a:ext cx="21027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결측치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2" name="Text 7"/>
          <p:cNvSpPr/>
          <p:nvPr/>
        </p:nvSpPr>
        <p:spPr>
          <a:xfrm>
            <a:off x="3383280" y="1371600"/>
            <a:ext cx="2514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빠진 값이 있는지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3" name="Shape 8"/>
          <p:cNvSpPr/>
          <p:nvPr/>
        </p:nvSpPr>
        <p:spPr>
          <a:xfrm>
            <a:off x="502920" y="2103120"/>
            <a:ext cx="5486040" cy="6580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4" name="Shape 9"/>
          <p:cNvSpPr/>
          <p:nvPr/>
        </p:nvSpPr>
        <p:spPr>
          <a:xfrm>
            <a:off x="731520" y="2203560"/>
            <a:ext cx="456840" cy="45684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5" name="Image 1" descr="preencoded.png"/>
          <p:cNvPicPr/>
          <p:nvPr/>
        </p:nvPicPr>
        <p:blipFill>
          <a:blip r:embed="rId4"/>
          <a:stretch/>
        </p:blipFill>
        <p:spPr>
          <a:xfrm>
            <a:off x="850320" y="23227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026" name="Text 10"/>
          <p:cNvSpPr/>
          <p:nvPr/>
        </p:nvSpPr>
        <p:spPr>
          <a:xfrm>
            <a:off x="1371600" y="2103120"/>
            <a:ext cx="21027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IQR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이상치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7" name="Text 11"/>
          <p:cNvSpPr/>
          <p:nvPr/>
        </p:nvSpPr>
        <p:spPr>
          <a:xfrm>
            <a:off x="3383280" y="2103120"/>
            <a:ext cx="2514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1.5×IQR </a:t>
            </a: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밖의 값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8" name="Shape 12"/>
          <p:cNvSpPr/>
          <p:nvPr/>
        </p:nvSpPr>
        <p:spPr>
          <a:xfrm>
            <a:off x="502920" y="2834640"/>
            <a:ext cx="5486040" cy="6580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9" name="Shape 13"/>
          <p:cNvSpPr/>
          <p:nvPr/>
        </p:nvSpPr>
        <p:spPr>
          <a:xfrm>
            <a:off x="731520" y="2935080"/>
            <a:ext cx="456840" cy="45684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30" name="Image 2" descr="preencoded.png"/>
          <p:cNvPicPr/>
          <p:nvPr/>
        </p:nvPicPr>
        <p:blipFill>
          <a:blip r:embed="rId5"/>
          <a:stretch/>
        </p:blipFill>
        <p:spPr>
          <a:xfrm>
            <a:off x="850320" y="30542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031" name="Text 14"/>
          <p:cNvSpPr/>
          <p:nvPr/>
        </p:nvSpPr>
        <p:spPr>
          <a:xfrm>
            <a:off x="1371600" y="2834640"/>
            <a:ext cx="21027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자료형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2" name="Text 15"/>
          <p:cNvSpPr/>
          <p:nvPr/>
        </p:nvSpPr>
        <p:spPr>
          <a:xfrm>
            <a:off x="3383280" y="2834640"/>
            <a:ext cx="2514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숫자여야 할 열인지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3" name="Shape 16"/>
          <p:cNvSpPr/>
          <p:nvPr/>
        </p:nvSpPr>
        <p:spPr>
          <a:xfrm>
            <a:off x="502920" y="3566160"/>
            <a:ext cx="5486040" cy="6580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4" name="Shape 17"/>
          <p:cNvSpPr/>
          <p:nvPr/>
        </p:nvSpPr>
        <p:spPr>
          <a:xfrm>
            <a:off x="731520" y="3666600"/>
            <a:ext cx="456840" cy="456840"/>
          </a:xfrm>
          <a:prstGeom prst="ellipse">
            <a:avLst/>
          </a:prstGeom>
          <a:solidFill>
            <a:srgbClr val="E5ED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35" name="Image 3" descr="preencoded.png"/>
          <p:cNvPicPr/>
          <p:nvPr/>
        </p:nvPicPr>
        <p:blipFill>
          <a:blip r:embed="rId6"/>
          <a:stretch/>
        </p:blipFill>
        <p:spPr>
          <a:xfrm>
            <a:off x="850320" y="37857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036" name="Text 18"/>
          <p:cNvSpPr/>
          <p:nvPr/>
        </p:nvSpPr>
        <p:spPr>
          <a:xfrm>
            <a:off x="1371600" y="3566160"/>
            <a:ext cx="21027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필수열 스키마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7" name="Text 19"/>
          <p:cNvSpPr/>
          <p:nvPr/>
        </p:nvSpPr>
        <p:spPr>
          <a:xfrm>
            <a:off x="3383280" y="3566160"/>
            <a:ext cx="2514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빠진 열이 없는지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8" name="Shape 20"/>
          <p:cNvSpPr/>
          <p:nvPr/>
        </p:nvSpPr>
        <p:spPr>
          <a:xfrm>
            <a:off x="6172200" y="1417320"/>
            <a:ext cx="5486040" cy="2239920"/>
          </a:xfrm>
          <a:prstGeom prst="roundRect">
            <a:avLst>
              <a:gd name="adj" fmla="val 3673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9" name="Shape 21"/>
          <p:cNvSpPr/>
          <p:nvPr/>
        </p:nvSpPr>
        <p:spPr>
          <a:xfrm>
            <a:off x="6446520" y="16732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40" name="Image 4" descr="preencoded.png"/>
          <p:cNvPicPr/>
          <p:nvPr/>
        </p:nvPicPr>
        <p:blipFill>
          <a:blip r:embed="rId7"/>
          <a:stretch/>
        </p:blipFill>
        <p:spPr>
          <a:xfrm>
            <a:off x="6589080" y="181584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1041" name="Text 22"/>
          <p:cNvSpPr/>
          <p:nvPr/>
        </p:nvSpPr>
        <p:spPr>
          <a:xfrm>
            <a:off x="7178040" y="17190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50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도메인 규칙</a:t>
            </a:r>
            <a:endParaRPr kumimoji="0" lang="en-US" sz="1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2" name="Shape 23"/>
          <p:cNvSpPr/>
          <p:nvPr/>
        </p:nvSpPr>
        <p:spPr>
          <a:xfrm>
            <a:off x="6492240" y="235008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3" name="Text 24"/>
          <p:cNvSpPr/>
          <p:nvPr/>
        </p:nvSpPr>
        <p:spPr>
          <a:xfrm>
            <a:off x="6766560" y="22402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연도 범위 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(1985~2030)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4" name="Shape 25"/>
          <p:cNvSpPr/>
          <p:nvPr/>
        </p:nvSpPr>
        <p:spPr>
          <a:xfrm>
            <a:off x="6492240" y="280728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5" name="Text 26"/>
          <p:cNvSpPr/>
          <p:nvPr/>
        </p:nvSpPr>
        <p:spPr>
          <a:xfrm>
            <a:off x="6766560" y="26974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국가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클러스터 화이트리스트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6" name="Shape 27"/>
          <p:cNvSpPr/>
          <p:nvPr/>
        </p:nvSpPr>
        <p:spPr>
          <a:xfrm>
            <a:off x="6492240" y="326448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7" name="Text 28"/>
          <p:cNvSpPr/>
          <p:nvPr/>
        </p:nvSpPr>
        <p:spPr>
          <a:xfrm>
            <a:off x="6766560" y="31546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음수 논문수 차단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8" name="Shape 29"/>
          <p:cNvSpPr/>
          <p:nvPr/>
        </p:nvSpPr>
        <p:spPr>
          <a:xfrm>
            <a:off x="6172200" y="3794760"/>
            <a:ext cx="5486040" cy="914040"/>
          </a:xfrm>
          <a:prstGeom prst="roundRect">
            <a:avLst>
              <a:gd name="adj" fmla="val 9000"/>
            </a:avLst>
          </a:prstGeom>
          <a:solidFill>
            <a:srgbClr val="0C2630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9" name="Text 30"/>
          <p:cNvSpPr/>
          <p:nvPr/>
        </p:nvSpPr>
        <p:spPr>
          <a:xfrm>
            <a:off x="6446520" y="395028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output/validation_report.txt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0" name="Text 31"/>
          <p:cNvSpPr/>
          <p:nvPr/>
        </p:nvSpPr>
        <p:spPr>
          <a:xfrm>
            <a:off x="6446520" y="4279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통과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 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경고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 </a:t>
            </a: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 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실패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 </a:t>
            </a:r>
            <a:r>
              <a:rPr kumimoji="0" lang="zh-CN" altLang="en-US" sz="120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로 기록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1" name="Shape 32"/>
          <p:cNvSpPr/>
          <p:nvPr/>
        </p:nvSpPr>
        <p:spPr>
          <a:xfrm>
            <a:off x="502920" y="4343400"/>
            <a:ext cx="5486040" cy="1325520"/>
          </a:xfrm>
          <a:prstGeom prst="roundRect">
            <a:avLst>
              <a:gd name="adj" fmla="val 6207"/>
            </a:avLst>
          </a:prstGeom>
          <a:solidFill>
            <a:srgbClr val="E1F2F0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2" name="Shape 33"/>
          <p:cNvSpPr/>
          <p:nvPr/>
        </p:nvSpPr>
        <p:spPr>
          <a:xfrm>
            <a:off x="777240" y="4590360"/>
            <a:ext cx="566640" cy="566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53" name="Image 5" descr="preencoded.png"/>
          <p:cNvPicPr/>
          <p:nvPr/>
        </p:nvPicPr>
        <p:blipFill>
          <a:blip r:embed="rId8"/>
          <a:stretch/>
        </p:blipFill>
        <p:spPr>
          <a:xfrm>
            <a:off x="924480" y="473760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054" name="Text 34"/>
          <p:cNvSpPr/>
          <p:nvPr/>
        </p:nvSpPr>
        <p:spPr>
          <a:xfrm>
            <a:off x="1508760" y="4608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학생의 역할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5" name="Text 35"/>
          <p:cNvSpPr/>
          <p:nvPr/>
        </p:nvSpPr>
        <p:spPr>
          <a:xfrm>
            <a:off x="777240" y="507492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리포트를 읽을 줄만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알면 됩니다. 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자체는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작성</a:t>
            </a:r>
            <a:r>
              <a:rPr kumimoji="0" lang="zh-CN" alt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합니다</a:t>
            </a:r>
            <a:r>
              <a:rPr kumimoji="0" lang="en-US" sz="12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3~4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7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한 명령 실행 → 깨진 데이터로 검증 게이트 확인</a:t>
            </a:r>
            <a:endParaRPr kumimoji="0" lang="en-US" sz="2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8" name="Shape 2"/>
          <p:cNvSpPr/>
          <p:nvPr/>
        </p:nvSpPr>
        <p:spPr>
          <a:xfrm>
            <a:off x="8229600" y="32904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9" name="Text 3"/>
          <p:cNvSpPr/>
          <p:nvPr/>
        </p:nvSpPr>
        <p:spPr>
          <a:xfrm>
            <a:off x="8229600" y="32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04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0" name="Shape 4"/>
          <p:cNvSpPr/>
          <p:nvPr/>
        </p:nvSpPr>
        <p:spPr>
          <a:xfrm>
            <a:off x="502920" y="1417320"/>
            <a:ext cx="5531760" cy="36572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1" name="Shape 5"/>
          <p:cNvSpPr/>
          <p:nvPr/>
        </p:nvSpPr>
        <p:spPr>
          <a:xfrm>
            <a:off x="777240" y="1645920"/>
            <a:ext cx="2011320" cy="365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2" name="Text 6"/>
          <p:cNvSpPr/>
          <p:nvPr/>
        </p:nvSpPr>
        <p:spPr>
          <a:xfrm>
            <a:off x="777240" y="16459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③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정상 데이터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3" name="Shape 7"/>
          <p:cNvSpPr/>
          <p:nvPr/>
        </p:nvSpPr>
        <p:spPr>
          <a:xfrm>
            <a:off x="777240" y="2148840"/>
            <a:ext cx="4983120" cy="502560"/>
          </a:xfrm>
          <a:prstGeom prst="roundRect">
            <a:avLst>
              <a:gd name="adj" fmla="val 1272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4" name="Text 8"/>
          <p:cNvSpPr/>
          <p:nvPr/>
        </p:nvSpPr>
        <p:spPr>
          <a:xfrm>
            <a:off x="978480" y="2258640"/>
            <a:ext cx="45806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en-US" sz="1150" b="0" i="0" u="none" strike="noStrike" kern="1200" cap="none" spc="-1" normalizeH="0" baseline="0" noProof="0" dirty="0" err="1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run run_report.py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5" name="Shape 9"/>
          <p:cNvSpPr/>
          <p:nvPr/>
        </p:nvSpPr>
        <p:spPr>
          <a:xfrm>
            <a:off x="777240" y="2788920"/>
            <a:ext cx="4983120" cy="566640"/>
          </a:xfrm>
          <a:prstGeom prst="roundRect">
            <a:avLst>
              <a:gd name="adj" fmla="val 14516"/>
            </a:avLst>
          </a:prstGeom>
          <a:solidFill>
            <a:srgbClr val="E7F6EC"/>
          </a:solidFill>
          <a:ln w="12700">
            <a:solidFill>
              <a:srgbClr val="B5E0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6" name="Text 10"/>
          <p:cNvSpPr/>
          <p:nvPr/>
        </p:nvSpPr>
        <p:spPr>
          <a:xfrm>
            <a:off x="777240" y="2788920"/>
            <a:ext cx="4983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검증 리포트 → 통과 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✅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7" name="Text 11"/>
          <p:cNvSpPr/>
          <p:nvPr/>
        </p:nvSpPr>
        <p:spPr>
          <a:xfrm>
            <a:off x="777240" y="35204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예상 결과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8" name="Text 12"/>
          <p:cNvSpPr/>
          <p:nvPr/>
        </p:nvSpPr>
        <p:spPr>
          <a:xfrm>
            <a:off x="777240" y="3840480"/>
            <a:ext cx="49374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output/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 </a:t>
            </a: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chart_*.png 8</a:t>
            </a:r>
            <a:r>
              <a:rPr kumimoji="0" lang="zh-CN" altLang="en-US" sz="11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종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+ </a:t>
            </a: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validation_report.txt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생성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PNG</a:t>
            </a: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들을 눈으로 검증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9" name="Shape 13"/>
          <p:cNvSpPr/>
          <p:nvPr/>
        </p:nvSpPr>
        <p:spPr>
          <a:xfrm>
            <a:off x="86868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0" name="Shape 14"/>
          <p:cNvSpPr/>
          <p:nvPr/>
        </p:nvSpPr>
        <p:spPr>
          <a:xfrm>
            <a:off x="147204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0E7C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1" name="Shape 15"/>
          <p:cNvSpPr/>
          <p:nvPr/>
        </p:nvSpPr>
        <p:spPr>
          <a:xfrm>
            <a:off x="207576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2" name="Shape 16"/>
          <p:cNvSpPr/>
          <p:nvPr/>
        </p:nvSpPr>
        <p:spPr>
          <a:xfrm>
            <a:off x="267912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3" name="Shape 17"/>
          <p:cNvSpPr/>
          <p:nvPr/>
        </p:nvSpPr>
        <p:spPr>
          <a:xfrm>
            <a:off x="328284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4" name="Shape 18"/>
          <p:cNvSpPr/>
          <p:nvPr/>
        </p:nvSpPr>
        <p:spPr>
          <a:xfrm>
            <a:off x="388620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5" name="Shape 19"/>
          <p:cNvSpPr/>
          <p:nvPr/>
        </p:nvSpPr>
        <p:spPr>
          <a:xfrm>
            <a:off x="448956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EA8C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6" name="Shape 20"/>
          <p:cNvSpPr/>
          <p:nvPr/>
        </p:nvSpPr>
        <p:spPr>
          <a:xfrm>
            <a:off x="5093280" y="4617720"/>
            <a:ext cx="502560" cy="347040"/>
          </a:xfrm>
          <a:prstGeom prst="roundRect">
            <a:avLst>
              <a:gd name="adj" fmla="val 13158"/>
            </a:avLst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7" name="Shape 21"/>
          <p:cNvSpPr/>
          <p:nvPr/>
        </p:nvSpPr>
        <p:spPr>
          <a:xfrm>
            <a:off x="6126480" y="1417320"/>
            <a:ext cx="5531760" cy="36572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8" name="Shape 22"/>
          <p:cNvSpPr/>
          <p:nvPr/>
        </p:nvSpPr>
        <p:spPr>
          <a:xfrm>
            <a:off x="6400800" y="1645920"/>
            <a:ext cx="2194200" cy="365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9" name="Text 23"/>
          <p:cNvSpPr/>
          <p:nvPr/>
        </p:nvSpPr>
        <p:spPr>
          <a:xfrm>
            <a:off x="6400800" y="16459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④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깨진 데이터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0" name="Shape 24"/>
          <p:cNvSpPr/>
          <p:nvPr/>
        </p:nvSpPr>
        <p:spPr>
          <a:xfrm>
            <a:off x="6400800" y="2148840"/>
            <a:ext cx="4983120" cy="502560"/>
          </a:xfrm>
          <a:prstGeom prst="roundRect">
            <a:avLst>
              <a:gd name="adj" fmla="val 1272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1" name="Text 25"/>
          <p:cNvSpPr/>
          <p:nvPr/>
        </p:nvSpPr>
        <p:spPr>
          <a:xfrm>
            <a:off x="6602040" y="2258640"/>
            <a:ext cx="45806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 dirty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</a:t>
            </a:r>
            <a:r>
              <a:rPr kumimoji="0" lang="en-US" sz="1000" b="0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...run_report.py --data ...dirty.csv</a:t>
            </a: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2" name="Shape 26"/>
          <p:cNvSpPr/>
          <p:nvPr/>
        </p:nvSpPr>
        <p:spPr>
          <a:xfrm>
            <a:off x="6400800" y="2788920"/>
            <a:ext cx="4983120" cy="566640"/>
          </a:xfrm>
          <a:prstGeom prst="roundRect">
            <a:avLst>
              <a:gd name="adj" fmla="val 14516"/>
            </a:avLst>
          </a:prstGeom>
          <a:solidFill>
            <a:srgbClr val="FDECEA"/>
          </a:solidFill>
          <a:ln w="12700">
            <a:solidFill>
              <a:srgbClr val="F2C4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3" name="Text 27"/>
          <p:cNvSpPr/>
          <p:nvPr/>
        </p:nvSpPr>
        <p:spPr>
          <a:xfrm>
            <a:off x="6400800" y="2788920"/>
            <a:ext cx="4983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검증 리포트 → 실패 </a:t>
            </a: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❌  차트 미생성·</a:t>
            </a:r>
            <a:r>
              <a:rPr kumimoji="0" lang="zh-CN" altLang="en-US" sz="11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중단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4" name="Text 28"/>
          <p:cNvSpPr/>
          <p:nvPr/>
        </p:nvSpPr>
        <p:spPr>
          <a:xfrm>
            <a:off x="6400800" y="35204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→ validation_report.txt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의 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[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실패</a:t>
            </a: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] </a:t>
            </a:r>
            <a:r>
              <a:rPr kumimoji="0" lang="zh-CN" altLang="en-US" sz="1200" b="1" i="0" u="none" strike="noStrike" kern="1200" cap="none" spc="-1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항목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5" name="Shape 29"/>
          <p:cNvSpPr/>
          <p:nvPr/>
        </p:nvSpPr>
        <p:spPr>
          <a:xfrm>
            <a:off x="6400800" y="3840480"/>
            <a:ext cx="2422800" cy="383760"/>
          </a:xfrm>
          <a:prstGeom prst="roundRect">
            <a:avLst>
              <a:gd name="adj" fmla="val 21429"/>
            </a:avLst>
          </a:prstGeom>
          <a:solidFill>
            <a:srgbClr val="FDECEA"/>
          </a:solidFill>
          <a:ln w="12700">
            <a:solidFill>
              <a:srgbClr val="F2C4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6" name="Text 30"/>
          <p:cNvSpPr/>
          <p:nvPr/>
        </p:nvSpPr>
        <p:spPr>
          <a:xfrm>
            <a:off x="6492240" y="38404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실패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결측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7" name="Shape 31"/>
          <p:cNvSpPr/>
          <p:nvPr/>
        </p:nvSpPr>
        <p:spPr>
          <a:xfrm>
            <a:off x="8915400" y="3840480"/>
            <a:ext cx="2422800" cy="383760"/>
          </a:xfrm>
          <a:prstGeom prst="roundRect">
            <a:avLst>
              <a:gd name="adj" fmla="val 21429"/>
            </a:avLst>
          </a:prstGeom>
          <a:solidFill>
            <a:srgbClr val="FDECEA"/>
          </a:solidFill>
          <a:ln w="12700">
            <a:solidFill>
              <a:srgbClr val="F2C4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8" name="Text 32"/>
          <p:cNvSpPr/>
          <p:nvPr/>
        </p:nvSpPr>
        <p:spPr>
          <a:xfrm>
            <a:off x="9006840" y="38404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실패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음수 논문수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9" name="Shape 33"/>
          <p:cNvSpPr/>
          <p:nvPr/>
        </p:nvSpPr>
        <p:spPr>
          <a:xfrm>
            <a:off x="6400800" y="4297680"/>
            <a:ext cx="2422800" cy="383760"/>
          </a:xfrm>
          <a:prstGeom prst="roundRect">
            <a:avLst>
              <a:gd name="adj" fmla="val 21429"/>
            </a:avLst>
          </a:prstGeom>
          <a:solidFill>
            <a:srgbClr val="FDECEA"/>
          </a:solidFill>
          <a:ln w="12700">
            <a:solidFill>
              <a:srgbClr val="F2C4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0" name="Text 34"/>
          <p:cNvSpPr/>
          <p:nvPr/>
        </p:nvSpPr>
        <p:spPr>
          <a:xfrm>
            <a:off x="6492240" y="42976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실패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연도범위 밖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1" name="Shape 35"/>
          <p:cNvSpPr/>
          <p:nvPr/>
        </p:nvSpPr>
        <p:spPr>
          <a:xfrm>
            <a:off x="8915400" y="4297680"/>
            <a:ext cx="2422800" cy="383760"/>
          </a:xfrm>
          <a:prstGeom prst="roundRect">
            <a:avLst>
              <a:gd name="adj" fmla="val 21429"/>
            </a:avLst>
          </a:prstGeom>
          <a:solidFill>
            <a:srgbClr val="FDECEA"/>
          </a:solidFill>
          <a:ln w="12700">
            <a:solidFill>
              <a:srgbClr val="F2C4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2" name="Text 36"/>
          <p:cNvSpPr/>
          <p:nvPr/>
        </p:nvSpPr>
        <p:spPr>
          <a:xfrm>
            <a:off x="9006840" y="42976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[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실패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]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화이트리스트 밖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프랑스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)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3" name="Text 37"/>
          <p:cNvSpPr/>
          <p:nvPr/>
        </p:nvSpPr>
        <p:spPr>
          <a:xfrm>
            <a:off x="6400800" y="47548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1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notepad output\validation_report.txt </a:t>
            </a:r>
            <a:r>
              <a:rPr kumimoji="0" lang="zh-CN" altLang="en-US" sz="950" b="0" i="1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로 열어 확인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4" name="Shape 38"/>
          <p:cNvSpPr/>
          <p:nvPr/>
        </p:nvSpPr>
        <p:spPr>
          <a:xfrm>
            <a:off x="502920" y="5166360"/>
            <a:ext cx="11155320" cy="548280"/>
          </a:xfrm>
          <a:prstGeom prst="roundRect">
            <a:avLst>
              <a:gd name="adj" fmla="val 15000"/>
            </a:avLst>
          </a:prstGeom>
          <a:solidFill>
            <a:srgbClr val="0B2F3A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95" name="Image 0" descr="preencoded.png"/>
          <p:cNvPicPr/>
          <p:nvPr/>
        </p:nvPicPr>
        <p:blipFill>
          <a:blip r:embed="rId3"/>
          <a:stretch/>
        </p:blipFill>
        <p:spPr>
          <a:xfrm>
            <a:off x="731520" y="52668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096" name="Text 39"/>
          <p:cNvSpPr/>
          <p:nvPr/>
        </p:nvSpPr>
        <p:spPr>
          <a:xfrm>
            <a:off x="1188720" y="516636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검증이 없으면 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그럴듯하지만 틀린 차트가 보고서에 들어간다</a:t>
            </a:r>
            <a:r>
              <a:rPr kumimoji="0" lang="en-US" sz="1300" b="0" i="0" u="none" strike="noStrike" kern="1200" cap="none" spc="-1" normalizeH="0" baseline="0" noProof="0">
                <a:ln>
                  <a:noFill/>
                </a:ln>
                <a:solidFill>
                  <a:srgbClr val="D7E6E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— 이것을 눈으로 확인하는 단계입니다.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블록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4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실습 </a:t>
            </a: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5~6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단계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8" name="Text 1"/>
          <p:cNvSpPr/>
          <p:nvPr/>
        </p:nvSpPr>
        <p:spPr>
          <a:xfrm>
            <a:off x="475559" y="548640"/>
            <a:ext cx="9503327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데이터가 다른 보고서의 차트도 생성되도록 </a:t>
            </a:r>
            <a:r>
              <a:rPr lang="ko-KR" altLang="en-US" sz="2500" b="1" spc="-1" dirty="0" err="1">
                <a:solidFill>
                  <a:srgbClr val="1E293B"/>
                </a:solidFill>
                <a:latin typeface="Malgun Gothic"/>
                <a:ea typeface="Malgun Gothic"/>
              </a:rPr>
              <a:t>바이브</a:t>
            </a:r>
            <a:r>
              <a:rPr lang="ko-KR" altLang="en-US" sz="2500" b="1" spc="-1" dirty="0">
                <a:solidFill>
                  <a:srgbClr val="1E293B"/>
                </a:solidFill>
                <a:latin typeface="Malgun Gothic"/>
                <a:ea typeface="Malgun Gothic"/>
              </a:rPr>
              <a:t> 코딩 해보기 </a:t>
            </a:r>
            <a:endParaRPr kumimoji="0" lang="en-US" sz="25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1" name="Shape 4"/>
          <p:cNvSpPr/>
          <p:nvPr/>
        </p:nvSpPr>
        <p:spPr>
          <a:xfrm>
            <a:off x="502920" y="1417320"/>
            <a:ext cx="5394600" cy="1782720"/>
          </a:xfrm>
          <a:prstGeom prst="roundRect">
            <a:avLst>
              <a:gd name="adj" fmla="val 4615"/>
            </a:avLst>
          </a:prstGeom>
          <a:solidFill>
            <a:srgbClr val="E1F2F0"/>
          </a:solidFill>
          <a:ln w="12700">
            <a:solidFill>
              <a:srgbClr val="B7E3DC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2" name="Shape 5"/>
          <p:cNvSpPr/>
          <p:nvPr/>
        </p:nvSpPr>
        <p:spPr>
          <a:xfrm>
            <a:off x="777240" y="16732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03" name="Image 0" descr="preencoded.png"/>
          <p:cNvPicPr/>
          <p:nvPr/>
        </p:nvPicPr>
        <p:blipFill>
          <a:blip r:embed="rId3"/>
          <a:stretch/>
        </p:blipFill>
        <p:spPr>
          <a:xfrm>
            <a:off x="919800" y="181584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1104" name="Text 6"/>
          <p:cNvSpPr/>
          <p:nvPr/>
        </p:nvSpPr>
        <p:spPr>
          <a:xfrm>
            <a:off x="1508760" y="17190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⑤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격월 재생산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운영형의 핵심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5" name="Shape 7"/>
          <p:cNvSpPr/>
          <p:nvPr/>
        </p:nvSpPr>
        <p:spPr>
          <a:xfrm>
            <a:off x="777240" y="2240280"/>
            <a:ext cx="4845960" cy="502560"/>
          </a:xfrm>
          <a:prstGeom prst="roundRect">
            <a:avLst>
              <a:gd name="adj" fmla="val 12727"/>
            </a:avLst>
          </a:prstGeom>
          <a:solidFill>
            <a:srgbClr val="0C2630"/>
          </a:solidFill>
          <a:ln w="0">
            <a:noFill/>
          </a:ln>
          <a:effectLst>
            <a:outerShdw blurRad="11448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6" name="Text 8"/>
          <p:cNvSpPr/>
          <p:nvPr/>
        </p:nvSpPr>
        <p:spPr>
          <a:xfrm>
            <a:off x="978480" y="2350080"/>
            <a:ext cx="444348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en-US" altLang="ko-KR" sz="1200" spc="-1" dirty="0" err="1">
                <a:solidFill>
                  <a:srgbClr val="AFCBD0"/>
                </a:solidFill>
                <a:latin typeface="Malgun Gothic"/>
                <a:ea typeface="Malgun Gothic"/>
              </a:rPr>
              <a:t>uv</a:t>
            </a:r>
            <a:r>
              <a:rPr lang="en-US" altLang="ko-KR" sz="1200" spc="-1" dirty="0">
                <a:solidFill>
                  <a:srgbClr val="AFCBD0"/>
                </a:solidFill>
                <a:latin typeface="Malgun Gothic"/>
                <a:ea typeface="Malgun Gothic"/>
              </a:rPr>
              <a:t> run run_report.py --data ../data/</a:t>
            </a:r>
            <a:r>
              <a:rPr lang="ko-KR" altLang="en-US" sz="1200" spc="-1" dirty="0">
                <a:solidFill>
                  <a:srgbClr val="AFCBD0"/>
                </a:solidFill>
                <a:latin typeface="Malgun Gothic"/>
                <a:ea typeface="Malgun Gothic"/>
              </a:rPr>
              <a:t>파일명</a:t>
            </a:r>
            <a:r>
              <a:rPr lang="en-US" altLang="ko-KR" sz="1200" spc="-1" dirty="0">
                <a:solidFill>
                  <a:srgbClr val="AFCBD0"/>
                </a:solidFill>
                <a:latin typeface="Malgun Gothic"/>
                <a:ea typeface="Malgun Gothic"/>
              </a:rPr>
              <a:t>.csv</a:t>
            </a:r>
            <a:r>
              <a:rPr lang="en-US" altLang="ko-KR" sz="1400" spc="-1" dirty="0">
                <a:solidFill>
                  <a:srgbClr val="000000"/>
                </a:solidFill>
                <a:latin typeface="Arial"/>
              </a:rPr>
              <a:t> </a:t>
            </a:r>
            <a:endParaRPr lang="en-US" altLang="ko-KR" sz="1200" spc="-1" dirty="0">
              <a:solidFill>
                <a:srgbClr val="AFCBD0"/>
              </a:solidFill>
              <a:latin typeface="Malgun Gothic"/>
              <a:ea typeface="Malgun Gothic"/>
            </a:endParaRPr>
          </a:p>
        </p:txBody>
      </p:sp>
      <p:sp>
        <p:nvSpPr>
          <p:cNvPr id="1107" name="Text 9"/>
          <p:cNvSpPr/>
          <p:nvPr/>
        </p:nvSpPr>
        <p:spPr>
          <a:xfrm>
            <a:off x="777240" y="2788920"/>
            <a:ext cx="4983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같은 스키마의 다음 호 데이터로 교체 후 </a:t>
            </a: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명령 한 줄만 다시 실행</a:t>
            </a:r>
            <a:r>
              <a:rPr kumimoji="0" lang="en-US" sz="1150" b="0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→ 같은 보고서 세트가 다시 나온다.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8" name="Shape 10"/>
          <p:cNvSpPr/>
          <p:nvPr/>
        </p:nvSpPr>
        <p:spPr>
          <a:xfrm>
            <a:off x="6035040" y="1417320"/>
            <a:ext cx="5623200" cy="1782720"/>
          </a:xfrm>
          <a:prstGeom prst="roundRect">
            <a:avLst>
              <a:gd name="adj" fmla="val 4615"/>
            </a:avLst>
          </a:prstGeom>
          <a:solidFill>
            <a:srgbClr val="FDF1DD"/>
          </a:solidFill>
          <a:ln w="12700">
            <a:solidFill>
              <a:srgbClr val="F2D9A8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9" name="Shape 11"/>
          <p:cNvSpPr/>
          <p:nvPr/>
        </p:nvSpPr>
        <p:spPr>
          <a:xfrm>
            <a:off x="6309360" y="16732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10" name="Image 1" descr="preencoded.png"/>
          <p:cNvPicPr/>
          <p:nvPr/>
        </p:nvPicPr>
        <p:blipFill>
          <a:blip r:embed="rId4"/>
          <a:stretch/>
        </p:blipFill>
        <p:spPr>
          <a:xfrm>
            <a:off x="6451920" y="181584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1111" name="Text 12"/>
          <p:cNvSpPr/>
          <p:nvPr/>
        </p:nvSpPr>
        <p:spPr>
          <a:xfrm>
            <a:off x="7040880" y="17190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⑥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적응 </a:t>
            </a:r>
            <a:r>
              <a:rPr kumimoji="0" lang="en-US" altLang="zh-CN" sz="13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시나리오 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 (</a:t>
            </a:r>
            <a:r>
              <a:rPr kumimoji="0" lang="zh-CN" altLang="en-US" sz="13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자립형</a:t>
            </a:r>
            <a:r>
              <a:rPr kumimoji="0" lang="en-US" sz="13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3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2" name="Text 13"/>
          <p:cNvSpPr/>
          <p:nvPr/>
        </p:nvSpPr>
        <p:spPr>
          <a:xfrm>
            <a:off x="6309360" y="2240280"/>
            <a:ext cx="512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trackC_aging.csv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는 </a:t>
            </a:r>
            <a:r>
              <a:rPr kumimoji="0" lang="zh-CN" altLang="en-US" sz="1150" b="1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열 이름이 다르고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새 </a:t>
            </a:r>
            <a:r>
              <a:rPr kumimoji="0" lang="en-US" sz="1150" b="0" i="0" u="none" strike="noStrike" kern="1200" cap="none" spc="-1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차트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 필요합니다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 </a:t>
            </a:r>
            <a:r>
              <a:rPr kumimoji="0" lang="zh-CN" alt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코드 본체는 그대로 두고 </a:t>
            </a:r>
            <a:r>
              <a:rPr lang="ko-KR" altLang="en-US" sz="1150" spc="-1" dirty="0">
                <a:solidFill>
                  <a:srgbClr val="1E293B"/>
                </a:solidFill>
                <a:latin typeface="Malgun Gothic"/>
                <a:ea typeface="Malgun Gothic"/>
              </a:rPr>
              <a:t>수정</a:t>
            </a:r>
            <a:r>
              <a:rPr kumimoji="0" lang="en-US" sz="1150" b="0" i="0" u="none" strike="noStrike" kern="1200" cap="none" spc="-1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.</a:t>
            </a:r>
            <a:endParaRPr kumimoji="0" lang="en-US" sz="11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3" name="Shape 14"/>
          <p:cNvSpPr/>
          <p:nvPr/>
        </p:nvSpPr>
        <p:spPr>
          <a:xfrm>
            <a:off x="502920" y="3383280"/>
            <a:ext cx="6766200" cy="228564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4" name="Text 15"/>
          <p:cNvSpPr/>
          <p:nvPr/>
        </p:nvSpPr>
        <p:spPr>
          <a:xfrm>
            <a:off x="777240" y="35661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열 이름 매핑 </a:t>
            </a:r>
            <a:r>
              <a:rPr kumimoji="0" lang="en-US" altLang="zh-CN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— 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트랙 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B  →  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트랙 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5" name="Text 16"/>
          <p:cNvSpPr/>
          <p:nvPr/>
        </p:nvSpPr>
        <p:spPr>
          <a:xfrm>
            <a:off x="868680" y="3931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표준 코드가 기대하는 의미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6" name="Text 17"/>
          <p:cNvSpPr/>
          <p:nvPr/>
        </p:nvSpPr>
        <p:spPr>
          <a:xfrm>
            <a:off x="4526280" y="3931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트랙 </a:t>
            </a: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 </a:t>
            </a:r>
            <a:r>
              <a:rPr kumimoji="0" lang="zh-CN" altLang="en-US" sz="1000" b="1" i="0" u="none" strike="noStrike" kern="1200" cap="none" spc="-1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실제 열 이름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7" name="Shape 18"/>
          <p:cNvSpPr/>
          <p:nvPr/>
        </p:nvSpPr>
        <p:spPr>
          <a:xfrm>
            <a:off x="868680" y="4242960"/>
            <a:ext cx="6263280" cy="2923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8" name="Text 19"/>
          <p:cNvSpPr/>
          <p:nvPr/>
        </p:nvSpPr>
        <p:spPr>
          <a:xfrm>
            <a:off x="1005840" y="42429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country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19" name="Image 2" descr="preencoded.png"/>
          <p:cNvPicPr/>
          <p:nvPr/>
        </p:nvPicPr>
        <p:blipFill>
          <a:blip r:embed="rId5"/>
          <a:stretch/>
        </p:blipFill>
        <p:spPr>
          <a:xfrm>
            <a:off x="3977640" y="42976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120" name="Text 20"/>
          <p:cNvSpPr/>
          <p:nvPr/>
        </p:nvSpPr>
        <p:spPr>
          <a:xfrm>
            <a:off x="4526280" y="42429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nation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1" name="Shape 21"/>
          <p:cNvSpPr/>
          <p:nvPr/>
        </p:nvSpPr>
        <p:spPr>
          <a:xfrm>
            <a:off x="868680" y="4553640"/>
            <a:ext cx="626328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2" name="Text 22"/>
          <p:cNvSpPr/>
          <p:nvPr/>
        </p:nvSpPr>
        <p:spPr>
          <a:xfrm>
            <a:off x="1005840" y="455364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cluster_id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23" name="Image 3" descr="preencoded.png"/>
          <p:cNvPicPr/>
          <p:nvPr/>
        </p:nvPicPr>
        <p:blipFill>
          <a:blip r:embed="rId5"/>
          <a:stretch/>
        </p:blipFill>
        <p:spPr>
          <a:xfrm>
            <a:off x="3977640" y="46087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124" name="Text 23"/>
          <p:cNvSpPr/>
          <p:nvPr/>
        </p:nvSpPr>
        <p:spPr>
          <a:xfrm>
            <a:off x="4526280" y="455364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field_id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5" name="Shape 24"/>
          <p:cNvSpPr/>
          <p:nvPr/>
        </p:nvSpPr>
        <p:spPr>
          <a:xfrm>
            <a:off x="868680" y="4864680"/>
            <a:ext cx="6263280" cy="2923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6" name="Text 25"/>
          <p:cNvSpPr/>
          <p:nvPr/>
        </p:nvSpPr>
        <p:spPr>
          <a:xfrm>
            <a:off x="1005840" y="48646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cluster_name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27" name="Image 4" descr="preencoded.png"/>
          <p:cNvPicPr/>
          <p:nvPr/>
        </p:nvPicPr>
        <p:blipFill>
          <a:blip r:embed="rId5"/>
          <a:stretch/>
        </p:blipFill>
        <p:spPr>
          <a:xfrm>
            <a:off x="3977640" y="49194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128" name="Text 26"/>
          <p:cNvSpPr/>
          <p:nvPr/>
        </p:nvSpPr>
        <p:spPr>
          <a:xfrm>
            <a:off x="4526280" y="48646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field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9" name="Shape 27"/>
          <p:cNvSpPr/>
          <p:nvPr/>
        </p:nvSpPr>
        <p:spPr>
          <a:xfrm>
            <a:off x="868680" y="5175360"/>
            <a:ext cx="626328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0" name="Text 28"/>
          <p:cNvSpPr/>
          <p:nvPr/>
        </p:nvSpPr>
        <p:spPr>
          <a:xfrm>
            <a:off x="1005840" y="51753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year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31" name="Image 5" descr="preencoded.png"/>
          <p:cNvPicPr/>
          <p:nvPr/>
        </p:nvPicPr>
        <p:blipFill>
          <a:blip r:embed="rId5"/>
          <a:stretch/>
        </p:blipFill>
        <p:spPr>
          <a:xfrm>
            <a:off x="3977640" y="52304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132" name="Text 29"/>
          <p:cNvSpPr/>
          <p:nvPr/>
        </p:nvSpPr>
        <p:spPr>
          <a:xfrm>
            <a:off x="4526280" y="51753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pub_year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3" name="Shape 30"/>
          <p:cNvSpPr/>
          <p:nvPr/>
        </p:nvSpPr>
        <p:spPr>
          <a:xfrm>
            <a:off x="868680" y="5486400"/>
            <a:ext cx="6263280" cy="2923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4" name="Text 31"/>
          <p:cNvSpPr/>
          <p:nvPr/>
        </p:nvSpPr>
        <p:spPr>
          <a:xfrm>
            <a:off x="1005840" y="548640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paper_count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35" name="Image 6" descr="preencoded.png"/>
          <p:cNvPicPr/>
          <p:nvPr/>
        </p:nvPicPr>
        <p:blipFill>
          <a:blip r:embed="rId5"/>
          <a:stretch/>
        </p:blipFill>
        <p:spPr>
          <a:xfrm>
            <a:off x="3977640" y="55411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136" name="Text 32"/>
          <p:cNvSpPr/>
          <p:nvPr/>
        </p:nvSpPr>
        <p:spPr>
          <a:xfrm>
            <a:off x="4526280" y="548640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B57A11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n_papers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7" name="Shape 33"/>
          <p:cNvSpPr/>
          <p:nvPr/>
        </p:nvSpPr>
        <p:spPr>
          <a:xfrm>
            <a:off x="7406640" y="3383280"/>
            <a:ext cx="4251600" cy="2285640"/>
          </a:xfrm>
          <a:prstGeom prst="roundRect">
            <a:avLst>
              <a:gd name="adj" fmla="val 3600"/>
            </a:avLst>
          </a:prstGeom>
          <a:solidFill>
            <a:srgbClr val="0B2F3A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8" name="Text 34"/>
          <p:cNvSpPr/>
          <p:nvPr/>
        </p:nvSpPr>
        <p:spPr>
          <a:xfrm>
            <a:off x="7680960" y="3566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적응 방법 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(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얇은 층만</a:t>
            </a: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9" name="Shape 35"/>
          <p:cNvSpPr/>
          <p:nvPr/>
        </p:nvSpPr>
        <p:spPr>
          <a:xfrm>
            <a:off x="7680960" y="3931920"/>
            <a:ext cx="328680" cy="328680"/>
          </a:xfrm>
          <a:prstGeom prst="ellipse">
            <a:avLst/>
          </a:prstGeom>
          <a:solidFill>
            <a:srgbClr val="EF6F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0" name="Text 36"/>
          <p:cNvSpPr/>
          <p:nvPr/>
        </p:nvSpPr>
        <p:spPr>
          <a:xfrm>
            <a:off x="7680960" y="39319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1" name="Text 37"/>
          <p:cNvSpPr/>
          <p:nvPr/>
        </p:nvSpPr>
        <p:spPr>
          <a:xfrm>
            <a:off x="8138160" y="389520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5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config </a:t>
            </a: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새로 매핑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2" name="Text 38"/>
          <p:cNvSpPr/>
          <p:nvPr/>
        </p:nvSpPr>
        <p:spPr>
          <a:xfrm>
            <a:off x="8138160" y="41878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config_trackC.yaml </a:t>
            </a:r>
            <a:r>
              <a:rPr kumimoji="0" lang="zh-CN" alt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에 열 매핑만</a:t>
            </a:r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3" name="Shape 39"/>
          <p:cNvSpPr/>
          <p:nvPr/>
        </p:nvSpPr>
        <p:spPr>
          <a:xfrm>
            <a:off x="7680960" y="4526280"/>
            <a:ext cx="328680" cy="328680"/>
          </a:xfrm>
          <a:prstGeom prst="ellipse">
            <a:avLst/>
          </a:prstGeom>
          <a:solidFill>
            <a:srgbClr val="EF6F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4" name="Text 40"/>
          <p:cNvSpPr/>
          <p:nvPr/>
        </p:nvSpPr>
        <p:spPr>
          <a:xfrm>
            <a:off x="7680960" y="45262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2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5" name="Text 41"/>
          <p:cNvSpPr/>
          <p:nvPr/>
        </p:nvSpPr>
        <p:spPr>
          <a:xfrm>
            <a:off x="8138160" y="4489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롤리팝 함수 추가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6" name="Text 42"/>
          <p:cNvSpPr/>
          <p:nvPr/>
        </p:nvSpPr>
        <p:spPr>
          <a:xfrm>
            <a:off x="8138160" y="478224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plot_lollipop </a:t>
            </a:r>
            <a:r>
              <a:rPr kumimoji="0" lang="zh-CN" alt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를 </a:t>
            </a:r>
            <a:r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report_charts.py </a:t>
            </a:r>
            <a:r>
              <a:rPr kumimoji="0" lang="zh-CN" alt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에</a:t>
            </a:r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7" name="Shape 43"/>
          <p:cNvSpPr/>
          <p:nvPr/>
        </p:nvSpPr>
        <p:spPr>
          <a:xfrm>
            <a:off x="7680960" y="5120640"/>
            <a:ext cx="328680" cy="328680"/>
          </a:xfrm>
          <a:prstGeom prst="ellipse">
            <a:avLst/>
          </a:prstGeom>
          <a:solidFill>
            <a:srgbClr val="EF6F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8" name="Text 44"/>
          <p:cNvSpPr/>
          <p:nvPr/>
        </p:nvSpPr>
        <p:spPr>
          <a:xfrm>
            <a:off x="7680960" y="51206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3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9" name="Text 45"/>
          <p:cNvSpPr/>
          <p:nvPr/>
        </p:nvSpPr>
        <p:spPr>
          <a:xfrm>
            <a:off x="8138160" y="50839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15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같은 한 줄 실행</a:t>
            </a:r>
            <a:endParaRPr kumimoji="0" lang="en-US" sz="11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50" name="Text 46"/>
          <p:cNvSpPr/>
          <p:nvPr/>
        </p:nvSpPr>
        <p:spPr>
          <a:xfrm>
            <a:off x="8138160" y="53766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--config </a:t>
            </a:r>
            <a:r>
              <a:rPr kumimoji="0" lang="zh-CN" altLang="en-US" sz="850" b="0" i="0" u="none" strike="noStrike" kern="1200" cap="none" spc="-1" normalizeH="0" baseline="0" noProof="0">
                <a:ln>
                  <a:noFill/>
                </a:ln>
                <a:solidFill>
                  <a:srgbClr val="9FBCC4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만 바꿔 실행</a:t>
            </a:r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51" name="Shape 47"/>
          <p:cNvSpPr/>
          <p:nvPr/>
        </p:nvSpPr>
        <p:spPr>
          <a:xfrm>
            <a:off x="7680960" y="5742360"/>
            <a:ext cx="360" cy="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Text 0"/>
          <p:cNvSpPr/>
          <p:nvPr/>
        </p:nvSpPr>
        <p:spPr>
          <a:xfrm>
            <a:off x="502920" y="311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REFERENCE · </a:t>
            </a:r>
            <a:r>
              <a:rPr kumimoji="0" lang="zh-CN" altLang="en-US" sz="1100" b="1" i="0" u="none" strike="noStrike" kern="1200" cap="none" spc="199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가지고 갈 한 장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6" name="Text 1"/>
          <p:cNvSpPr/>
          <p:nvPr/>
        </p:nvSpPr>
        <p:spPr>
          <a:xfrm>
            <a:off x="475560" y="54864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핵심 명령 </a:t>
            </a:r>
            <a:r>
              <a:rPr kumimoji="0" 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 </a:t>
            </a:r>
            <a:r>
              <a:rPr kumimoji="0" lang="zh-CN" altLang="en-US" sz="25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조작 요약</a:t>
            </a:r>
            <a:endParaRPr kumimoji="0" lang="en-US" sz="25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7" name="Shape 2"/>
          <p:cNvSpPr/>
          <p:nvPr/>
        </p:nvSpPr>
        <p:spPr>
          <a:xfrm>
            <a:off x="502920" y="1371600"/>
            <a:ext cx="5531760" cy="4297320"/>
          </a:xfrm>
          <a:prstGeom prst="roundRect">
            <a:avLst>
              <a:gd name="adj" fmla="val 1915"/>
            </a:avLst>
          </a:prstGeom>
          <a:solidFill>
            <a:srgbClr val="0C2630"/>
          </a:solidFill>
          <a:ln w="0">
            <a:noFill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8" name="Text 3"/>
          <p:cNvSpPr/>
          <p:nvPr/>
        </p:nvSpPr>
        <p:spPr>
          <a:xfrm>
            <a:off x="777240" y="15728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환경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· </a:t>
            </a:r>
            <a:r>
              <a:rPr kumimoji="0" lang="zh-CN" alt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실행 </a:t>
            </a:r>
            <a:r>
              <a:rPr kumimoji="0" lang="en-US" sz="1250" b="1" i="0" u="none" strike="noStrike" kern="1200" cap="none" spc="-1" normalizeH="0" baseline="0" noProof="0">
                <a:ln>
                  <a:noFill/>
                </a:ln>
                <a:solidFill>
                  <a:srgbClr val="2DD4AF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(PowerShell)</a:t>
            </a:r>
            <a:endParaRPr kumimoji="0" lang="en-US" sz="12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9" name="Text 4"/>
          <p:cNvSpPr/>
          <p:nvPr/>
        </p:nvSpPr>
        <p:spPr>
          <a:xfrm>
            <a:off x="822960" y="199332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 init kisti-charts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0" name="Text 5"/>
          <p:cNvSpPr/>
          <p:nvPr/>
        </p:nvSpPr>
        <p:spPr>
          <a:xfrm>
            <a:off x="4114800" y="19933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프로젝트 생성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1" name="Text 6"/>
          <p:cNvSpPr/>
          <p:nvPr/>
        </p:nvSpPr>
        <p:spPr>
          <a:xfrm>
            <a:off x="822960" y="24231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 python pin 3.13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2" name="Text 7"/>
          <p:cNvSpPr/>
          <p:nvPr/>
        </p:nvSpPr>
        <p:spPr>
          <a:xfrm>
            <a:off x="4114800" y="242316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파이썬 버전 고정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3" name="Text 8"/>
          <p:cNvSpPr/>
          <p:nvPr/>
        </p:nvSpPr>
        <p:spPr>
          <a:xfrm>
            <a:off x="822960" y="28530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 add pandas matplotlib …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4" name="Text 9"/>
          <p:cNvSpPr/>
          <p:nvPr/>
        </p:nvSpPr>
        <p:spPr>
          <a:xfrm>
            <a:off x="4114800" y="28530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라이브러리 추가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5" name="Text 10"/>
          <p:cNvSpPr/>
          <p:nvPr/>
        </p:nvSpPr>
        <p:spPr>
          <a:xfrm>
            <a:off x="822960" y="328284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claude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6" name="Text 11"/>
          <p:cNvSpPr/>
          <p:nvPr/>
        </p:nvSpPr>
        <p:spPr>
          <a:xfrm>
            <a:off x="4114800" y="32828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 </a:t>
            </a: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세션 시작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7" name="Text 12"/>
          <p:cNvSpPr/>
          <p:nvPr/>
        </p:nvSpPr>
        <p:spPr>
          <a:xfrm>
            <a:off x="822960" y="371232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 run run_report.py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8" name="Text 13"/>
          <p:cNvSpPr/>
          <p:nvPr/>
        </p:nvSpPr>
        <p:spPr>
          <a:xfrm>
            <a:off x="4114800" y="37123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파이프라인 한 줄 실행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9" name="Text 14"/>
          <p:cNvSpPr/>
          <p:nvPr/>
        </p:nvSpPr>
        <p:spPr>
          <a:xfrm>
            <a:off x="822960" y="41421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uv run run_report.py \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0" name="Text 15"/>
          <p:cNvSpPr/>
          <p:nvPr/>
        </p:nvSpPr>
        <p:spPr>
          <a:xfrm>
            <a:off x="4114800" y="414216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적응본 실행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1" name="Text 16"/>
          <p:cNvSpPr/>
          <p:nvPr/>
        </p:nvSpPr>
        <p:spPr>
          <a:xfrm>
            <a:off x="822960" y="45720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8FB0B8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  --config config_trackC.yaml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2" name="Text 17"/>
          <p:cNvSpPr/>
          <p:nvPr/>
        </p:nvSpPr>
        <p:spPr>
          <a:xfrm>
            <a:off x="822960" y="500184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-1" normalizeH="0" baseline="0" noProof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copy code\answer_key\… .</a:t>
            </a:r>
            <a:endParaRPr kumimoji="0" lang="en-US" sz="11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3" name="Text 18"/>
          <p:cNvSpPr/>
          <p:nvPr/>
        </p:nvSpPr>
        <p:spPr>
          <a:xfrm>
            <a:off x="4114800" y="50018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-1" normalizeH="0" baseline="0" noProof="0">
                <a:ln>
                  <a:noFill/>
                </a:ln>
                <a:solidFill>
                  <a:srgbClr val="6E8A93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정답본 폴백</a:t>
            </a:r>
            <a:endParaRPr kumimoji="0" lang="en-US" sz="9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4" name="Shape 19"/>
          <p:cNvSpPr/>
          <p:nvPr/>
        </p:nvSpPr>
        <p:spPr>
          <a:xfrm>
            <a:off x="6126480" y="1371600"/>
            <a:ext cx="5531760" cy="429732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5" name="Text 20"/>
          <p:cNvSpPr/>
          <p:nvPr/>
        </p:nvSpPr>
        <p:spPr>
          <a:xfrm>
            <a:off x="6400800" y="15728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Code </a:t>
            </a:r>
            <a:r>
              <a:rPr kumimoji="0" lang="zh-CN" altLang="en-US" sz="1300" b="1" i="0" u="none" strike="noStrike" kern="1200" cap="none" spc="-1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조작</a:t>
            </a:r>
            <a:endParaRPr kumimoji="0" lang="en-US" sz="13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6" name="Shape 21"/>
          <p:cNvSpPr/>
          <p:nvPr/>
        </p:nvSpPr>
        <p:spPr>
          <a:xfrm>
            <a:off x="6400800" y="19933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7" name="Text 22"/>
          <p:cNvSpPr/>
          <p:nvPr/>
        </p:nvSpPr>
        <p:spPr>
          <a:xfrm>
            <a:off x="6537960" y="19933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/init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8" name="Text 23"/>
          <p:cNvSpPr/>
          <p:nvPr/>
        </p:nvSpPr>
        <p:spPr>
          <a:xfrm>
            <a:off x="9098280" y="19933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CLAUDE.md(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규칙서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)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생성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9" name="Shape 24"/>
          <p:cNvSpPr/>
          <p:nvPr/>
        </p:nvSpPr>
        <p:spPr>
          <a:xfrm>
            <a:off x="6400800" y="24505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0" name="Text 25"/>
          <p:cNvSpPr/>
          <p:nvPr/>
        </p:nvSpPr>
        <p:spPr>
          <a:xfrm>
            <a:off x="6537960" y="24505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Shift+Tab ×2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1" name="Text 26"/>
          <p:cNvSpPr/>
          <p:nvPr/>
        </p:nvSpPr>
        <p:spPr>
          <a:xfrm>
            <a:off x="9098280" y="24505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plan mode 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켜기 ★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2" name="Shape 27"/>
          <p:cNvSpPr/>
          <p:nvPr/>
        </p:nvSpPr>
        <p:spPr>
          <a:xfrm>
            <a:off x="6400800" y="29077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3" name="Text 28"/>
          <p:cNvSpPr/>
          <p:nvPr/>
        </p:nvSpPr>
        <p:spPr>
          <a:xfrm>
            <a:off x="6537960" y="29077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/plan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4" name="Text 29"/>
          <p:cNvSpPr/>
          <p:nvPr/>
        </p:nvSpPr>
        <p:spPr>
          <a:xfrm>
            <a:off x="9098280" y="29077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다음 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1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회만 계획 받기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5" name="Shape 30"/>
          <p:cNvSpPr/>
          <p:nvPr/>
        </p:nvSpPr>
        <p:spPr>
          <a:xfrm>
            <a:off x="6400800" y="33649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6" name="Text 31"/>
          <p:cNvSpPr/>
          <p:nvPr/>
        </p:nvSpPr>
        <p:spPr>
          <a:xfrm>
            <a:off x="6537960" y="33649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@charts/style.py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7" name="Text 32"/>
          <p:cNvSpPr/>
          <p:nvPr/>
        </p:nvSpPr>
        <p:spPr>
          <a:xfrm>
            <a:off x="9098280" y="33649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파일을 대화에 앵커로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8" name="Shape 33"/>
          <p:cNvSpPr/>
          <p:nvPr/>
        </p:nvSpPr>
        <p:spPr>
          <a:xfrm>
            <a:off x="6400800" y="38221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9" name="Text 34"/>
          <p:cNvSpPr/>
          <p:nvPr/>
        </p:nvSpPr>
        <p:spPr>
          <a:xfrm>
            <a:off x="6537960" y="38221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/memory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0" name="Text 35"/>
          <p:cNvSpPr/>
          <p:nvPr/>
        </p:nvSpPr>
        <p:spPr>
          <a:xfrm>
            <a:off x="9098280" y="38221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규칙서 편집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1" name="Shape 36"/>
          <p:cNvSpPr/>
          <p:nvPr/>
        </p:nvSpPr>
        <p:spPr>
          <a:xfrm>
            <a:off x="6400800" y="42793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2" name="Text 37"/>
          <p:cNvSpPr/>
          <p:nvPr/>
        </p:nvSpPr>
        <p:spPr>
          <a:xfrm>
            <a:off x="6537960" y="42793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# </a:t>
            </a:r>
            <a:r>
              <a:rPr kumimoji="0" lang="zh-CN" alt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한 줄 메모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3" name="Text 38"/>
          <p:cNvSpPr/>
          <p:nvPr/>
        </p:nvSpPr>
        <p:spPr>
          <a:xfrm>
            <a:off x="9098280" y="42793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규칙 즉석 추가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4" name="Shape 39"/>
          <p:cNvSpPr/>
          <p:nvPr/>
        </p:nvSpPr>
        <p:spPr>
          <a:xfrm>
            <a:off x="6400800" y="47365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5" name="Text 40"/>
          <p:cNvSpPr/>
          <p:nvPr/>
        </p:nvSpPr>
        <p:spPr>
          <a:xfrm>
            <a:off x="6537960" y="47365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EF6F53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Esc ×2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6" name="Text 41"/>
          <p:cNvSpPr/>
          <p:nvPr/>
        </p:nvSpPr>
        <p:spPr>
          <a:xfrm>
            <a:off x="9098280" y="47365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직전 작업 되돌리기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7" name="Shape 42"/>
          <p:cNvSpPr/>
          <p:nvPr/>
        </p:nvSpPr>
        <p:spPr>
          <a:xfrm>
            <a:off x="6400800" y="5193720"/>
            <a:ext cx="4983120" cy="43848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8" name="Text 43"/>
          <p:cNvSpPr/>
          <p:nvPr/>
        </p:nvSpPr>
        <p:spPr>
          <a:xfrm>
            <a:off x="6537960" y="51937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이대로 진행해 </a:t>
            </a:r>
            <a:r>
              <a:rPr kumimoji="0" 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/ </a:t>
            </a:r>
            <a:r>
              <a:rPr kumimoji="0" lang="zh-CN" altLang="en-US" sz="1050" b="1" i="0" u="none" strike="noStrike" kern="1200" cap="none" spc="-1" normalizeH="0" baseline="0" noProof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자연어 피드백</a:t>
            </a:r>
            <a:endParaRPr kumimoji="0" lang="en-US" sz="105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9" name="Text 44"/>
          <p:cNvSpPr/>
          <p:nvPr/>
        </p:nvSpPr>
        <p:spPr>
          <a:xfrm>
            <a:off x="9098280" y="51937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계획 승인</a:t>
            </a:r>
            <a:r>
              <a:rPr kumimoji="0" 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·</a:t>
            </a:r>
            <a:r>
              <a:rPr kumimoji="0" lang="zh-CN" altLang="en-US" sz="1000" b="0" i="0" u="none" strike="noStrike" kern="1200" cap="none" spc="-1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수정</a:t>
            </a:r>
            <a:endParaRPr kumimoji="0" lang="en-US" sz="10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16607</Words>
  <Application>Microsoft Office PowerPoint</Application>
  <PresentationFormat>와이드스크린</PresentationFormat>
  <Paragraphs>1644</Paragraphs>
  <Slides>111</Slides>
  <Notes>111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111</vt:i4>
      </vt:variant>
    </vt:vector>
  </HeadingPairs>
  <TitlesOfParts>
    <vt:vector size="122" baseType="lpstr">
      <vt:lpstr>Anthropic Sans</vt:lpstr>
      <vt:lpstr>맑은 고딕</vt:lpstr>
      <vt:lpstr>맑은 고딕</vt:lpstr>
      <vt:lpstr>Arial</vt:lpstr>
      <vt:lpstr>Calibri</vt:lpstr>
      <vt:lpstr>Courier New</vt:lpstr>
      <vt:lpstr>Symbol</vt:lpstr>
      <vt:lpstr>Times New Roman</vt:lpstr>
      <vt:lpstr>Wingdings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Claude로 익히는 데이터 리터러시 &amp; 데이터 가공 실무</dc:title>
  <dc:subject>PptxGenJS Presentation</dc:subject>
  <dc:creator>KISTI 데이터 리터러시 교육</dc:creator>
  <cp:lastModifiedBy>admin</cp:lastModifiedBy>
  <cp:revision>208</cp:revision>
  <dcterms:created xsi:type="dcterms:W3CDTF">2026-06-11T00:00:37Z</dcterms:created>
  <dcterms:modified xsi:type="dcterms:W3CDTF">2026-06-17T15:17:51Z</dcterms:modified>
</cp:coreProperties>
</file>